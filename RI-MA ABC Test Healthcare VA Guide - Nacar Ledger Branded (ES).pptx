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2.png"/><Relationship Id="rId4" Type="http://schemas.openxmlformats.org/officeDocument/2006/relationships/image" Target="../media/image-14-2.png"/><Relationship Id="rId5" Type="http://schemas.openxmlformats.org/officeDocument/2006/relationships/image" Target="../media/image-14-2.png"/><Relationship Id="rId6" Type="http://schemas.openxmlformats.org/officeDocument/2006/relationships/image" Target="../media/image-14-2.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2.png"/><Relationship Id="rId4" Type="http://schemas.openxmlformats.org/officeDocument/2006/relationships/image" Target="../media/image-15-2.png"/><Relationship Id="rId5" Type="http://schemas.openxmlformats.org/officeDocument/2006/relationships/image" Target="../media/image-15-2.png"/><Relationship Id="rId6" Type="http://schemas.openxmlformats.org/officeDocument/2006/relationships/image" Target="../media/image-15-2.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9875520" y="-1371600"/>
            <a:ext cx="4572000" cy="4572000"/>
          </a:xfrm>
          <a:prstGeom prst="ellipse">
            <a:avLst/>
          </a:prstGeom>
          <a:solidFill>
            <a:srgbClr val="0E3A5F"/>
          </a:solidFill>
          <a:ln/>
        </p:spPr>
      </p:sp>
      <p:sp>
        <p:nvSpPr>
          <p:cNvPr id="3" name="Shape 1"/>
          <p:cNvSpPr/>
          <p:nvPr/>
        </p:nvSpPr>
        <p:spPr>
          <a:xfrm>
            <a:off x="-1645920" y="4754880"/>
            <a:ext cx="3657600" cy="3657600"/>
          </a:xfrm>
          <a:prstGeom prst="ellipse">
            <a:avLst/>
          </a:prstGeom>
          <a:solidFill>
            <a:srgbClr val="0E3A5F"/>
          </a:solidFill>
          <a:ln/>
        </p:spPr>
      </p:sp>
      <p:sp>
        <p:nvSpPr>
          <p:cNvPr id="4" name="Text 2"/>
          <p:cNvSpPr/>
          <p:nvPr/>
        </p:nvSpPr>
        <p:spPr>
          <a:xfrm>
            <a:off x="548640" y="457200"/>
            <a:ext cx="5486400" cy="365760"/>
          </a:xfrm>
          <a:prstGeom prst="rect">
            <a:avLst/>
          </a:prstGeom>
          <a:noFill/>
          <a:ln/>
        </p:spPr>
        <p:txBody>
          <a:bodyPr wrap="square" lIns="0" tIns="0" rIns="0" bIns="0" rtlCol="0" anchor="ctr"/>
          <a:lstStyle/>
          <a:p>
            <a:pPr indent="0" marL="0">
              <a:buNone/>
            </a:pPr>
            <a:r>
              <a:rPr lang="en-US" sz="1300" b="1" spc="300" kern="0" dirty="0">
                <a:solidFill>
                  <a:srgbClr val="C7D2D6"/>
                </a:solidFill>
                <a:latin typeface="Calibri" pitchFamily="34" charset="0"/>
                <a:ea typeface="Calibri" pitchFamily="34" charset="-122"/>
                <a:cs typeface="Calibri" pitchFamily="34" charset="-120"/>
              </a:rPr>
              <a:t>NÁCAR &amp; LEDGER</a:t>
            </a:r>
            <a:endParaRPr lang="en-US" sz="1300" dirty="0"/>
          </a:p>
        </p:txBody>
      </p:sp>
      <p:sp>
        <p:nvSpPr>
          <p:cNvPr id="5" name="Text 3"/>
          <p:cNvSpPr/>
          <p:nvPr/>
        </p:nvSpPr>
        <p:spPr>
          <a:xfrm>
            <a:off x="548640" y="1828800"/>
            <a:ext cx="10972800" cy="1828800"/>
          </a:xfrm>
          <a:prstGeom prst="rect">
            <a:avLst/>
          </a:prstGeom>
          <a:noFill/>
          <a:ln/>
        </p:spPr>
        <p:txBody>
          <a:bodyPr wrap="square" lIns="0" tIns="0" rIns="0" bIns="0" rtlCol="0" anchor="ctr"/>
          <a:lstStyle/>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Tu VA Pasa la Prueba del IRS.</a:t>
            </a:r>
            <a:endParaRPr lang="en-US" sz="4000" dirty="0"/>
          </a:p>
          <a:p>
            <a:pPr indent="0" marL="0">
              <a:lnSpc>
                <a:spcPct val="108000"/>
              </a:lnSpc>
              <a:buNone/>
            </a:pPr>
            <a:r>
              <a:rPr lang="en-US" sz="4000" b="1" dirty="0">
                <a:solidFill>
                  <a:srgbClr val="FFFFFF"/>
                </a:solidFill>
                <a:latin typeface="Cambria" pitchFamily="34" charset="0"/>
                <a:ea typeface="Cambria" pitchFamily="34" charset="-122"/>
                <a:cs typeface="Cambria" pitchFamily="34" charset="-120"/>
              </a:rPr>
              <a:t>¿Pasa la de Rhode Island?</a:t>
            </a:r>
            <a:endParaRPr lang="en-US" sz="4000" dirty="0"/>
          </a:p>
        </p:txBody>
      </p:sp>
      <p:sp>
        <p:nvSpPr>
          <p:cNvPr id="6" name="Text 4"/>
          <p:cNvSpPr/>
          <p:nvPr/>
        </p:nvSpPr>
        <p:spPr>
          <a:xfrm>
            <a:off x="548640" y="3703320"/>
            <a:ext cx="10332720" cy="868680"/>
          </a:xfrm>
          <a:prstGeom prst="rect">
            <a:avLst/>
          </a:prstGeom>
          <a:noFill/>
          <a:ln/>
        </p:spPr>
        <p:txBody>
          <a:bodyPr wrap="square" lIns="0" tIns="0" rIns="0" bIns="0" rtlCol="0" anchor="ctr"/>
          <a:lstStyle/>
          <a:p>
            <a:pPr indent="0" marL="0">
              <a:lnSpc>
                <a:spcPct val="125000"/>
              </a:lnSpc>
              <a:buNone/>
            </a:pPr>
            <a:r>
              <a:rPr lang="en-US" sz="1700" dirty="0">
                <a:solidFill>
                  <a:srgbClr val="C7D2D6"/>
                </a:solidFill>
                <a:latin typeface="Calibri" pitchFamily="34" charset="0"/>
                <a:ea typeface="Calibri" pitchFamily="34" charset="-122"/>
                <a:cs typeface="Calibri" pitchFamily="34" charset="-120"/>
              </a:rPr>
              <a:t>Por Qué Massachusetts y Rhode Island Usan una Segunda Prueba Más Estricta — y Por Qué las Prácticas de Salud Conductual Están Especialmente Expuestas</a:t>
            </a:r>
            <a:endParaRPr lang="en-US" sz="1700" dirty="0"/>
          </a:p>
        </p:txBody>
      </p:sp>
      <p:sp>
        <p:nvSpPr>
          <p:cNvPr id="7" name="Text 5"/>
          <p:cNvSpPr/>
          <p:nvPr/>
        </p:nvSpPr>
        <p:spPr>
          <a:xfrm>
            <a:off x="548640" y="5943600"/>
            <a:ext cx="10058400" cy="36576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Una Guía Práctica para Prácticas Médicas y de Salud Conductual en RI y MA</a:t>
            </a:r>
            <a:endParaRPr lang="en-US" sz="1300" dirty="0"/>
          </a:p>
        </p:txBody>
      </p:sp>
      <p:sp>
        <p:nvSpPr>
          <p:cNvPr id="8" name="Text 6"/>
          <p:cNvSpPr/>
          <p:nvPr/>
        </p:nvSpPr>
        <p:spPr>
          <a:xfrm>
            <a:off x="548640" y="6309360"/>
            <a:ext cx="9144000" cy="320040"/>
          </a:xfrm>
          <a:prstGeom prst="rect">
            <a:avLst/>
          </a:prstGeom>
          <a:noFill/>
          <a:ln/>
        </p:spPr>
        <p:txBody>
          <a:bodyPr wrap="square" lIns="0" tIns="0" rIns="0" bIns="0" rtlCol="0" anchor="ctr"/>
          <a:lstStyle/>
          <a:p>
            <a:pPr indent="0" marL="0">
              <a:buNone/>
            </a:pPr>
            <a:r>
              <a:rPr lang="en-US" sz="1200" dirty="0">
                <a:solidFill>
                  <a:srgbClr val="C7D2D6"/>
                </a:solidFill>
                <a:latin typeface="Calibri" pitchFamily="34" charset="0"/>
                <a:ea typeface="Calibri" pitchFamily="34" charset="-122"/>
                <a:cs typeface="Calibri" pitchFamily="34" charset="-120"/>
              </a:rPr>
              <a:t>nacarledger.com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lIns="0" tIns="0" rIns="0" bIns="0" rtlCol="0" anchor="ctr"/>
          <a:lstStyle/>
          <a:p>
            <a:pPr indent="0" marL="0">
              <a:buNone/>
            </a:pPr>
            <a:r>
              <a:rPr lang="en-US" sz="3200" b="1" dirty="0">
                <a:solidFill>
                  <a:srgbClr val="081F33"/>
                </a:solidFill>
                <a:latin typeface="Cambria" pitchFamily="34" charset="0"/>
                <a:ea typeface="Cambria" pitchFamily="34" charset="-122"/>
                <a:cs typeface="Cambria" pitchFamily="34" charset="-120"/>
              </a:rPr>
              <a:t>Qué Cubriremos</a:t>
            </a:r>
            <a:endParaRPr lang="en-US" sz="3200" dirty="0"/>
          </a:p>
        </p:txBody>
      </p:sp>
      <p:sp>
        <p:nvSpPr>
          <p:cNvPr id="3" name="Shape 1"/>
          <p:cNvSpPr/>
          <p:nvPr/>
        </p:nvSpPr>
        <p:spPr>
          <a:xfrm>
            <a:off x="548640" y="1417320"/>
            <a:ext cx="502920" cy="502920"/>
          </a:xfrm>
          <a:prstGeom prst="ellipse">
            <a:avLst/>
          </a:prstGeom>
          <a:solidFill>
            <a:srgbClr val="081F33"/>
          </a:solidFill>
          <a:ln/>
        </p:spPr>
      </p:sp>
      <p:sp>
        <p:nvSpPr>
          <p:cNvPr id="4" name="Text 2"/>
          <p:cNvSpPr/>
          <p:nvPr/>
        </p:nvSpPr>
        <p:spPr>
          <a:xfrm>
            <a:off x="548640" y="1417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01</a:t>
            </a:r>
            <a:endParaRPr lang="en-US" sz="1600" dirty="0"/>
          </a:p>
        </p:txBody>
      </p:sp>
      <p:sp>
        <p:nvSpPr>
          <p:cNvPr id="5" name="Text 3"/>
          <p:cNvSpPr/>
          <p:nvPr/>
        </p:nvSpPr>
        <p:spPr>
          <a:xfrm>
            <a:off x="1280160" y="141732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Por qué pasar la prueba federal no es toda la historia en RI o MA</a:t>
            </a:r>
            <a:endParaRPr lang="en-US" sz="1600" dirty="0"/>
          </a:p>
        </p:txBody>
      </p:sp>
      <p:sp>
        <p:nvSpPr>
          <p:cNvPr id="6" name="Shape 4"/>
          <p:cNvSpPr/>
          <p:nvPr/>
        </p:nvSpPr>
        <p:spPr>
          <a:xfrm>
            <a:off x="548640" y="2194560"/>
            <a:ext cx="502920" cy="502920"/>
          </a:xfrm>
          <a:prstGeom prst="ellipse">
            <a:avLst/>
          </a:prstGeom>
          <a:solidFill>
            <a:srgbClr val="081F33"/>
          </a:solidFill>
          <a:ln/>
        </p:spPr>
      </p:sp>
      <p:sp>
        <p:nvSpPr>
          <p:cNvPr id="7" name="Text 5"/>
          <p:cNvSpPr/>
          <p:nvPr/>
        </p:nvSpPr>
        <p:spPr>
          <a:xfrm>
            <a:off x="548640" y="21945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02</a:t>
            </a:r>
            <a:endParaRPr lang="en-US" sz="1600" dirty="0"/>
          </a:p>
        </p:txBody>
      </p:sp>
      <p:sp>
        <p:nvSpPr>
          <p:cNvPr id="8" name="Text 6"/>
          <p:cNvSpPr/>
          <p:nvPr/>
        </p:nvSpPr>
        <p:spPr>
          <a:xfrm>
            <a:off x="1280160" y="219456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La prueba ABC, aspecto por aspecto</a:t>
            </a:r>
            <a:endParaRPr lang="en-US" sz="1600" dirty="0"/>
          </a:p>
        </p:txBody>
      </p:sp>
      <p:sp>
        <p:nvSpPr>
          <p:cNvPr id="9" name="Shape 7"/>
          <p:cNvSpPr/>
          <p:nvPr/>
        </p:nvSpPr>
        <p:spPr>
          <a:xfrm>
            <a:off x="548640" y="2971800"/>
            <a:ext cx="502920" cy="502920"/>
          </a:xfrm>
          <a:prstGeom prst="ellipse">
            <a:avLst/>
          </a:prstGeom>
          <a:solidFill>
            <a:srgbClr val="081F33"/>
          </a:solidFill>
          <a:ln/>
        </p:spPr>
      </p:sp>
      <p:sp>
        <p:nvSpPr>
          <p:cNvPr id="10" name="Text 8"/>
          <p:cNvSpPr/>
          <p:nvPr/>
        </p:nvSpPr>
        <p:spPr>
          <a:xfrm>
            <a:off x="548640" y="2971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03</a:t>
            </a:r>
            <a:endParaRPr lang="en-US" sz="1600" dirty="0"/>
          </a:p>
        </p:txBody>
      </p:sp>
      <p:sp>
        <p:nvSpPr>
          <p:cNvPr id="11" name="Text 9"/>
          <p:cNvSpPr/>
          <p:nvPr/>
        </p:nvSpPr>
        <p:spPr>
          <a:xfrm>
            <a:off x="1280160" y="297180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El aspecto que silenciosamente hace fallar a la mayoría de los asistentes virtuales de salud</a:t>
            </a:r>
            <a:endParaRPr lang="en-US" sz="1600" dirty="0"/>
          </a:p>
        </p:txBody>
      </p:sp>
      <p:sp>
        <p:nvSpPr>
          <p:cNvPr id="12" name="Shape 10"/>
          <p:cNvSpPr/>
          <p:nvPr/>
        </p:nvSpPr>
        <p:spPr>
          <a:xfrm>
            <a:off x="548640" y="3749040"/>
            <a:ext cx="502920" cy="502920"/>
          </a:xfrm>
          <a:prstGeom prst="ellipse">
            <a:avLst/>
          </a:prstGeom>
          <a:solidFill>
            <a:srgbClr val="081F33"/>
          </a:solidFill>
          <a:ln/>
        </p:spPr>
      </p:sp>
      <p:sp>
        <p:nvSpPr>
          <p:cNvPr id="13" name="Text 11"/>
          <p:cNvSpPr/>
          <p:nvPr/>
        </p:nvSpPr>
        <p:spPr>
          <a:xfrm>
            <a:off x="548640" y="3749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04</a:t>
            </a:r>
            <a:endParaRPr lang="en-US" sz="1600" dirty="0"/>
          </a:p>
        </p:txBody>
      </p:sp>
      <p:sp>
        <p:nvSpPr>
          <p:cNvPr id="14" name="Text 12"/>
          <p:cNvSpPr/>
          <p:nvPr/>
        </p:nvSpPr>
        <p:spPr>
          <a:xfrm>
            <a:off x="1280160" y="374904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Por qué las prácticas de salud conductual cargan exposición extra</a:t>
            </a:r>
            <a:endParaRPr lang="en-US" sz="1600" dirty="0"/>
          </a:p>
        </p:txBody>
      </p:sp>
      <p:sp>
        <p:nvSpPr>
          <p:cNvPr id="15" name="Shape 13"/>
          <p:cNvSpPr/>
          <p:nvPr/>
        </p:nvSpPr>
        <p:spPr>
          <a:xfrm>
            <a:off x="548640" y="4526280"/>
            <a:ext cx="502920" cy="502920"/>
          </a:xfrm>
          <a:prstGeom prst="ellipse">
            <a:avLst/>
          </a:prstGeom>
          <a:solidFill>
            <a:srgbClr val="081F33"/>
          </a:solidFill>
          <a:ln/>
        </p:spPr>
      </p:sp>
      <p:sp>
        <p:nvSpPr>
          <p:cNvPr id="16" name="Text 14"/>
          <p:cNvSpPr/>
          <p:nvPr/>
        </p:nvSpPr>
        <p:spPr>
          <a:xfrm>
            <a:off x="548640" y="45262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05</a:t>
            </a:r>
            <a:endParaRPr lang="en-US" sz="1600" dirty="0"/>
          </a:p>
        </p:txBody>
      </p:sp>
      <p:sp>
        <p:nvSpPr>
          <p:cNvPr id="17" name="Text 15"/>
          <p:cNvSpPr/>
          <p:nvPr/>
        </p:nvSpPr>
        <p:spPr>
          <a:xfrm>
            <a:off x="1280160" y="452628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Qué está realmente en juego en cada estado</a:t>
            </a:r>
            <a:endParaRPr lang="en-US" sz="1600" dirty="0"/>
          </a:p>
        </p:txBody>
      </p:sp>
      <p:sp>
        <p:nvSpPr>
          <p:cNvPr id="18" name="Shape 16"/>
          <p:cNvSpPr/>
          <p:nvPr/>
        </p:nvSpPr>
        <p:spPr>
          <a:xfrm>
            <a:off x="548640" y="5303520"/>
            <a:ext cx="502920" cy="502920"/>
          </a:xfrm>
          <a:prstGeom prst="ellipse">
            <a:avLst/>
          </a:prstGeom>
          <a:solidFill>
            <a:srgbClr val="081F33"/>
          </a:solidFill>
          <a:ln/>
        </p:spPr>
      </p:sp>
      <p:sp>
        <p:nvSpPr>
          <p:cNvPr id="19" name="Text 17"/>
          <p:cNvSpPr/>
          <p:nvPr/>
        </p:nvSpPr>
        <p:spPr>
          <a:xfrm>
            <a:off x="548640" y="5303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06</a:t>
            </a:r>
            <a:endParaRPr lang="en-US" sz="1600" dirty="0"/>
          </a:p>
        </p:txBody>
      </p:sp>
      <p:sp>
        <p:nvSpPr>
          <p:cNvPr id="20" name="Text 18"/>
          <p:cNvSpPr/>
          <p:nvPr/>
        </p:nvSpPr>
        <p:spPr>
          <a:xfrm>
            <a:off x="1280160" y="5303520"/>
            <a:ext cx="9875520" cy="502920"/>
          </a:xfrm>
          <a:prstGeom prst="rect">
            <a:avLst/>
          </a:prstGeom>
          <a:noFill/>
          <a:ln/>
        </p:spPr>
        <p:txBody>
          <a:bodyPr wrap="square" lIns="0" tIns="0" rIns="0" bIns="0" rtlCol="0" anchor="ctr"/>
          <a:lstStyle/>
          <a:p>
            <a:pPr indent="0" marL="0">
              <a:buNone/>
            </a:pPr>
            <a:r>
              <a:rPr lang="en-US" sz="1600" dirty="0">
                <a:solidFill>
                  <a:srgbClr val="081F33"/>
                </a:solidFill>
                <a:latin typeface="Calibri" pitchFamily="34" charset="0"/>
                <a:ea typeface="Calibri" pitchFamily="34" charset="-122"/>
                <a:cs typeface="Calibri" pitchFamily="34" charset="-120"/>
              </a:rPr>
              <a:t>Qué ayuda tu posición, y tus próximos pasos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C9A97E"/>
          </a:solidFill>
          <a:ln/>
        </p:spPr>
      </p:sp>
      <p:pic>
        <p:nvPicPr>
          <p:cNvPr id="3" name="Image 0" descr="icon_layergroup_navy.png">    </p:cNvPr>
          <p:cNvPicPr>
            <a:picLocks noChangeAspect="1"/>
          </p:cNvPicPr>
          <p:nvPr/>
        </p:nvPicPr>
        <p:blipFill>
          <a:blip r:embed="rId1"/>
          <a:stretch>
            <a:fillRect/>
          </a:stretch>
        </p:blipFill>
        <p:spPr>
          <a:xfrm>
            <a:off x="731520" y="621792"/>
            <a:ext cx="365760" cy="365760"/>
          </a:xfrm>
          <a:prstGeom prst="rect">
            <a:avLst/>
          </a:prstGeom>
        </p:spPr>
      </p:pic>
      <p:sp>
        <p:nvSpPr>
          <p:cNvPr id="4" name="Text 1"/>
          <p:cNvSpPr/>
          <p:nvPr/>
        </p:nvSpPr>
        <p:spPr>
          <a:xfrm>
            <a:off x="1417320" y="457200"/>
            <a:ext cx="10058400" cy="77724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Pasar Una Prueba No Significa Que Pasas Ambas</a:t>
            </a:r>
            <a:endParaRPr lang="en-US" sz="2500" dirty="0"/>
          </a:p>
        </p:txBody>
      </p:sp>
      <p:sp>
        <p:nvSpPr>
          <p:cNvPr id="5" name="Text 2"/>
          <p:cNvSpPr/>
          <p:nvPr/>
        </p:nvSpPr>
        <p:spPr>
          <a:xfrm>
            <a:off x="548640" y="1417320"/>
            <a:ext cx="10698480" cy="640080"/>
          </a:xfrm>
          <a:prstGeom prst="rect">
            <a:avLst/>
          </a:prstGeom>
          <a:noFill/>
          <a:ln/>
        </p:spPr>
        <p:txBody>
          <a:bodyPr wrap="square" lIns="0" tIns="0" rIns="0" bIns="0" rtlCol="0" anchor="ctr"/>
          <a:lstStyle/>
          <a:p>
            <a:pPr indent="0" marL="0">
              <a:lnSpc>
                <a:spcPct val="130000"/>
              </a:lnSpc>
              <a:buNone/>
            </a:pPr>
            <a:r>
              <a:rPr lang="en-US" sz="1450" dirty="0">
                <a:solidFill>
                  <a:srgbClr val="C7D2D6"/>
                </a:solidFill>
                <a:latin typeface="Calibri" pitchFamily="34" charset="0"/>
                <a:ea typeface="Calibri" pitchFamily="34" charset="-122"/>
                <a:cs typeface="Calibri" pitchFamily="34" charset="-120"/>
              </a:rPr>
              <a:t>La mayoría de la orientación sobre 1099 vs. W-2 — incluyendo mucho de lo que hay en Reddit y Google — solo cubre la prueba federal del IRS. En Massachusetts y Rhode Island, eso es solo la mitad del panorama.</a:t>
            </a:r>
            <a:endParaRPr lang="en-US" sz="1450" dirty="0"/>
          </a:p>
        </p:txBody>
      </p:sp>
      <p:sp>
        <p:nvSpPr>
          <p:cNvPr id="6" name="Shape 3"/>
          <p:cNvSpPr/>
          <p:nvPr/>
        </p:nvSpPr>
        <p:spPr>
          <a:xfrm>
            <a:off x="548640" y="2331720"/>
            <a:ext cx="5349240" cy="3566160"/>
          </a:xfrm>
          <a:prstGeom prst="roundRect">
            <a:avLst>
              <a:gd name="adj" fmla="val 2564"/>
            </a:avLst>
          </a:prstGeom>
          <a:solidFill>
            <a:srgbClr val="0E3A5F"/>
          </a:solidFill>
          <a:ln/>
        </p:spPr>
      </p:sp>
      <p:sp>
        <p:nvSpPr>
          <p:cNvPr id="7" name="Text 4"/>
          <p:cNvSpPr/>
          <p:nvPr/>
        </p:nvSpPr>
        <p:spPr>
          <a:xfrm>
            <a:off x="822960" y="2560320"/>
            <a:ext cx="4846320" cy="411480"/>
          </a:xfrm>
          <a:prstGeom prst="rect">
            <a:avLst/>
          </a:prstGeom>
          <a:noFill/>
          <a:ln/>
        </p:spPr>
        <p:txBody>
          <a:bodyPr wrap="square" lIns="0" tIns="0" rIns="0" bIns="0" rtlCol="0" anchor="ctr"/>
          <a:lstStyle/>
          <a:p>
            <a:pPr indent="0" marL="0">
              <a:buNone/>
            </a:pPr>
            <a:r>
              <a:rPr lang="en-US" sz="1400" b="1" spc="200" kern="0" dirty="0">
                <a:solidFill>
                  <a:srgbClr val="C9A97E"/>
                </a:solidFill>
                <a:latin typeface="Calibri" pitchFamily="34" charset="0"/>
                <a:ea typeface="Calibri" pitchFamily="34" charset="-122"/>
                <a:cs typeface="Calibri" pitchFamily="34" charset="-120"/>
              </a:rPr>
              <a:t>FEDERAL (IRS)</a:t>
            </a:r>
            <a:endParaRPr lang="en-US" sz="1400" dirty="0"/>
          </a:p>
        </p:txBody>
      </p:sp>
      <p:sp>
        <p:nvSpPr>
          <p:cNvPr id="8" name="Text 5"/>
          <p:cNvSpPr/>
          <p:nvPr/>
        </p:nvSpPr>
        <p:spPr>
          <a:xfrm>
            <a:off x="822960" y="3017520"/>
            <a:ext cx="4846320" cy="137160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Prueba de derecho común que pondera juntos el control de comportamiento, control financiero, y tipo de relación. Ningún factor por sí solo lo decide.</a:t>
            </a:r>
            <a:endParaRPr lang="en-US" sz="1350" dirty="0"/>
          </a:p>
        </p:txBody>
      </p:sp>
      <p:sp>
        <p:nvSpPr>
          <p:cNvPr id="9" name="Text 6"/>
          <p:cNvSpPr/>
          <p:nvPr/>
        </p:nvSpPr>
        <p:spPr>
          <a:xfrm>
            <a:off x="822960" y="5212080"/>
            <a:ext cx="4846320" cy="548640"/>
          </a:xfrm>
          <a:prstGeom prst="rect">
            <a:avLst/>
          </a:prstGeom>
          <a:noFill/>
          <a:ln/>
        </p:spPr>
        <p:txBody>
          <a:bodyPr wrap="square" lIns="0" tIns="0" rIns="0" bIns="0" rtlCol="0" anchor="ctr"/>
          <a:lstStyle/>
          <a:p>
            <a:pPr indent="0" marL="0">
              <a:buNone/>
            </a:pPr>
            <a:r>
              <a:rPr lang="en-US" sz="1250" i="1" dirty="0">
                <a:solidFill>
                  <a:srgbClr val="C7D2D6"/>
                </a:solidFill>
                <a:latin typeface="Calibri" pitchFamily="34" charset="0"/>
                <a:ea typeface="Calibri" pitchFamily="34" charset="-122"/>
                <a:cs typeface="Calibri" pitchFamily="34" charset="-120"/>
              </a:rPr>
              <a:t>Rige el tratamiento fiscal de nómina federal.</a:t>
            </a:r>
            <a:endParaRPr lang="en-US" sz="1250" dirty="0"/>
          </a:p>
        </p:txBody>
      </p:sp>
      <p:sp>
        <p:nvSpPr>
          <p:cNvPr id="10" name="Shape 7"/>
          <p:cNvSpPr/>
          <p:nvPr/>
        </p:nvSpPr>
        <p:spPr>
          <a:xfrm>
            <a:off x="6263640" y="2331720"/>
            <a:ext cx="5349240" cy="3566160"/>
          </a:xfrm>
          <a:prstGeom prst="roundRect">
            <a:avLst>
              <a:gd name="adj" fmla="val 2564"/>
            </a:avLst>
          </a:prstGeom>
          <a:solidFill>
            <a:srgbClr val="1C4E76"/>
          </a:solidFill>
          <a:ln/>
        </p:spPr>
      </p:sp>
      <p:sp>
        <p:nvSpPr>
          <p:cNvPr id="11" name="Text 8"/>
          <p:cNvSpPr/>
          <p:nvPr/>
        </p:nvSpPr>
        <p:spPr>
          <a:xfrm>
            <a:off x="6537960" y="2560320"/>
            <a:ext cx="4846320" cy="411480"/>
          </a:xfrm>
          <a:prstGeom prst="rect">
            <a:avLst/>
          </a:prstGeom>
          <a:noFill/>
          <a:ln/>
        </p:spPr>
        <p:txBody>
          <a:bodyPr wrap="square" lIns="0" tIns="0" rIns="0" bIns="0" rtlCol="0" anchor="ctr"/>
          <a:lstStyle/>
          <a:p>
            <a:pPr indent="0" marL="0">
              <a:buNone/>
            </a:pPr>
            <a:r>
              <a:rPr lang="en-US" sz="1400" b="1" spc="200" kern="0" dirty="0">
                <a:solidFill>
                  <a:srgbClr val="7FD9A8"/>
                </a:solidFill>
                <a:latin typeface="Calibri" pitchFamily="34" charset="0"/>
                <a:ea typeface="Calibri" pitchFamily="34" charset="-122"/>
                <a:cs typeface="Calibri" pitchFamily="34" charset="-120"/>
              </a:rPr>
              <a:t>ESTATAL (MA y RI)</a:t>
            </a:r>
            <a:endParaRPr lang="en-US" sz="1400" dirty="0"/>
          </a:p>
        </p:txBody>
      </p:sp>
      <p:sp>
        <p:nvSpPr>
          <p:cNvPr id="12" name="Text 9"/>
          <p:cNvSpPr/>
          <p:nvPr/>
        </p:nvSpPr>
        <p:spPr>
          <a:xfrm>
            <a:off x="6537960" y="3017520"/>
            <a:ext cx="4846320" cy="137160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Una prueba ABC estricta de tres partes. Se presume que todo trabajador es empleado hasta que el empleador demuestre las tres partes — no solo el panorama total.</a:t>
            </a:r>
            <a:endParaRPr lang="en-US" sz="1350" dirty="0"/>
          </a:p>
        </p:txBody>
      </p:sp>
      <p:sp>
        <p:nvSpPr>
          <p:cNvPr id="13" name="Text 10"/>
          <p:cNvSpPr/>
          <p:nvPr/>
        </p:nvSpPr>
        <p:spPr>
          <a:xfrm>
            <a:off x="6537960" y="5212080"/>
            <a:ext cx="4846320" cy="640080"/>
          </a:xfrm>
          <a:prstGeom prst="rect">
            <a:avLst/>
          </a:prstGeom>
          <a:noFill/>
          <a:ln/>
        </p:spPr>
        <p:txBody>
          <a:bodyPr wrap="square" lIns="0" tIns="0" rIns="0" bIns="0" rtlCol="0" anchor="ctr"/>
          <a:lstStyle/>
          <a:p>
            <a:pPr indent="0" marL="0">
              <a:lnSpc>
                <a:spcPct val="120000"/>
              </a:lnSpc>
              <a:buNone/>
            </a:pPr>
            <a:r>
              <a:rPr lang="en-US" sz="1250" i="1" dirty="0">
                <a:solidFill>
                  <a:srgbClr val="CFF3DE"/>
                </a:solidFill>
                <a:latin typeface="Calibri" pitchFamily="34" charset="0"/>
                <a:ea typeface="Calibri" pitchFamily="34" charset="-122"/>
                <a:cs typeface="Calibri" pitchFamily="34" charset="-120"/>
              </a:rPr>
              <a:t>Rige la ley salarial estatal, seguro de desempleo, y compensación laboral — independientemente del IRS.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640080"/>
          </a:xfrm>
          <a:prstGeom prst="rect">
            <a:avLst/>
          </a:prstGeom>
          <a:noFill/>
          <a:ln/>
        </p:spPr>
        <p:txBody>
          <a:bodyPr wrap="square" lIns="0" tIns="0" rIns="0" bIns="0" rtlCol="0" anchor="ctr"/>
          <a:lstStyle/>
          <a:p>
            <a:pPr indent="0" marL="0">
              <a:buNone/>
            </a:pPr>
            <a:r>
              <a:rPr lang="en-US" sz="3200" b="1" dirty="0">
                <a:solidFill>
                  <a:srgbClr val="081F33"/>
                </a:solidFill>
                <a:latin typeface="Cambria" pitchFamily="34" charset="0"/>
                <a:ea typeface="Cambria" pitchFamily="34" charset="-122"/>
                <a:cs typeface="Cambria" pitchFamily="34" charset="-120"/>
              </a:rPr>
              <a:t>La Prueba ABC, Aspecto por Aspecto</a:t>
            </a:r>
            <a:endParaRPr lang="en-US" sz="3200" dirty="0"/>
          </a:p>
        </p:txBody>
      </p:sp>
      <p:sp>
        <p:nvSpPr>
          <p:cNvPr id="3" name="Text 1"/>
          <p:cNvSpPr/>
          <p:nvPr/>
        </p:nvSpPr>
        <p:spPr>
          <a:xfrm>
            <a:off x="548640" y="1097280"/>
            <a:ext cx="10698480"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 diferencia de la prueba federal, deben cumplirse los tres aspectos — falla uno, y el trabajador es empleado por defecto.</a:t>
            </a:r>
            <a:endParaRPr lang="en-US" sz="1400" dirty="0"/>
          </a:p>
        </p:txBody>
      </p:sp>
      <p:sp>
        <p:nvSpPr>
          <p:cNvPr id="4" name="Shape 2"/>
          <p:cNvSpPr/>
          <p:nvPr/>
        </p:nvSpPr>
        <p:spPr>
          <a:xfrm>
            <a:off x="548640" y="1737360"/>
            <a:ext cx="3538728" cy="3931920"/>
          </a:xfrm>
          <a:prstGeom prst="roundRect">
            <a:avLst>
              <a:gd name="adj" fmla="val 2584"/>
            </a:avLst>
          </a:prstGeom>
          <a:solidFill>
            <a:srgbClr val="F7F2EA"/>
          </a:solidFill>
          <a:ln/>
        </p:spPr>
      </p:sp>
      <p:sp>
        <p:nvSpPr>
          <p:cNvPr id="5" name="Shape 3"/>
          <p:cNvSpPr/>
          <p:nvPr/>
        </p:nvSpPr>
        <p:spPr>
          <a:xfrm>
            <a:off x="1860804" y="2011680"/>
            <a:ext cx="914400" cy="914400"/>
          </a:xfrm>
          <a:prstGeom prst="ellipse">
            <a:avLst/>
          </a:prstGeom>
          <a:solidFill>
            <a:srgbClr val="081F33"/>
          </a:solidFill>
          <a:ln/>
        </p:spPr>
      </p:sp>
      <p:sp>
        <p:nvSpPr>
          <p:cNvPr id="6" name="Text 4"/>
          <p:cNvSpPr/>
          <p:nvPr/>
        </p:nvSpPr>
        <p:spPr>
          <a:xfrm>
            <a:off x="1860804" y="2011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a:t>
            </a:r>
            <a:endParaRPr lang="en-US" sz="3200" dirty="0"/>
          </a:p>
        </p:txBody>
      </p:sp>
      <p:sp>
        <p:nvSpPr>
          <p:cNvPr id="7" name="Text 5"/>
          <p:cNvSpPr/>
          <p:nvPr/>
        </p:nvSpPr>
        <p:spPr>
          <a:xfrm>
            <a:off x="731520" y="3154680"/>
            <a:ext cx="3172968" cy="685800"/>
          </a:xfrm>
          <a:prstGeom prst="rect">
            <a:avLst/>
          </a:prstGeom>
          <a:noFill/>
          <a:ln/>
        </p:spPr>
        <p:txBody>
          <a:bodyPr wrap="square" lIns="0" tIns="0" rIns="0" bIns="0" rtlCol="0" anchor="ctr"/>
          <a:lstStyle/>
          <a:p>
            <a:pPr algn="ctr" indent="0" marL="0">
              <a:buNone/>
            </a:pPr>
            <a:r>
              <a:rPr lang="en-US" sz="1700" b="1" dirty="0">
                <a:solidFill>
                  <a:srgbClr val="081F33"/>
                </a:solidFill>
                <a:latin typeface="Cambria" pitchFamily="34" charset="0"/>
                <a:ea typeface="Cambria" pitchFamily="34" charset="-122"/>
                <a:cs typeface="Cambria" pitchFamily="34" charset="-120"/>
              </a:rPr>
              <a:t>Libre de Control</a:t>
            </a:r>
            <a:endParaRPr lang="en-US" sz="1700" dirty="0"/>
          </a:p>
        </p:txBody>
      </p:sp>
      <p:sp>
        <p:nvSpPr>
          <p:cNvPr id="8" name="Text 6"/>
          <p:cNvSpPr/>
          <p:nvPr/>
        </p:nvSpPr>
        <p:spPr>
          <a:xfrm>
            <a:off x="841248" y="3931920"/>
            <a:ext cx="2953512" cy="1600200"/>
          </a:xfrm>
          <a:prstGeom prst="rect">
            <a:avLst/>
          </a:prstGeom>
          <a:noFill/>
          <a:ln/>
        </p:spPr>
        <p:txBody>
          <a:bodyPr wrap="square" lIns="0" tIns="0" rIns="0" bIns="0" rtlCol="0" anchor="ctr"/>
          <a:lstStyle/>
          <a:p>
            <a:pPr algn="ctr" indent="0" marL="0">
              <a:lnSpc>
                <a:spcPct val="130000"/>
              </a:lnSpc>
              <a:buNone/>
            </a:pPr>
            <a:r>
              <a:rPr lang="en-US" sz="1250" dirty="0">
                <a:solidFill>
                  <a:srgbClr val="081F33"/>
                </a:solidFill>
                <a:latin typeface="Calibri" pitchFamily="34" charset="0"/>
                <a:ea typeface="Calibri" pitchFamily="34" charset="-122"/>
                <a:cs typeface="Calibri" pitchFamily="34" charset="-120"/>
              </a:rPr>
              <a:t>¿El trabajador está libre de tu dirección sobre cómo, cuándo, y dónde se hace el trabajo — tanto en papel como en la práctica real?</a:t>
            </a:r>
            <a:endParaRPr lang="en-US" sz="1250" dirty="0"/>
          </a:p>
        </p:txBody>
      </p:sp>
      <p:sp>
        <p:nvSpPr>
          <p:cNvPr id="9" name="Shape 7"/>
          <p:cNvSpPr/>
          <p:nvPr/>
        </p:nvSpPr>
        <p:spPr>
          <a:xfrm>
            <a:off x="4343400" y="1737360"/>
            <a:ext cx="3538728" cy="3931920"/>
          </a:xfrm>
          <a:prstGeom prst="roundRect">
            <a:avLst>
              <a:gd name="adj" fmla="val 2584"/>
            </a:avLst>
          </a:prstGeom>
          <a:solidFill>
            <a:srgbClr val="F7F2EA"/>
          </a:solidFill>
          <a:ln/>
        </p:spPr>
      </p:sp>
      <p:sp>
        <p:nvSpPr>
          <p:cNvPr id="10" name="Shape 8"/>
          <p:cNvSpPr/>
          <p:nvPr/>
        </p:nvSpPr>
        <p:spPr>
          <a:xfrm>
            <a:off x="5655564" y="2011680"/>
            <a:ext cx="914400" cy="914400"/>
          </a:xfrm>
          <a:prstGeom prst="ellipse">
            <a:avLst/>
          </a:prstGeom>
          <a:solidFill>
            <a:srgbClr val="081F33"/>
          </a:solidFill>
          <a:ln/>
        </p:spPr>
      </p:sp>
      <p:sp>
        <p:nvSpPr>
          <p:cNvPr id="11" name="Text 9"/>
          <p:cNvSpPr/>
          <p:nvPr/>
        </p:nvSpPr>
        <p:spPr>
          <a:xfrm>
            <a:off x="5655564" y="2011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B</a:t>
            </a:r>
            <a:endParaRPr lang="en-US" sz="3200" dirty="0"/>
          </a:p>
        </p:txBody>
      </p:sp>
      <p:sp>
        <p:nvSpPr>
          <p:cNvPr id="12" name="Text 10"/>
          <p:cNvSpPr/>
          <p:nvPr/>
        </p:nvSpPr>
        <p:spPr>
          <a:xfrm>
            <a:off x="4526280" y="3154680"/>
            <a:ext cx="3172968" cy="685800"/>
          </a:xfrm>
          <a:prstGeom prst="rect">
            <a:avLst/>
          </a:prstGeom>
          <a:noFill/>
          <a:ln/>
        </p:spPr>
        <p:txBody>
          <a:bodyPr wrap="square" lIns="0" tIns="0" rIns="0" bIns="0" rtlCol="0" anchor="ctr"/>
          <a:lstStyle/>
          <a:p>
            <a:pPr algn="ctr" indent="0" marL="0">
              <a:buNone/>
            </a:pPr>
            <a:r>
              <a:rPr lang="en-US" sz="1700" b="1" dirty="0">
                <a:solidFill>
                  <a:srgbClr val="081F33"/>
                </a:solidFill>
                <a:latin typeface="Cambria" pitchFamily="34" charset="0"/>
                <a:ea typeface="Cambria" pitchFamily="34" charset="-122"/>
                <a:cs typeface="Cambria" pitchFamily="34" charset="-120"/>
              </a:rPr>
              <a:t>Fuera de Tu Negocio Habitual</a:t>
            </a:r>
            <a:endParaRPr lang="en-US" sz="1700" dirty="0"/>
          </a:p>
        </p:txBody>
      </p:sp>
      <p:sp>
        <p:nvSpPr>
          <p:cNvPr id="13" name="Text 11"/>
          <p:cNvSpPr/>
          <p:nvPr/>
        </p:nvSpPr>
        <p:spPr>
          <a:xfrm>
            <a:off x="4636008" y="3931920"/>
            <a:ext cx="2953512" cy="1600200"/>
          </a:xfrm>
          <a:prstGeom prst="rect">
            <a:avLst/>
          </a:prstGeom>
          <a:noFill/>
          <a:ln/>
        </p:spPr>
        <p:txBody>
          <a:bodyPr wrap="square" lIns="0" tIns="0" rIns="0" bIns="0" rtlCol="0" anchor="ctr"/>
          <a:lstStyle/>
          <a:p>
            <a:pPr algn="ctr" indent="0" marL="0">
              <a:lnSpc>
                <a:spcPct val="130000"/>
              </a:lnSpc>
              <a:buNone/>
            </a:pPr>
            <a:r>
              <a:rPr lang="en-US" sz="1250" dirty="0">
                <a:solidFill>
                  <a:srgbClr val="081F33"/>
                </a:solidFill>
                <a:latin typeface="Calibri" pitchFamily="34" charset="0"/>
                <a:ea typeface="Calibri" pitchFamily="34" charset="-122"/>
                <a:cs typeface="Calibri" pitchFamily="34" charset="-120"/>
              </a:rPr>
              <a:t>¿El trabajo está fuera del curso habitual de tu negocio, en vez de ser una parte central de cómo realmente opera tu práctica?</a:t>
            </a:r>
            <a:endParaRPr lang="en-US" sz="1250" dirty="0"/>
          </a:p>
        </p:txBody>
      </p:sp>
      <p:sp>
        <p:nvSpPr>
          <p:cNvPr id="14" name="Shape 12"/>
          <p:cNvSpPr/>
          <p:nvPr/>
        </p:nvSpPr>
        <p:spPr>
          <a:xfrm>
            <a:off x="8138160" y="1737360"/>
            <a:ext cx="3538728" cy="3931920"/>
          </a:xfrm>
          <a:prstGeom prst="roundRect">
            <a:avLst>
              <a:gd name="adj" fmla="val 2584"/>
            </a:avLst>
          </a:prstGeom>
          <a:solidFill>
            <a:srgbClr val="F7F2EA"/>
          </a:solidFill>
          <a:ln/>
        </p:spPr>
      </p:sp>
      <p:sp>
        <p:nvSpPr>
          <p:cNvPr id="15" name="Shape 13"/>
          <p:cNvSpPr/>
          <p:nvPr/>
        </p:nvSpPr>
        <p:spPr>
          <a:xfrm>
            <a:off x="9450324" y="2011680"/>
            <a:ext cx="914400" cy="914400"/>
          </a:xfrm>
          <a:prstGeom prst="ellipse">
            <a:avLst/>
          </a:prstGeom>
          <a:solidFill>
            <a:srgbClr val="081F33"/>
          </a:solidFill>
          <a:ln/>
        </p:spPr>
      </p:sp>
      <p:sp>
        <p:nvSpPr>
          <p:cNvPr id="16" name="Text 14"/>
          <p:cNvSpPr/>
          <p:nvPr/>
        </p:nvSpPr>
        <p:spPr>
          <a:xfrm>
            <a:off x="9450324" y="2011680"/>
            <a:ext cx="914400" cy="91440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a:t>
            </a:r>
            <a:endParaRPr lang="en-US" sz="3200" dirty="0"/>
          </a:p>
        </p:txBody>
      </p:sp>
      <p:sp>
        <p:nvSpPr>
          <p:cNvPr id="17" name="Text 15"/>
          <p:cNvSpPr/>
          <p:nvPr/>
        </p:nvSpPr>
        <p:spPr>
          <a:xfrm>
            <a:off x="8321040" y="3154680"/>
            <a:ext cx="3172968" cy="685800"/>
          </a:xfrm>
          <a:prstGeom prst="rect">
            <a:avLst/>
          </a:prstGeom>
          <a:noFill/>
          <a:ln/>
        </p:spPr>
        <p:txBody>
          <a:bodyPr wrap="square" lIns="0" tIns="0" rIns="0" bIns="0" rtlCol="0" anchor="ctr"/>
          <a:lstStyle/>
          <a:p>
            <a:pPr algn="ctr" indent="0" marL="0">
              <a:buNone/>
            </a:pPr>
            <a:r>
              <a:rPr lang="en-US" sz="1700" b="1" dirty="0">
                <a:solidFill>
                  <a:srgbClr val="081F33"/>
                </a:solidFill>
                <a:latin typeface="Cambria" pitchFamily="34" charset="0"/>
                <a:ea typeface="Cambria" pitchFamily="34" charset="-122"/>
                <a:cs typeface="Cambria" pitchFamily="34" charset="-120"/>
              </a:rPr>
              <a:t>Un Oficio Independiente</a:t>
            </a:r>
            <a:endParaRPr lang="en-US" sz="1700" dirty="0"/>
          </a:p>
        </p:txBody>
      </p:sp>
      <p:sp>
        <p:nvSpPr>
          <p:cNvPr id="18" name="Text 16"/>
          <p:cNvSpPr/>
          <p:nvPr/>
        </p:nvSpPr>
        <p:spPr>
          <a:xfrm>
            <a:off x="8430768" y="3931920"/>
            <a:ext cx="2953512" cy="1600200"/>
          </a:xfrm>
          <a:prstGeom prst="rect">
            <a:avLst/>
          </a:prstGeom>
          <a:noFill/>
          <a:ln/>
        </p:spPr>
        <p:txBody>
          <a:bodyPr wrap="square" lIns="0" tIns="0" rIns="0" bIns="0" rtlCol="0" anchor="ctr"/>
          <a:lstStyle/>
          <a:p>
            <a:pPr algn="ctr" indent="0" marL="0">
              <a:lnSpc>
                <a:spcPct val="130000"/>
              </a:lnSpc>
              <a:buNone/>
            </a:pPr>
            <a:r>
              <a:rPr lang="en-US" sz="1250" dirty="0">
                <a:solidFill>
                  <a:srgbClr val="081F33"/>
                </a:solidFill>
                <a:latin typeface="Calibri" pitchFamily="34" charset="0"/>
                <a:ea typeface="Calibri" pitchFamily="34" charset="-122"/>
                <a:cs typeface="Calibri" pitchFamily="34" charset="-120"/>
              </a:rPr>
              <a:t>¿El trabajador tiene su propio negocio establecido de forma independiente, ofreciendo los mismos servicios a otros en el mercado?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sp>
        <p:nvSpPr>
          <p:cNvPr id="3" name="Text 1"/>
          <p:cNvSpPr/>
          <p:nvPr/>
        </p:nvSpPr>
        <p:spPr>
          <a:xfrm>
            <a:off x="548640" y="5029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a:t>
            </a:r>
            <a:endParaRPr lang="en-US" sz="2600" dirty="0"/>
          </a:p>
        </p:txBody>
      </p:sp>
      <p:sp>
        <p:nvSpPr>
          <p:cNvPr id="4" name="Text 2"/>
          <p:cNvSpPr/>
          <p:nvPr/>
        </p:nvSpPr>
        <p:spPr>
          <a:xfrm>
            <a:off x="1417320" y="502920"/>
            <a:ext cx="9601200" cy="685800"/>
          </a:xfrm>
          <a:prstGeom prst="rect">
            <a:avLst/>
          </a:prstGeom>
          <a:noFill/>
          <a:ln/>
        </p:spPr>
        <p:txBody>
          <a:bodyPr wrap="square" lIns="0" tIns="0" rIns="0" bIns="0" rtlCol="0" anchor="ctr"/>
          <a:lstStyle/>
          <a:p>
            <a:pPr indent="0" marL="0">
              <a:buNone/>
            </a:pPr>
            <a:r>
              <a:rPr lang="en-US" sz="2700" b="1" dirty="0">
                <a:solidFill>
                  <a:srgbClr val="081F33"/>
                </a:solidFill>
                <a:latin typeface="Cambria" pitchFamily="34" charset="0"/>
                <a:ea typeface="Cambria" pitchFamily="34" charset="-122"/>
                <a:cs typeface="Cambria" pitchFamily="34" charset="-120"/>
              </a:rPr>
              <a:t>Aspecto A: Libre de Control</a:t>
            </a:r>
            <a:endParaRPr lang="en-US" sz="2700" dirty="0"/>
          </a:p>
        </p:txBody>
      </p:sp>
      <p:sp>
        <p:nvSpPr>
          <p:cNvPr id="5" name="Text 3"/>
          <p:cNvSpPr/>
          <p:nvPr/>
        </p:nvSpPr>
        <p:spPr>
          <a:xfrm>
            <a:off x="548640" y="1325880"/>
            <a:ext cx="10698480"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Esto refleja el factor federal de control de comportamiento — la parte más familiar del análisis para la mayoría de los dueños de práctica.</a:t>
            </a:r>
            <a:endParaRPr lang="en-US" sz="1400" dirty="0"/>
          </a:p>
        </p:txBody>
      </p:sp>
      <p:sp>
        <p:nvSpPr>
          <p:cNvPr id="6" name="Text 4"/>
          <p:cNvSpPr/>
          <p:nvPr/>
        </p:nvSpPr>
        <p:spPr>
          <a:xfrm>
            <a:off x="548640" y="1965960"/>
            <a:ext cx="5486400" cy="365760"/>
          </a:xfrm>
          <a:prstGeom prst="rect">
            <a:avLst/>
          </a:prstGeom>
          <a:noFill/>
          <a:ln/>
        </p:spPr>
        <p:txBody>
          <a:bodyPr wrap="square" lIns="0" tIns="0" rIns="0" bIns="0" rtlCol="0" anchor="ctr"/>
          <a:lstStyle/>
          <a:p>
            <a:pPr indent="0" marL="0">
              <a:buNone/>
            </a:pPr>
            <a:r>
              <a:rPr lang="en-US" sz="1500" b="1" dirty="0">
                <a:solidFill>
                  <a:srgbClr val="081F33"/>
                </a:solidFill>
                <a:latin typeface="Calibri" pitchFamily="34" charset="0"/>
                <a:ea typeface="Calibri" pitchFamily="34" charset="-122"/>
                <a:cs typeface="Calibri" pitchFamily="34" charset="-120"/>
              </a:rPr>
              <a:t>Pesa en contra de pasar este aspecto:</a:t>
            </a:r>
            <a:endParaRPr lang="en-US" sz="1500" dirty="0"/>
          </a:p>
        </p:txBody>
      </p:sp>
      <p:sp>
        <p:nvSpPr>
          <p:cNvPr id="7" name="Text 5"/>
          <p:cNvSpPr/>
          <p:nvPr/>
        </p:nvSpPr>
        <p:spPr>
          <a:xfrm>
            <a:off x="548640" y="2423160"/>
            <a:ext cx="5303520" cy="21945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Estableces horarios específicos o exiges un calendario fijo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Das instrucciones paso a paso de cómo se hacen las tareas</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Supervisas el trabajo directamente, día a día</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usa tus sistemas, accesos, y plantillas exclusivamente</a:t>
            </a:r>
            <a:endParaRPr lang="en-US" sz="1400" dirty="0"/>
          </a:p>
        </p:txBody>
      </p:sp>
      <p:sp>
        <p:nvSpPr>
          <p:cNvPr id="8" name="Shape 6"/>
          <p:cNvSpPr/>
          <p:nvPr/>
        </p:nvSpPr>
        <p:spPr>
          <a:xfrm>
            <a:off x="6080760" y="1965960"/>
            <a:ext cx="0" cy="3749040"/>
          </a:xfrm>
          <a:prstGeom prst="line">
            <a:avLst/>
          </a:prstGeom>
          <a:noFill/>
          <a:ln w="19050">
            <a:solidFill>
              <a:srgbClr val="C7D2D6"/>
            </a:solidFill>
            <a:prstDash val="solid"/>
          </a:ln>
        </p:spPr>
      </p:sp>
      <p:sp>
        <p:nvSpPr>
          <p:cNvPr id="9" name="Text 7"/>
          <p:cNvSpPr/>
          <p:nvPr/>
        </p:nvSpPr>
        <p:spPr>
          <a:xfrm>
            <a:off x="6309360" y="1965960"/>
            <a:ext cx="5303520" cy="365760"/>
          </a:xfrm>
          <a:prstGeom prst="rect">
            <a:avLst/>
          </a:prstGeom>
          <a:noFill/>
          <a:ln/>
        </p:spPr>
        <p:txBody>
          <a:bodyPr wrap="square" lIns="0" tIns="0" rIns="0" bIns="0" rtlCol="0" anchor="ctr"/>
          <a:lstStyle/>
          <a:p>
            <a:pPr indent="0" marL="0">
              <a:buNone/>
            </a:pPr>
            <a:r>
              <a:rPr lang="en-US" sz="1500" b="1" dirty="0">
                <a:solidFill>
                  <a:srgbClr val="C9A97E"/>
                </a:solidFill>
                <a:latin typeface="Calibri" pitchFamily="34" charset="0"/>
                <a:ea typeface="Calibri" pitchFamily="34" charset="-122"/>
                <a:cs typeface="Calibri" pitchFamily="34" charset="-120"/>
              </a:rPr>
              <a:t>Apoya pasar este aspecto:</a:t>
            </a:r>
            <a:endParaRPr lang="en-US" sz="1500" dirty="0"/>
          </a:p>
        </p:txBody>
      </p:sp>
      <p:sp>
        <p:nvSpPr>
          <p:cNvPr id="10" name="Text 8"/>
          <p:cNvSpPr/>
          <p:nvPr/>
        </p:nvSpPr>
        <p:spPr>
          <a:xfrm>
            <a:off x="6309360" y="2423160"/>
            <a:ext cx="5303520" cy="21945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establece sus propios horarios y flujo de trabajo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Describes el resultado; ellos determinan el método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Sin supervisión diaria directa de su proceso</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usa sus propias herramientas, sistemas, o subcontratistas</a:t>
            </a:r>
            <a:endParaRPr lang="en-US" sz="1400" dirty="0"/>
          </a:p>
        </p:txBody>
      </p:sp>
      <p:sp>
        <p:nvSpPr>
          <p:cNvPr id="11" name="Shape 9"/>
          <p:cNvSpPr/>
          <p:nvPr/>
        </p:nvSpPr>
        <p:spPr>
          <a:xfrm>
            <a:off x="548640" y="5623560"/>
            <a:ext cx="11064240" cy="777240"/>
          </a:xfrm>
          <a:prstGeom prst="roundRect">
            <a:avLst>
              <a:gd name="adj" fmla="val 9412"/>
            </a:avLst>
          </a:prstGeom>
          <a:solidFill>
            <a:srgbClr val="F7F2EA"/>
          </a:solidFill>
          <a:ln/>
        </p:spPr>
      </p:sp>
      <p:sp>
        <p:nvSpPr>
          <p:cNvPr id="12" name="Text 10"/>
          <p:cNvSpPr/>
          <p:nvPr/>
        </p:nvSpPr>
        <p:spPr>
          <a:xfrm>
            <a:off x="822960" y="5623560"/>
            <a:ext cx="10515600" cy="777240"/>
          </a:xfrm>
          <a:prstGeom prst="rect">
            <a:avLst/>
          </a:prstGeom>
          <a:noFill/>
          <a:ln/>
        </p:spPr>
        <p:txBody>
          <a:bodyPr wrap="square" lIns="0" tIns="0" rIns="0" bIns="0" rtlCol="0" anchor="ctr"/>
          <a:lstStyle/>
          <a:p>
            <a:pPr indent="0" marL="0">
              <a:buNone/>
            </a:pPr>
            <a:r>
              <a:rPr lang="en-US" sz="1300" b="1" dirty="0">
                <a:solidFill>
                  <a:srgbClr val="081F33"/>
                </a:solidFill>
                <a:latin typeface="Calibri" pitchFamily="34" charset="0"/>
                <a:ea typeface="Calibri" pitchFamily="34" charset="-122"/>
                <a:cs typeface="Calibri" pitchFamily="34" charset="-120"/>
              </a:rPr>
              <a:t>Nota:  </a:t>
            </a:r>
            <a:pPr indent="0" marL="0">
              <a:buNone/>
            </a:pPr>
            <a:r>
              <a:rPr lang="en-US" sz="1300" dirty="0">
                <a:solidFill>
                  <a:srgbClr val="081F33"/>
                </a:solidFill>
                <a:latin typeface="Calibri" pitchFamily="34" charset="0"/>
                <a:ea typeface="Calibri" pitchFamily="34" charset="-122"/>
                <a:cs typeface="Calibri" pitchFamily="34" charset="-120"/>
              </a:rPr>
              <a:t>Este aspecto por sí solo rara vez es donde fallan los asistentes virtuales de salud — el Aspecto B, siguiente, suele ser el verdadero obstáculo.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C9A97E"/>
          </a:solidFill>
          <a:ln/>
        </p:spPr>
      </p:sp>
      <p:sp>
        <p:nvSpPr>
          <p:cNvPr id="3" name="Text 1"/>
          <p:cNvSpPr/>
          <p:nvPr/>
        </p:nvSpPr>
        <p:spPr>
          <a:xfrm>
            <a:off x="548640" y="457200"/>
            <a:ext cx="685800" cy="685800"/>
          </a:xfrm>
          <a:prstGeom prst="rect">
            <a:avLst/>
          </a:prstGeom>
          <a:noFill/>
          <a:ln/>
        </p:spPr>
        <p:txBody>
          <a:bodyPr wrap="square" lIns="0" tIns="0" rIns="0" bIns="0" rtlCol="0" anchor="ctr"/>
          <a:lstStyle/>
          <a:p>
            <a:pPr algn="ctr" indent="0" marL="0">
              <a:buNone/>
            </a:pPr>
            <a:r>
              <a:rPr lang="en-US" sz="2600" b="1" dirty="0">
                <a:solidFill>
                  <a:srgbClr val="081F33"/>
                </a:solidFill>
                <a:latin typeface="Cambria" pitchFamily="34" charset="0"/>
                <a:ea typeface="Cambria" pitchFamily="34" charset="-122"/>
                <a:cs typeface="Cambria" pitchFamily="34" charset="-120"/>
              </a:rPr>
              <a:t>B</a:t>
            </a:r>
            <a:endParaRPr lang="en-US" sz="2600" dirty="0"/>
          </a:p>
        </p:txBody>
      </p:sp>
      <p:sp>
        <p:nvSpPr>
          <p:cNvPr id="4" name="Text 2"/>
          <p:cNvSpPr/>
          <p:nvPr/>
        </p:nvSpPr>
        <p:spPr>
          <a:xfrm>
            <a:off x="1417320" y="457200"/>
            <a:ext cx="10058400" cy="77724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Aspecto B: El Que Hace Tropezar a la Salud</a:t>
            </a:r>
            <a:endParaRPr lang="en-US" sz="2300" dirty="0"/>
          </a:p>
        </p:txBody>
      </p:sp>
      <p:sp>
        <p:nvSpPr>
          <p:cNvPr id="5" name="Text 3"/>
          <p:cNvSpPr/>
          <p:nvPr/>
        </p:nvSpPr>
        <p:spPr>
          <a:xfrm>
            <a:off x="548640" y="1371600"/>
            <a:ext cx="10698480" cy="731520"/>
          </a:xfrm>
          <a:prstGeom prst="rect">
            <a:avLst/>
          </a:prstGeom>
          <a:noFill/>
          <a:ln/>
        </p:spPr>
        <p:txBody>
          <a:bodyPr wrap="square" lIns="0" tIns="0" rIns="0" bIns="0" rtlCol="0" anchor="ctr"/>
          <a:lstStyle/>
          <a:p>
            <a:pPr indent="0" marL="0">
              <a:lnSpc>
                <a:spcPct val="130000"/>
              </a:lnSpc>
              <a:buNone/>
            </a:pPr>
            <a:r>
              <a:rPr lang="en-US" sz="1500" dirty="0">
                <a:solidFill>
                  <a:srgbClr val="C7D2D6"/>
                </a:solidFill>
                <a:latin typeface="Calibri" pitchFamily="34" charset="0"/>
                <a:ea typeface="Calibri" pitchFamily="34" charset="-122"/>
                <a:cs typeface="Calibri" pitchFamily="34" charset="-120"/>
              </a:rPr>
              <a:t>El servicio del trabajador debe estar </a:t>
            </a:r>
            <a:pPr indent="0" marL="0">
              <a:lnSpc>
                <a:spcPct val="130000"/>
              </a:lnSpc>
              <a:buNone/>
            </a:pPr>
            <a:r>
              <a:rPr lang="en-US" sz="1500" b="1" dirty="0">
                <a:solidFill>
                  <a:srgbClr val="C9A97E"/>
                </a:solidFill>
                <a:latin typeface="Calibri" pitchFamily="34" charset="0"/>
                <a:ea typeface="Calibri" pitchFamily="34" charset="-122"/>
                <a:cs typeface="Calibri" pitchFamily="34" charset="-120"/>
              </a:rPr>
              <a:t>fuera del curso habitual de tu negocio.</a:t>
            </a:r>
            <a:pPr indent="0" marL="0">
              <a:lnSpc>
                <a:spcPct val="130000"/>
              </a:lnSpc>
              <a:buNone/>
            </a:pPr>
            <a:r>
              <a:rPr lang="en-US" sz="1500" dirty="0">
                <a:solidFill>
                  <a:srgbClr val="C7D2D6"/>
                </a:solidFill>
                <a:latin typeface="Calibri" pitchFamily="34" charset="0"/>
                <a:ea typeface="Calibri" pitchFamily="34" charset="-122"/>
                <a:cs typeface="Calibri" pitchFamily="34" charset="-120"/>
              </a:rPr>
              <a:t> Para una práctica de salud conductual o médica, esa es una aguja difícil de enhebrar.</a:t>
            </a:r>
            <a:endParaRPr lang="en-US" sz="1500" dirty="0"/>
          </a:p>
        </p:txBody>
      </p:sp>
      <p:sp>
        <p:nvSpPr>
          <p:cNvPr id="6" name="Shape 4"/>
          <p:cNvSpPr/>
          <p:nvPr/>
        </p:nvSpPr>
        <p:spPr>
          <a:xfrm>
            <a:off x="548640" y="2286000"/>
            <a:ext cx="11064240" cy="1828800"/>
          </a:xfrm>
          <a:prstGeom prst="roundRect">
            <a:avLst>
              <a:gd name="adj" fmla="val 5000"/>
            </a:avLst>
          </a:prstGeom>
          <a:solidFill>
            <a:srgbClr val="0E3A5F"/>
          </a:solidFill>
          <a:ln/>
        </p:spPr>
      </p:sp>
      <p:sp>
        <p:nvSpPr>
          <p:cNvPr id="7" name="Text 5"/>
          <p:cNvSpPr/>
          <p:nvPr/>
        </p:nvSpPr>
        <p:spPr>
          <a:xfrm>
            <a:off x="822960" y="2423160"/>
            <a:ext cx="10424160" cy="365760"/>
          </a:xfrm>
          <a:prstGeom prst="rect">
            <a:avLst/>
          </a:prstGeom>
          <a:noFill/>
          <a:ln/>
        </p:spPr>
        <p:txBody>
          <a:bodyPr wrap="square" lIns="0" tIns="0" rIns="0" bIns="0" rtlCol="0" anchor="ctr"/>
          <a:lstStyle/>
          <a:p>
            <a:pPr indent="0" marL="0">
              <a:buNone/>
            </a:pPr>
            <a:r>
              <a:rPr lang="en-US" sz="1400" b="1" dirty="0">
                <a:solidFill>
                  <a:srgbClr val="C9A97E"/>
                </a:solidFill>
                <a:latin typeface="Calibri" pitchFamily="34" charset="0"/>
                <a:ea typeface="Calibri" pitchFamily="34" charset="-122"/>
                <a:cs typeface="Calibri" pitchFamily="34" charset="-120"/>
              </a:rPr>
              <a:t>Pregúntate:</a:t>
            </a:r>
            <a:endParaRPr lang="en-US" sz="1400" dirty="0"/>
          </a:p>
        </p:txBody>
      </p:sp>
      <p:sp>
        <p:nvSpPr>
          <p:cNvPr id="8" name="Text 6"/>
          <p:cNvSpPr/>
          <p:nvPr/>
        </p:nvSpPr>
        <p:spPr>
          <a:xfrm>
            <a:off x="822960" y="2788920"/>
            <a:ext cx="10424160" cy="11887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¿Mi práctica funcionaría sin que alguien, de alguna forma, llenara este puesto?</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¿Esta tarea es parte del motor operativo del cuidado del paciente (programación, admisión, facturación, seguimiento de seguros) en vez de un proyecto secundario aislado?</a:t>
            </a:r>
            <a:endParaRPr lang="en-US" sz="1400" dirty="0"/>
          </a:p>
        </p:txBody>
      </p:sp>
      <p:sp>
        <p:nvSpPr>
          <p:cNvPr id="9" name="Text 7"/>
          <p:cNvSpPr/>
          <p:nvPr/>
        </p:nvSpPr>
        <p:spPr>
          <a:xfrm>
            <a:off x="548640" y="4343400"/>
            <a:ext cx="11064240" cy="1737360"/>
          </a:xfrm>
          <a:prstGeom prst="rect">
            <a:avLst/>
          </a:prstGeom>
          <a:noFill/>
          <a:ln/>
        </p:spPr>
        <p:txBody>
          <a:bodyPr wrap="square" lIns="0" tIns="0" rIns="0" bIns="0" rtlCol="0" anchor="ctr"/>
          <a:lstStyle/>
          <a:p>
            <a:pPr indent="0" marL="0">
              <a:lnSpc>
                <a:spcPct val="135000"/>
              </a:lnSpc>
              <a:buNone/>
            </a:pPr>
            <a:r>
              <a:rPr lang="en-US" sz="1400" b="1" dirty="0">
                <a:solidFill>
                  <a:srgbClr val="C9A97E"/>
                </a:solidFill>
                <a:latin typeface="Calibri" pitchFamily="34" charset="0"/>
                <a:ea typeface="Calibri" pitchFamily="34" charset="-122"/>
                <a:cs typeface="Calibri" pitchFamily="34" charset="-120"/>
              </a:rPr>
              <a:t>La verdad incómoda:  </a:t>
            </a:r>
            <a:pPr indent="0" marL="0">
              <a:lnSpc>
                <a:spcPct val="135000"/>
              </a:lnSpc>
              <a:buNone/>
            </a:pPr>
            <a:r>
              <a:rPr lang="en-US" sz="1400" dirty="0">
                <a:solidFill>
                  <a:srgbClr val="C7D2D6"/>
                </a:solidFill>
                <a:latin typeface="Calibri" pitchFamily="34" charset="0"/>
                <a:ea typeface="Calibri" pitchFamily="34" charset="-122"/>
                <a:cs typeface="Calibri" pitchFamily="34" charset="-120"/>
              </a:rPr>
              <a:t>la programación, coordinación de admisión, verificación de seguros, y apoyo de facturación no son incidentales a una práctica médica o de salud conductual — son parte de cómo funciona la práctica todos los días. Eso hace que el Aspecto B sea genuinamente difícil de satisfacer para un asistente virtual que hace este trabajo, sin importar qué tan independiente parezca el arreglo en otros aspectos.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sp>
        <p:nvSpPr>
          <p:cNvPr id="3" name="Text 1"/>
          <p:cNvSpPr/>
          <p:nvPr/>
        </p:nvSpPr>
        <p:spPr>
          <a:xfrm>
            <a:off x="548640" y="50292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4" name="Text 2"/>
          <p:cNvSpPr/>
          <p:nvPr/>
        </p:nvSpPr>
        <p:spPr>
          <a:xfrm>
            <a:off x="1417320" y="502920"/>
            <a:ext cx="10058400" cy="685800"/>
          </a:xfrm>
          <a:prstGeom prst="rect">
            <a:avLst/>
          </a:prstGeom>
          <a:noFill/>
          <a:ln/>
        </p:spPr>
        <p:txBody>
          <a:bodyPr wrap="square" lIns="0" tIns="0" rIns="0" bIns="0" rtlCol="0" anchor="ctr"/>
          <a:lstStyle/>
          <a:p>
            <a:pPr indent="0" marL="0">
              <a:buNone/>
            </a:pPr>
            <a:r>
              <a:rPr lang="en-US" sz="2300" b="1" dirty="0">
                <a:solidFill>
                  <a:srgbClr val="081F33"/>
                </a:solidFill>
                <a:latin typeface="Cambria" pitchFamily="34" charset="0"/>
                <a:ea typeface="Cambria" pitchFamily="34" charset="-122"/>
                <a:cs typeface="Cambria" pitchFamily="34" charset="-120"/>
              </a:rPr>
              <a:t>Aspecto C: Un Oficio Establecido de Forma Independiente</a:t>
            </a:r>
            <a:endParaRPr lang="en-US" sz="2300" dirty="0"/>
          </a:p>
        </p:txBody>
      </p:sp>
      <p:sp>
        <p:nvSpPr>
          <p:cNvPr id="5" name="Text 3"/>
          <p:cNvSpPr/>
          <p:nvPr/>
        </p:nvSpPr>
        <p:spPr>
          <a:xfrm>
            <a:off x="548640" y="1325880"/>
            <a:ext cx="10698480"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El trabajador necesita un negocio genuino, establecido de forma independiente, de la misma naturaleza — no solo un trabajo secundario que resulta ser contigo.</a:t>
            </a:r>
            <a:endParaRPr lang="en-US" sz="1400" dirty="0"/>
          </a:p>
        </p:txBody>
      </p:sp>
      <p:sp>
        <p:nvSpPr>
          <p:cNvPr id="6" name="Text 4"/>
          <p:cNvSpPr/>
          <p:nvPr/>
        </p:nvSpPr>
        <p:spPr>
          <a:xfrm>
            <a:off x="548640" y="1965960"/>
            <a:ext cx="5486400" cy="365760"/>
          </a:xfrm>
          <a:prstGeom prst="rect">
            <a:avLst/>
          </a:prstGeom>
          <a:noFill/>
          <a:ln/>
        </p:spPr>
        <p:txBody>
          <a:bodyPr wrap="square" lIns="0" tIns="0" rIns="0" bIns="0" rtlCol="0" anchor="ctr"/>
          <a:lstStyle/>
          <a:p>
            <a:pPr indent="0" marL="0">
              <a:buNone/>
            </a:pPr>
            <a:r>
              <a:rPr lang="en-US" sz="1500" b="1" dirty="0">
                <a:solidFill>
                  <a:srgbClr val="081F33"/>
                </a:solidFill>
                <a:latin typeface="Calibri" pitchFamily="34" charset="0"/>
                <a:ea typeface="Calibri" pitchFamily="34" charset="-122"/>
                <a:cs typeface="Calibri" pitchFamily="34" charset="-120"/>
              </a:rPr>
              <a:t>Pesa en contra de pasar este aspecto:</a:t>
            </a:r>
            <a:endParaRPr lang="en-US" sz="1500" dirty="0"/>
          </a:p>
        </p:txBody>
      </p:sp>
      <p:sp>
        <p:nvSpPr>
          <p:cNvPr id="7" name="Text 5"/>
          <p:cNvSpPr/>
          <p:nvPr/>
        </p:nvSpPr>
        <p:spPr>
          <a:xfrm>
            <a:off x="548640" y="2423160"/>
            <a:ext cx="5303520" cy="21945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Eres su único cliente, y lo has sido por meses</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No promocionan servicios de asistente virtual a ninguna otra práctica</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No existe registro de negocio, sitio web, u otros contratos de clientes</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arreglo comenzó como, y sigue siendo, un acuerdo informal de palabra</a:t>
            </a:r>
            <a:endParaRPr lang="en-US" sz="1400" dirty="0"/>
          </a:p>
        </p:txBody>
      </p:sp>
      <p:sp>
        <p:nvSpPr>
          <p:cNvPr id="8" name="Shape 6"/>
          <p:cNvSpPr/>
          <p:nvPr/>
        </p:nvSpPr>
        <p:spPr>
          <a:xfrm>
            <a:off x="6080760" y="1965960"/>
            <a:ext cx="0" cy="3749040"/>
          </a:xfrm>
          <a:prstGeom prst="line">
            <a:avLst/>
          </a:prstGeom>
          <a:noFill/>
          <a:ln w="19050">
            <a:solidFill>
              <a:srgbClr val="C7D2D6"/>
            </a:solidFill>
            <a:prstDash val="solid"/>
          </a:ln>
        </p:spPr>
      </p:sp>
      <p:sp>
        <p:nvSpPr>
          <p:cNvPr id="9" name="Text 7"/>
          <p:cNvSpPr/>
          <p:nvPr/>
        </p:nvSpPr>
        <p:spPr>
          <a:xfrm>
            <a:off x="6309360" y="1965960"/>
            <a:ext cx="5303520" cy="365760"/>
          </a:xfrm>
          <a:prstGeom prst="rect">
            <a:avLst/>
          </a:prstGeom>
          <a:noFill/>
          <a:ln/>
        </p:spPr>
        <p:txBody>
          <a:bodyPr wrap="square" lIns="0" tIns="0" rIns="0" bIns="0" rtlCol="0" anchor="ctr"/>
          <a:lstStyle/>
          <a:p>
            <a:pPr indent="0" marL="0">
              <a:buNone/>
            </a:pPr>
            <a:r>
              <a:rPr lang="en-US" sz="1500" b="1" dirty="0">
                <a:solidFill>
                  <a:srgbClr val="C9A97E"/>
                </a:solidFill>
                <a:latin typeface="Calibri" pitchFamily="34" charset="0"/>
                <a:ea typeface="Calibri" pitchFamily="34" charset="-122"/>
                <a:cs typeface="Calibri" pitchFamily="34" charset="-120"/>
              </a:rPr>
              <a:t>Apoya pasar este aspecto:</a:t>
            </a:r>
            <a:endParaRPr lang="en-US" sz="1500" dirty="0"/>
          </a:p>
        </p:txBody>
      </p:sp>
      <p:sp>
        <p:nvSpPr>
          <p:cNvPr id="10" name="Text 8"/>
          <p:cNvSpPr/>
          <p:nvPr/>
        </p:nvSpPr>
        <p:spPr>
          <a:xfrm>
            <a:off x="6309360" y="2423160"/>
            <a:ext cx="5303520" cy="219456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El trabajador sirve activamente a múltiples prácticas a la vez</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Operan bajo un nombre de negocio o entidad registrada</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Tienen su propio seguro de responsabilidad civil y establecen sus propias tarifas</a:t>
            </a:r>
            <a:endParaRPr lang="en-US" sz="1400" dirty="0"/>
          </a:p>
          <a:p>
            <a:pPr marL="342900" indent="-342900">
              <a:spcAft>
                <a:spcPts val="1000"/>
              </a:spcAft>
              <a:buSzPct val="100000"/>
              <a:buChar char="•"/>
            </a:pPr>
            <a:r>
              <a:rPr lang="en-US" sz="1400" dirty="0">
                <a:solidFill>
                  <a:srgbClr val="081F33"/>
                </a:solidFill>
                <a:latin typeface="Calibri" pitchFamily="34" charset="0"/>
                <a:ea typeface="Calibri" pitchFamily="34" charset="-122"/>
                <a:cs typeface="Calibri" pitchFamily="34" charset="-120"/>
              </a:rPr>
              <a:t>Existía un negocio real y funcional antes de este compromiso</a:t>
            </a:r>
            <a:endParaRPr lang="en-US" sz="1400" dirty="0"/>
          </a:p>
        </p:txBody>
      </p:sp>
      <p:sp>
        <p:nvSpPr>
          <p:cNvPr id="11" name="Shape 9"/>
          <p:cNvSpPr/>
          <p:nvPr/>
        </p:nvSpPr>
        <p:spPr>
          <a:xfrm>
            <a:off x="548640" y="5623560"/>
            <a:ext cx="11064240" cy="777240"/>
          </a:xfrm>
          <a:prstGeom prst="roundRect">
            <a:avLst>
              <a:gd name="adj" fmla="val 9412"/>
            </a:avLst>
          </a:prstGeom>
          <a:solidFill>
            <a:srgbClr val="F7F2EA"/>
          </a:solidFill>
          <a:ln/>
        </p:spPr>
      </p:sp>
      <p:sp>
        <p:nvSpPr>
          <p:cNvPr id="12" name="Text 10"/>
          <p:cNvSpPr/>
          <p:nvPr/>
        </p:nvSpPr>
        <p:spPr>
          <a:xfrm>
            <a:off x="822960" y="5623560"/>
            <a:ext cx="10515600" cy="777240"/>
          </a:xfrm>
          <a:prstGeom prst="rect">
            <a:avLst/>
          </a:prstGeom>
          <a:noFill/>
          <a:ln/>
        </p:spPr>
        <p:txBody>
          <a:bodyPr wrap="square" lIns="0" tIns="0" rIns="0" bIns="0" rtlCol="0" anchor="ctr"/>
          <a:lstStyle/>
          <a:p>
            <a:pPr indent="0" marL="0">
              <a:buNone/>
            </a:pPr>
            <a:r>
              <a:rPr lang="en-US" sz="1300" b="1" dirty="0">
                <a:solidFill>
                  <a:srgbClr val="081F33"/>
                </a:solidFill>
                <a:latin typeface="Calibri" pitchFamily="34" charset="0"/>
                <a:ea typeface="Calibri" pitchFamily="34" charset="-122"/>
                <a:cs typeface="Calibri" pitchFamily="34" charset="-120"/>
              </a:rPr>
              <a:t>Nota:  </a:t>
            </a:r>
            <a:pPr indent="0" marL="0">
              <a:buNone/>
            </a:pPr>
            <a:r>
              <a:rPr lang="en-US" sz="1300" dirty="0">
                <a:solidFill>
                  <a:srgbClr val="081F33"/>
                </a:solidFill>
                <a:latin typeface="Calibri" pitchFamily="34" charset="0"/>
                <a:ea typeface="Calibri" pitchFamily="34" charset="-122"/>
                <a:cs typeface="Calibri" pitchFamily="34" charset="-120"/>
              </a:rPr>
              <a:t>Un asistente virtual de una sola práctica que ha estado contigo por un año tampoco suele superar esta barra — la exclusividad misma es evidencia en contra.</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C9A97E"/>
          </a:solidFill>
          <a:ln/>
        </p:spPr>
      </p:sp>
      <p:pic>
        <p:nvPicPr>
          <p:cNvPr id="3" name="Image 0" descr="icon_stethoscope_navy.png">    </p:cNvPr>
          <p:cNvPicPr>
            <a:picLocks noChangeAspect="1"/>
          </p:cNvPicPr>
          <p:nvPr/>
        </p:nvPicPr>
        <p:blipFill>
          <a:blip r:embed="rId1"/>
          <a:stretch>
            <a:fillRect/>
          </a:stretch>
        </p:blipFill>
        <p:spPr>
          <a:xfrm>
            <a:off x="731520" y="621792"/>
            <a:ext cx="365760" cy="365760"/>
          </a:xfrm>
          <a:prstGeom prst="rect">
            <a:avLst/>
          </a:prstGeom>
        </p:spPr>
      </p:pic>
      <p:sp>
        <p:nvSpPr>
          <p:cNvPr id="4" name="Text 1"/>
          <p:cNvSpPr/>
          <p:nvPr/>
        </p:nvSpPr>
        <p:spPr>
          <a:xfrm>
            <a:off x="1417320" y="457200"/>
            <a:ext cx="10058400" cy="77724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Por Qué las Prácticas de Salud Conductual Están Expuestas</a:t>
            </a:r>
            <a:endParaRPr lang="en-US" sz="2300" dirty="0"/>
          </a:p>
        </p:txBody>
      </p:sp>
      <p:sp>
        <p:nvSpPr>
          <p:cNvPr id="5" name="Shape 2"/>
          <p:cNvSpPr/>
          <p:nvPr/>
        </p:nvSpPr>
        <p:spPr>
          <a:xfrm>
            <a:off x="548640" y="1508760"/>
            <a:ext cx="11064240" cy="1051560"/>
          </a:xfrm>
          <a:prstGeom prst="roundRect">
            <a:avLst>
              <a:gd name="adj" fmla="val 6957"/>
            </a:avLst>
          </a:prstGeom>
          <a:solidFill>
            <a:srgbClr val="0E3A5F"/>
          </a:solidFill>
          <a:ln/>
        </p:spPr>
      </p:sp>
      <p:sp>
        <p:nvSpPr>
          <p:cNvPr id="6" name="Text 3"/>
          <p:cNvSpPr/>
          <p:nvPr/>
        </p:nvSpPr>
        <p:spPr>
          <a:xfrm>
            <a:off x="822960" y="1508760"/>
            <a:ext cx="10515600" cy="105156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El apoyo de asistentes virtuales se ha promocionado agresivamente a prácticas de terapia solas y pequeñas como una alternativa de bajo costo a contratar personal de recepción — el mismo puesto que tradicionalmente llenaba una recepcionista o gerente de oficina</a:t>
            </a:r>
            <a:endParaRPr lang="en-US" sz="1300" dirty="0"/>
          </a:p>
        </p:txBody>
      </p:sp>
      <p:sp>
        <p:nvSpPr>
          <p:cNvPr id="7" name="Shape 4"/>
          <p:cNvSpPr/>
          <p:nvPr/>
        </p:nvSpPr>
        <p:spPr>
          <a:xfrm>
            <a:off x="548640" y="2679192"/>
            <a:ext cx="11064240" cy="1051560"/>
          </a:xfrm>
          <a:prstGeom prst="roundRect">
            <a:avLst>
              <a:gd name="adj" fmla="val 6957"/>
            </a:avLst>
          </a:prstGeom>
          <a:solidFill>
            <a:srgbClr val="0E3A5F"/>
          </a:solidFill>
          <a:ln/>
        </p:spPr>
      </p:sp>
      <p:sp>
        <p:nvSpPr>
          <p:cNvPr id="8" name="Text 5"/>
          <p:cNvSpPr/>
          <p:nvPr/>
        </p:nvSpPr>
        <p:spPr>
          <a:xfrm>
            <a:off x="822960" y="2679192"/>
            <a:ext cx="10515600" cy="105156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La admisión, programación, verificación de seguros, y facturación son tareas operativas centrales en salud conductual — no periféricas, que es precisamente lo que evalúa el Aspecto B</a:t>
            </a:r>
            <a:endParaRPr lang="en-US" sz="1300" dirty="0"/>
          </a:p>
        </p:txBody>
      </p:sp>
      <p:sp>
        <p:nvSpPr>
          <p:cNvPr id="9" name="Shape 6"/>
          <p:cNvSpPr/>
          <p:nvPr/>
        </p:nvSpPr>
        <p:spPr>
          <a:xfrm>
            <a:off x="548640" y="3849624"/>
            <a:ext cx="11064240" cy="1051560"/>
          </a:xfrm>
          <a:prstGeom prst="roundRect">
            <a:avLst>
              <a:gd name="adj" fmla="val 6957"/>
            </a:avLst>
          </a:prstGeom>
          <a:solidFill>
            <a:srgbClr val="0E3A5F"/>
          </a:solidFill>
          <a:ln/>
        </p:spPr>
      </p:sp>
      <p:sp>
        <p:nvSpPr>
          <p:cNvPr id="10" name="Text 7"/>
          <p:cNvSpPr/>
          <p:nvPr/>
        </p:nvSpPr>
        <p:spPr>
          <a:xfrm>
            <a:off x="822960" y="3849624"/>
            <a:ext cx="10515600" cy="105156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Los proveedores de asistentes virtuales que cumplen con HIPAA a menudo le dan al asistente correos de la práctica y acceso directo al sistema de historiales médicos, reforzando la integración en las operaciones diarias</a:t>
            </a:r>
            <a:endParaRPr lang="en-US" sz="1300" dirty="0"/>
          </a:p>
        </p:txBody>
      </p:sp>
      <p:sp>
        <p:nvSpPr>
          <p:cNvPr id="11" name="Shape 8"/>
          <p:cNvSpPr/>
          <p:nvPr/>
        </p:nvSpPr>
        <p:spPr>
          <a:xfrm>
            <a:off x="548640" y="5020056"/>
            <a:ext cx="11064240" cy="1051560"/>
          </a:xfrm>
          <a:prstGeom prst="roundRect">
            <a:avLst>
              <a:gd name="adj" fmla="val 6957"/>
            </a:avLst>
          </a:prstGeom>
          <a:solidFill>
            <a:srgbClr val="0E3A5F"/>
          </a:solidFill>
          <a:ln/>
        </p:spPr>
      </p:sp>
      <p:sp>
        <p:nvSpPr>
          <p:cNvPr id="12" name="Text 9"/>
          <p:cNvSpPr/>
          <p:nvPr/>
        </p:nvSpPr>
        <p:spPr>
          <a:xfrm>
            <a:off x="822960" y="5020056"/>
            <a:ext cx="10515600" cy="1051560"/>
          </a:xfrm>
          <a:prstGeom prst="rect">
            <a:avLst/>
          </a:prstGeom>
          <a:noFill/>
          <a:ln/>
        </p:spPr>
        <p:txBody>
          <a:bodyPr wrap="square" lIns="0" tIns="0" rIns="0" bIns="0" rtlCol="0" anchor="ctr"/>
          <a:lstStyle/>
          <a:p>
            <a:pPr indent="0" marL="0">
              <a:lnSpc>
                <a:spcPct val="125000"/>
              </a:lnSpc>
              <a:buNone/>
            </a:pPr>
            <a:r>
              <a:rPr lang="en-US" sz="1300" dirty="0">
                <a:solidFill>
                  <a:srgbClr val="FFFFFF"/>
                </a:solidFill>
                <a:latin typeface="Calibri" pitchFamily="34" charset="0"/>
                <a:ea typeface="Calibri" pitchFamily="34" charset="-122"/>
                <a:cs typeface="Calibri" pitchFamily="34" charset="-120"/>
              </a:rPr>
              <a:t>Los practicantes solos a menudo contratan a un asistente virtual exclusivamente por 10–20+ horas a la semana, lo cual va en contra del estatus de negocio genuinamente independiente bajo el Aspecto C</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200" b="1" dirty="0">
                <a:solidFill>
                  <a:srgbClr val="081F33"/>
                </a:solidFill>
                <a:latin typeface="Cambria" pitchFamily="34" charset="0"/>
                <a:ea typeface="Cambria" pitchFamily="34" charset="-122"/>
                <a:cs typeface="Cambria" pitchFamily="34" charset="-120"/>
              </a:rPr>
              <a:t>Un Escenario Común</a:t>
            </a:r>
            <a:endParaRPr lang="en-US" sz="3200" dirty="0"/>
          </a:p>
        </p:txBody>
      </p:sp>
      <p:sp>
        <p:nvSpPr>
          <p:cNvPr id="3" name="Shape 1"/>
          <p:cNvSpPr/>
          <p:nvPr/>
        </p:nvSpPr>
        <p:spPr>
          <a:xfrm>
            <a:off x="548640" y="1371600"/>
            <a:ext cx="11064240" cy="1417320"/>
          </a:xfrm>
          <a:prstGeom prst="roundRect">
            <a:avLst>
              <a:gd name="adj" fmla="val 6452"/>
            </a:avLst>
          </a:prstGeom>
          <a:solidFill>
            <a:srgbClr val="F7F2EA"/>
          </a:solidFill>
          <a:ln/>
        </p:spPr>
      </p:sp>
      <p:sp>
        <p:nvSpPr>
          <p:cNvPr id="4" name="Text 2"/>
          <p:cNvSpPr/>
          <p:nvPr/>
        </p:nvSpPr>
        <p:spPr>
          <a:xfrm>
            <a:off x="868680" y="1371600"/>
            <a:ext cx="10515600" cy="1417320"/>
          </a:xfrm>
          <a:prstGeom prst="rect">
            <a:avLst/>
          </a:prstGeom>
          <a:noFill/>
          <a:ln/>
        </p:spPr>
        <p:txBody>
          <a:bodyPr wrap="square" lIns="0" tIns="0" rIns="0" bIns="0" rtlCol="0" anchor="ctr"/>
          <a:lstStyle/>
          <a:p>
            <a:pPr indent="0" marL="0">
              <a:lnSpc>
                <a:spcPct val="125000"/>
              </a:lnSpc>
              <a:buNone/>
            </a:pPr>
            <a:r>
              <a:rPr lang="en-US" sz="2800" b="1" dirty="0">
                <a:solidFill>
                  <a:srgbClr val="081F33"/>
                </a:solidFill>
                <a:latin typeface="Calibri" pitchFamily="34" charset="0"/>
                <a:ea typeface="Calibri" pitchFamily="34" charset="-122"/>
                <a:cs typeface="Calibri" pitchFamily="34" charset="-120"/>
              </a:rPr>
              <a:t>“</a:t>
            </a:r>
            <a:pPr indent="0" marL="0">
              <a:lnSpc>
                <a:spcPct val="125000"/>
              </a:lnSpc>
              <a:buNone/>
            </a:pPr>
            <a:r>
              <a:rPr lang="en-US" sz="1450" i="1" dirty="0">
                <a:solidFill>
                  <a:srgbClr val="081F33"/>
                </a:solidFill>
                <a:latin typeface="Calibri" pitchFamily="34" charset="0"/>
                <a:ea typeface="Calibri" pitchFamily="34" charset="-122"/>
                <a:cs typeface="Calibri" pitchFamily="34" charset="-120"/>
              </a:rPr>
              <a:t>Tengo una práctica de terapia individual en Providence. Mi asistente virtual maneja programación, verificación de seguros, y formularios de admisión, unas 15 horas a la semana. Es 1099 y me factura mensualmente. Mi contador dice que la prueba del IRS se ve bien. ¿De verdad estamos bien?</a:t>
            </a:r>
            <a:endParaRPr lang="en-US" sz="2800" dirty="0"/>
          </a:p>
        </p:txBody>
      </p:sp>
      <p:sp>
        <p:nvSpPr>
          <p:cNvPr id="5" name="Text 3"/>
          <p:cNvSpPr/>
          <p:nvPr/>
        </p:nvSpPr>
        <p:spPr>
          <a:xfrm>
            <a:off x="548640" y="3063240"/>
            <a:ext cx="7315200" cy="365760"/>
          </a:xfrm>
          <a:prstGeom prst="rect">
            <a:avLst/>
          </a:prstGeom>
          <a:noFill/>
          <a:ln/>
        </p:spPr>
        <p:txBody>
          <a:bodyPr wrap="square" lIns="0" tIns="0" rIns="0" bIns="0" rtlCol="0" anchor="ctr"/>
          <a:lstStyle/>
          <a:p>
            <a:pPr indent="0" marL="0">
              <a:buNone/>
            </a:pPr>
            <a:r>
              <a:rPr lang="en-US" sz="1500" b="1" dirty="0">
                <a:solidFill>
                  <a:srgbClr val="081F33"/>
                </a:solidFill>
                <a:latin typeface="Calibri" pitchFamily="34" charset="0"/>
                <a:ea typeface="Calibri" pitchFamily="34" charset="-122"/>
                <a:cs typeface="Calibri" pitchFamily="34" charset="-120"/>
              </a:rPr>
              <a:t>Pasándolo por la prueba ABC de Rhode Island:</a:t>
            </a:r>
            <a:endParaRPr lang="en-US" sz="1500" dirty="0"/>
          </a:p>
        </p:txBody>
      </p:sp>
      <p:sp>
        <p:nvSpPr>
          <p:cNvPr id="6" name="Shape 4"/>
          <p:cNvSpPr/>
          <p:nvPr/>
        </p:nvSpPr>
        <p:spPr>
          <a:xfrm>
            <a:off x="548640" y="3520440"/>
            <a:ext cx="146304" cy="685800"/>
          </a:xfrm>
          <a:prstGeom prst="roundRect">
            <a:avLst/>
          </a:prstGeom>
          <a:solidFill>
            <a:srgbClr val="2C5F2D"/>
          </a:solidFill>
          <a:ln/>
        </p:spPr>
      </p:sp>
      <p:sp>
        <p:nvSpPr>
          <p:cNvPr id="7" name="Text 5"/>
          <p:cNvSpPr/>
          <p:nvPr/>
        </p:nvSpPr>
        <p:spPr>
          <a:xfrm>
            <a:off x="868680" y="3520440"/>
            <a:ext cx="3291840" cy="68580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Aspecto A — Control</a:t>
            </a:r>
            <a:endParaRPr lang="en-US" sz="1350" dirty="0"/>
          </a:p>
        </p:txBody>
      </p:sp>
      <p:sp>
        <p:nvSpPr>
          <p:cNvPr id="8" name="Text 6"/>
          <p:cNvSpPr/>
          <p:nvPr/>
        </p:nvSpPr>
        <p:spPr>
          <a:xfrm>
            <a:off x="4206240" y="3520440"/>
            <a:ext cx="7315200" cy="685800"/>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Posiblemente pasa, si de verdad establece sus propios horarios y proceso</a:t>
            </a:r>
            <a:endParaRPr lang="en-US" sz="1250" dirty="0"/>
          </a:p>
        </p:txBody>
      </p:sp>
      <p:sp>
        <p:nvSpPr>
          <p:cNvPr id="9" name="Shape 7"/>
          <p:cNvSpPr/>
          <p:nvPr/>
        </p:nvSpPr>
        <p:spPr>
          <a:xfrm>
            <a:off x="548640" y="4297680"/>
            <a:ext cx="146304" cy="685800"/>
          </a:xfrm>
          <a:prstGeom prst="roundRect">
            <a:avLst/>
          </a:prstGeom>
          <a:solidFill>
            <a:srgbClr val="990011"/>
          </a:solidFill>
          <a:ln/>
        </p:spPr>
      </p:sp>
      <p:sp>
        <p:nvSpPr>
          <p:cNvPr id="10" name="Text 8"/>
          <p:cNvSpPr/>
          <p:nvPr/>
        </p:nvSpPr>
        <p:spPr>
          <a:xfrm>
            <a:off x="868680" y="4297680"/>
            <a:ext cx="3291840" cy="68580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Aspecto B — Curso Habitual del Negocio</a:t>
            </a:r>
            <a:endParaRPr lang="en-US" sz="1350" dirty="0"/>
          </a:p>
        </p:txBody>
      </p:sp>
      <p:sp>
        <p:nvSpPr>
          <p:cNvPr id="11" name="Text 9"/>
          <p:cNvSpPr/>
          <p:nvPr/>
        </p:nvSpPr>
        <p:spPr>
          <a:xfrm>
            <a:off x="4206240" y="4297680"/>
            <a:ext cx="7315200" cy="685800"/>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Muy probablemente falla — la programación, admisión, y verificación de seguros son centrales a cómo funciona una práctica de terapia día a día</a:t>
            </a:r>
            <a:endParaRPr lang="en-US" sz="1250" dirty="0"/>
          </a:p>
        </p:txBody>
      </p:sp>
      <p:sp>
        <p:nvSpPr>
          <p:cNvPr id="12" name="Shape 10"/>
          <p:cNvSpPr/>
          <p:nvPr/>
        </p:nvSpPr>
        <p:spPr>
          <a:xfrm>
            <a:off x="548640" y="5074920"/>
            <a:ext cx="146304" cy="685800"/>
          </a:xfrm>
          <a:prstGeom prst="roundRect">
            <a:avLst/>
          </a:prstGeom>
          <a:solidFill>
            <a:srgbClr val="990011"/>
          </a:solidFill>
          <a:ln/>
        </p:spPr>
      </p:sp>
      <p:sp>
        <p:nvSpPr>
          <p:cNvPr id="13" name="Text 11"/>
          <p:cNvSpPr/>
          <p:nvPr/>
        </p:nvSpPr>
        <p:spPr>
          <a:xfrm>
            <a:off x="868680" y="5074920"/>
            <a:ext cx="3291840" cy="68580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Aspecto C — Oficio Independiente</a:t>
            </a:r>
            <a:endParaRPr lang="en-US" sz="1350" dirty="0"/>
          </a:p>
        </p:txBody>
      </p:sp>
      <p:sp>
        <p:nvSpPr>
          <p:cNvPr id="14" name="Text 12"/>
          <p:cNvSpPr/>
          <p:nvPr/>
        </p:nvSpPr>
        <p:spPr>
          <a:xfrm>
            <a:off x="4206240" y="5074920"/>
            <a:ext cx="7315200" cy="685800"/>
          </a:xfrm>
          <a:prstGeom prst="rect">
            <a:avLst/>
          </a:prstGeom>
          <a:noFill/>
          <a:ln/>
        </p:spPr>
        <p:txBody>
          <a:bodyPr wrap="square" lIns="0" tIns="0" rIns="0" bIns="0" rtlCol="0" anchor="ctr"/>
          <a:lstStyle/>
          <a:p>
            <a:pPr indent="0" marL="0">
              <a:lnSpc>
                <a:spcPct val="115000"/>
              </a:lnSpc>
              <a:buNone/>
            </a:pPr>
            <a:r>
              <a:rPr lang="en-US" sz="1250" dirty="0">
                <a:solidFill>
                  <a:srgbClr val="6B7280"/>
                </a:solidFill>
                <a:latin typeface="Calibri" pitchFamily="34" charset="0"/>
                <a:ea typeface="Calibri" pitchFamily="34" charset="-122"/>
                <a:cs typeface="Calibri" pitchFamily="34" charset="-120"/>
              </a:rPr>
              <a:t>Probablemente falla — 15 hrs/semana para una práctica, sin indicación de otros clientes o un negocio registrado</a:t>
            </a:r>
            <a:endParaRPr lang="en-US" sz="1250" dirty="0"/>
          </a:p>
        </p:txBody>
      </p:sp>
      <p:sp>
        <p:nvSpPr>
          <p:cNvPr id="15" name="Shape 13"/>
          <p:cNvSpPr/>
          <p:nvPr/>
        </p:nvSpPr>
        <p:spPr>
          <a:xfrm>
            <a:off x="548640" y="5897880"/>
            <a:ext cx="11064240" cy="548640"/>
          </a:xfrm>
          <a:prstGeom prst="roundRect">
            <a:avLst>
              <a:gd name="adj" fmla="val 13333"/>
            </a:avLst>
          </a:prstGeom>
          <a:solidFill>
            <a:srgbClr val="081F33"/>
          </a:solidFill>
          <a:ln/>
        </p:spPr>
      </p:sp>
      <p:sp>
        <p:nvSpPr>
          <p:cNvPr id="16" name="Text 14"/>
          <p:cNvSpPr/>
          <p:nvPr/>
        </p:nvSpPr>
        <p:spPr>
          <a:xfrm>
            <a:off x="822960" y="5897880"/>
            <a:ext cx="10515600" cy="5486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Que la prueba federal esté “bien” no dice nada sobre la exposición en Rhode Island. Que fallen dos de tres aspectos ABC significa estatus de empleado por defecto bajo la ley estatal.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gavel_white.png">    </p:cNvPr>
          <p:cNvPicPr>
            <a:picLocks noChangeAspect="1"/>
          </p:cNvPicPr>
          <p:nvPr/>
        </p:nvPicPr>
        <p:blipFill>
          <a:blip r:embed="rId1"/>
          <a:stretch>
            <a:fillRect/>
          </a:stretch>
        </p:blipFill>
        <p:spPr>
          <a:xfrm>
            <a:off x="731520" y="667512"/>
            <a:ext cx="365760" cy="365760"/>
          </a:xfrm>
          <a:prstGeom prst="rect">
            <a:avLst/>
          </a:prstGeom>
        </p:spPr>
      </p:pic>
      <p:sp>
        <p:nvSpPr>
          <p:cNvPr id="4" name="Text 1"/>
          <p:cNvSpPr/>
          <p:nvPr/>
        </p:nvSpPr>
        <p:spPr>
          <a:xfrm>
            <a:off x="1417320" y="502920"/>
            <a:ext cx="9601200" cy="685800"/>
          </a:xfrm>
          <a:prstGeom prst="rect">
            <a:avLst/>
          </a:prstGeom>
          <a:noFill/>
          <a:ln/>
        </p:spPr>
        <p:txBody>
          <a:bodyPr wrap="square" lIns="0" tIns="0" rIns="0" bIns="0" rtlCol="0" anchor="ctr"/>
          <a:lstStyle/>
          <a:p>
            <a:pPr indent="0" marL="0">
              <a:buNone/>
            </a:pPr>
            <a:r>
              <a:rPr lang="en-US" sz="2500" b="1" dirty="0">
                <a:solidFill>
                  <a:srgbClr val="081F33"/>
                </a:solidFill>
                <a:latin typeface="Cambria" pitchFamily="34" charset="0"/>
                <a:ea typeface="Cambria" pitchFamily="34" charset="-122"/>
                <a:cs typeface="Cambria" pitchFamily="34" charset="-120"/>
              </a:rPr>
              <a:t>Qué Está en Juego en Massachusetts</a:t>
            </a:r>
            <a:endParaRPr lang="en-US" sz="2500" dirty="0"/>
          </a:p>
        </p:txBody>
      </p:sp>
      <p:sp>
        <p:nvSpPr>
          <p:cNvPr id="5" name="Shape 2"/>
          <p:cNvSpPr/>
          <p:nvPr/>
        </p:nvSpPr>
        <p:spPr>
          <a:xfrm>
            <a:off x="548640" y="1554480"/>
            <a:ext cx="11064240" cy="960120"/>
          </a:xfrm>
          <a:prstGeom prst="roundRect">
            <a:avLst>
              <a:gd name="adj" fmla="val 7619"/>
            </a:avLst>
          </a:prstGeom>
          <a:solidFill>
            <a:srgbClr val="F7F2EA"/>
          </a:solidFill>
          <a:ln/>
        </p:spPr>
      </p:sp>
      <p:sp>
        <p:nvSpPr>
          <p:cNvPr id="6" name="Text 3"/>
          <p:cNvSpPr/>
          <p:nvPr/>
        </p:nvSpPr>
        <p:spPr>
          <a:xfrm>
            <a:off x="822960" y="1554480"/>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Responsabilidad civil</a:t>
            </a:r>
            <a:endParaRPr lang="en-US" sz="1400" dirty="0"/>
          </a:p>
        </p:txBody>
      </p:sp>
      <p:sp>
        <p:nvSpPr>
          <p:cNvPr id="7" name="Text 4"/>
          <p:cNvSpPr/>
          <p:nvPr/>
        </p:nvSpPr>
        <p:spPr>
          <a:xfrm>
            <a:off x="4069080" y="1554480"/>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Los trabajadores mal clasificados pueden recuperar salarios no pagados, horas extra, y el valor de beneficios perdidos — potencialmente a triple (3x) daños</a:t>
            </a:r>
            <a:endParaRPr lang="en-US" sz="1250" dirty="0"/>
          </a:p>
        </p:txBody>
      </p:sp>
      <p:sp>
        <p:nvSpPr>
          <p:cNvPr id="8" name="Shape 5"/>
          <p:cNvSpPr/>
          <p:nvPr/>
        </p:nvSpPr>
        <p:spPr>
          <a:xfrm>
            <a:off x="548640" y="2633472"/>
            <a:ext cx="11064240" cy="960120"/>
          </a:xfrm>
          <a:prstGeom prst="roundRect">
            <a:avLst>
              <a:gd name="adj" fmla="val 7619"/>
            </a:avLst>
          </a:prstGeom>
          <a:solidFill>
            <a:srgbClr val="F7F2EA"/>
          </a:solidFill>
          <a:ln/>
        </p:spPr>
      </p:sp>
      <p:sp>
        <p:nvSpPr>
          <p:cNvPr id="9" name="Text 6"/>
          <p:cNvSpPr/>
          <p:nvPr/>
        </p:nvSpPr>
        <p:spPr>
          <a:xfrm>
            <a:off x="822960" y="2633472"/>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Exposición criminal</a:t>
            </a:r>
            <a:endParaRPr lang="en-US" sz="1400" dirty="0"/>
          </a:p>
        </p:txBody>
      </p:sp>
      <p:sp>
        <p:nvSpPr>
          <p:cNvPr id="10" name="Text 7"/>
          <p:cNvSpPr/>
          <p:nvPr/>
        </p:nvSpPr>
        <p:spPr>
          <a:xfrm>
            <a:off x="4069080" y="2633472"/>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La mala clasificación intencional es un delito: hasta $25,000 y un año de cárcel para una primera ofensa, hasta $50,000 y dos años para infracciones repetidas</a:t>
            </a:r>
            <a:endParaRPr lang="en-US" sz="1250" dirty="0"/>
          </a:p>
        </p:txBody>
      </p:sp>
      <p:sp>
        <p:nvSpPr>
          <p:cNvPr id="11" name="Shape 8"/>
          <p:cNvSpPr/>
          <p:nvPr/>
        </p:nvSpPr>
        <p:spPr>
          <a:xfrm>
            <a:off x="548640" y="3712464"/>
            <a:ext cx="11064240" cy="960120"/>
          </a:xfrm>
          <a:prstGeom prst="roundRect">
            <a:avLst>
              <a:gd name="adj" fmla="val 7619"/>
            </a:avLst>
          </a:prstGeom>
          <a:solidFill>
            <a:srgbClr val="F7F2EA"/>
          </a:solidFill>
          <a:ln/>
        </p:spPr>
      </p:sp>
      <p:sp>
        <p:nvSpPr>
          <p:cNvPr id="12" name="Text 9"/>
          <p:cNvSpPr/>
          <p:nvPr/>
        </p:nvSpPr>
        <p:spPr>
          <a:xfrm>
            <a:off x="822960" y="3712464"/>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Prohibición de contratos estatales</a:t>
            </a:r>
            <a:endParaRPr lang="en-US" sz="1400" dirty="0"/>
          </a:p>
        </p:txBody>
      </p:sp>
      <p:sp>
        <p:nvSpPr>
          <p:cNvPr id="13" name="Text 10"/>
          <p:cNvSpPr/>
          <p:nvPr/>
        </p:nvSpPr>
        <p:spPr>
          <a:xfrm>
            <a:off x="4069080" y="3712464"/>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Los empleadores encontrados en violación pueden ser prohibidos de contratar con el Estado de Massachusetts</a:t>
            </a:r>
            <a:endParaRPr lang="en-US" sz="1250" dirty="0"/>
          </a:p>
        </p:txBody>
      </p:sp>
      <p:sp>
        <p:nvSpPr>
          <p:cNvPr id="14" name="Shape 11"/>
          <p:cNvSpPr/>
          <p:nvPr/>
        </p:nvSpPr>
        <p:spPr>
          <a:xfrm>
            <a:off x="548640" y="4791456"/>
            <a:ext cx="11064240" cy="960120"/>
          </a:xfrm>
          <a:prstGeom prst="roundRect">
            <a:avLst>
              <a:gd name="adj" fmla="val 7619"/>
            </a:avLst>
          </a:prstGeom>
          <a:solidFill>
            <a:srgbClr val="F7F2EA"/>
          </a:solidFill>
          <a:ln/>
        </p:spPr>
      </p:sp>
      <p:sp>
        <p:nvSpPr>
          <p:cNvPr id="15" name="Text 12"/>
          <p:cNvSpPr/>
          <p:nvPr/>
        </p:nvSpPr>
        <p:spPr>
          <a:xfrm>
            <a:off x="822960" y="4791456"/>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Alcance multi-agencia</a:t>
            </a:r>
            <a:endParaRPr lang="en-US" sz="1400" dirty="0"/>
          </a:p>
        </p:txBody>
      </p:sp>
      <p:sp>
        <p:nvSpPr>
          <p:cNvPr id="16" name="Text 13"/>
          <p:cNvSpPr/>
          <p:nvPr/>
        </p:nvSpPr>
        <p:spPr>
          <a:xfrm>
            <a:off x="4069080" y="4791456"/>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La División de Trabajo Justo del Fiscal General, el Departamento de Asistencia de Desempleo, y el Departamento de Accidentes Industriales pueden perseguir esto cada uno de forma independiente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landmark_white.png">    </p:cNvPr>
          <p:cNvPicPr>
            <a:picLocks noChangeAspect="1"/>
          </p:cNvPicPr>
          <p:nvPr/>
        </p:nvPicPr>
        <p:blipFill>
          <a:blip r:embed="rId1"/>
          <a:stretch>
            <a:fillRect/>
          </a:stretch>
        </p:blipFill>
        <p:spPr>
          <a:xfrm>
            <a:off x="749808" y="667512"/>
            <a:ext cx="329184" cy="365760"/>
          </a:xfrm>
          <a:prstGeom prst="rect">
            <a:avLst/>
          </a:prstGeom>
        </p:spPr>
      </p:pic>
      <p:sp>
        <p:nvSpPr>
          <p:cNvPr id="4" name="Text 1"/>
          <p:cNvSpPr/>
          <p:nvPr/>
        </p:nvSpPr>
        <p:spPr>
          <a:xfrm>
            <a:off x="1417320" y="502920"/>
            <a:ext cx="9601200" cy="685800"/>
          </a:xfrm>
          <a:prstGeom prst="rect">
            <a:avLst/>
          </a:prstGeom>
          <a:noFill/>
          <a:ln/>
        </p:spPr>
        <p:txBody>
          <a:bodyPr wrap="square" lIns="0" tIns="0" rIns="0" bIns="0" rtlCol="0" anchor="ctr"/>
          <a:lstStyle/>
          <a:p>
            <a:pPr indent="0" marL="0">
              <a:buNone/>
            </a:pPr>
            <a:r>
              <a:rPr lang="en-US" sz="2500" b="1" dirty="0">
                <a:solidFill>
                  <a:srgbClr val="081F33"/>
                </a:solidFill>
                <a:latin typeface="Cambria" pitchFamily="34" charset="0"/>
                <a:ea typeface="Cambria" pitchFamily="34" charset="-122"/>
                <a:cs typeface="Cambria" pitchFamily="34" charset="-120"/>
              </a:rPr>
              <a:t>Qué Está en Juego en Rhode Island</a:t>
            </a:r>
            <a:endParaRPr lang="en-US" sz="2500" dirty="0"/>
          </a:p>
        </p:txBody>
      </p:sp>
      <p:sp>
        <p:nvSpPr>
          <p:cNvPr id="5" name="Shape 2"/>
          <p:cNvSpPr/>
          <p:nvPr/>
        </p:nvSpPr>
        <p:spPr>
          <a:xfrm>
            <a:off x="548640" y="1554480"/>
            <a:ext cx="11064240" cy="960120"/>
          </a:xfrm>
          <a:prstGeom prst="roundRect">
            <a:avLst>
              <a:gd name="adj" fmla="val 7619"/>
            </a:avLst>
          </a:prstGeom>
          <a:solidFill>
            <a:srgbClr val="F7F2EA"/>
          </a:solidFill>
          <a:ln/>
        </p:spPr>
      </p:sp>
      <p:sp>
        <p:nvSpPr>
          <p:cNvPr id="6" name="Text 3"/>
          <p:cNvSpPr/>
          <p:nvPr/>
        </p:nvSpPr>
        <p:spPr>
          <a:xfrm>
            <a:off x="822960" y="1554480"/>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Toda la carga sobre el empleador</a:t>
            </a:r>
            <a:endParaRPr lang="en-US" sz="1400" dirty="0"/>
          </a:p>
        </p:txBody>
      </p:sp>
      <p:sp>
        <p:nvSpPr>
          <p:cNvPr id="7" name="Text 4"/>
          <p:cNvSpPr/>
          <p:nvPr/>
        </p:nvSpPr>
        <p:spPr>
          <a:xfrm>
            <a:off x="4069080" y="1554480"/>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Se presume que el trabajador es empleado desde el inicio; la práctica debe demostrar afirmativamente los tres aspectos ABC</a:t>
            </a:r>
            <a:endParaRPr lang="en-US" sz="1250" dirty="0"/>
          </a:p>
        </p:txBody>
      </p:sp>
      <p:sp>
        <p:nvSpPr>
          <p:cNvPr id="8" name="Shape 5"/>
          <p:cNvSpPr/>
          <p:nvPr/>
        </p:nvSpPr>
        <p:spPr>
          <a:xfrm>
            <a:off x="548640" y="2633472"/>
            <a:ext cx="11064240" cy="960120"/>
          </a:xfrm>
          <a:prstGeom prst="roundRect">
            <a:avLst>
              <a:gd name="adj" fmla="val 7619"/>
            </a:avLst>
          </a:prstGeom>
          <a:solidFill>
            <a:srgbClr val="F7F2EA"/>
          </a:solidFill>
          <a:ln/>
        </p:spPr>
      </p:sp>
      <p:sp>
        <p:nvSpPr>
          <p:cNvPr id="9" name="Text 6"/>
          <p:cNvSpPr/>
          <p:nvPr/>
        </p:nvSpPr>
        <p:spPr>
          <a:xfrm>
            <a:off x="822960" y="2633472"/>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Multas civiles</a:t>
            </a:r>
            <a:endParaRPr lang="en-US" sz="1400" dirty="0"/>
          </a:p>
        </p:txBody>
      </p:sp>
      <p:sp>
        <p:nvSpPr>
          <p:cNvPr id="10" name="Text 7"/>
          <p:cNvSpPr/>
          <p:nvPr/>
        </p:nvSpPr>
        <p:spPr>
          <a:xfrm>
            <a:off x="4069080" y="2633472"/>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El Departamento de Trabajo y Capacitación de RI puede imponer multas civiles una vez que se investigue una queja de mala clasificación</a:t>
            </a:r>
            <a:endParaRPr lang="en-US" sz="1250" dirty="0"/>
          </a:p>
        </p:txBody>
      </p:sp>
      <p:sp>
        <p:nvSpPr>
          <p:cNvPr id="11" name="Shape 8"/>
          <p:cNvSpPr/>
          <p:nvPr/>
        </p:nvSpPr>
        <p:spPr>
          <a:xfrm>
            <a:off x="548640" y="3712464"/>
            <a:ext cx="11064240" cy="960120"/>
          </a:xfrm>
          <a:prstGeom prst="roundRect">
            <a:avLst>
              <a:gd name="adj" fmla="val 7619"/>
            </a:avLst>
          </a:prstGeom>
          <a:solidFill>
            <a:srgbClr val="F7F2EA"/>
          </a:solidFill>
          <a:ln/>
        </p:spPr>
      </p:sp>
      <p:sp>
        <p:nvSpPr>
          <p:cNvPr id="12" name="Text 9"/>
          <p:cNvSpPr/>
          <p:nvPr/>
        </p:nvSpPr>
        <p:spPr>
          <a:xfrm>
            <a:off x="822960" y="3712464"/>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Referencia criminal</a:t>
            </a:r>
            <a:endParaRPr lang="en-US" sz="1400" dirty="0"/>
          </a:p>
        </p:txBody>
      </p:sp>
      <p:sp>
        <p:nvSpPr>
          <p:cNvPr id="13" name="Text 10"/>
          <p:cNvSpPr/>
          <p:nvPr/>
        </p:nvSpPr>
        <p:spPr>
          <a:xfrm>
            <a:off x="4069080" y="3712464"/>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La Oficina del Fiscal General puede presentar cargos criminales cuando se establece la mala clasificación</a:t>
            </a:r>
            <a:endParaRPr lang="en-US" sz="1250" dirty="0"/>
          </a:p>
        </p:txBody>
      </p:sp>
      <p:sp>
        <p:nvSpPr>
          <p:cNvPr id="14" name="Shape 11"/>
          <p:cNvSpPr/>
          <p:nvPr/>
        </p:nvSpPr>
        <p:spPr>
          <a:xfrm>
            <a:off x="548640" y="4791456"/>
            <a:ext cx="11064240" cy="960120"/>
          </a:xfrm>
          <a:prstGeom prst="roundRect">
            <a:avLst>
              <a:gd name="adj" fmla="val 7619"/>
            </a:avLst>
          </a:prstGeom>
          <a:solidFill>
            <a:srgbClr val="F7F2EA"/>
          </a:solidFill>
          <a:ln/>
        </p:spPr>
      </p:sp>
      <p:sp>
        <p:nvSpPr>
          <p:cNvPr id="15" name="Text 12"/>
          <p:cNvSpPr/>
          <p:nvPr/>
        </p:nvSpPr>
        <p:spPr>
          <a:xfrm>
            <a:off x="822960" y="4791456"/>
            <a:ext cx="3108960" cy="960120"/>
          </a:xfrm>
          <a:prstGeom prst="rect">
            <a:avLst/>
          </a:prstGeom>
          <a:noFill/>
          <a:ln/>
        </p:spPr>
        <p:txBody>
          <a:bodyPr wrap="square" lIns="0" tIns="0" rIns="0" bIns="0" rtlCol="0" anchor="ctr"/>
          <a:lstStyle/>
          <a:p>
            <a:pPr indent="0" marL="0">
              <a:buNone/>
            </a:pPr>
            <a:r>
              <a:rPr lang="en-US" sz="1400" b="1" dirty="0">
                <a:solidFill>
                  <a:srgbClr val="081F33"/>
                </a:solidFill>
                <a:latin typeface="Calibri" pitchFamily="34" charset="0"/>
                <a:ea typeface="Calibri" pitchFamily="34" charset="-122"/>
                <a:cs typeface="Calibri" pitchFamily="34" charset="-120"/>
              </a:rPr>
              <a:t>Agencias estatales independientes</a:t>
            </a:r>
            <a:endParaRPr lang="en-US" sz="1400" dirty="0"/>
          </a:p>
        </p:txBody>
      </p:sp>
      <p:sp>
        <p:nvSpPr>
          <p:cNvPr id="16" name="Text 13"/>
          <p:cNvSpPr/>
          <p:nvPr/>
        </p:nvSpPr>
        <p:spPr>
          <a:xfrm>
            <a:off x="4069080" y="4791456"/>
            <a:ext cx="7360920" cy="960120"/>
          </a:xfrm>
          <a:prstGeom prst="rect">
            <a:avLst/>
          </a:prstGeom>
          <a:noFill/>
          <a:ln/>
        </p:spPr>
        <p:txBody>
          <a:bodyPr wrap="square" lIns="0" tIns="0" rIns="0" bIns="0" rtlCol="0" anchor="ctr"/>
          <a:lstStyle/>
          <a:p>
            <a:pPr indent="0" marL="0">
              <a:lnSpc>
                <a:spcPct val="120000"/>
              </a:lnSpc>
              <a:buNone/>
            </a:pPr>
            <a:r>
              <a:rPr lang="en-US" sz="1250" dirty="0">
                <a:solidFill>
                  <a:srgbClr val="081F33"/>
                </a:solidFill>
                <a:latin typeface="Calibri" pitchFamily="34" charset="0"/>
                <a:ea typeface="Calibri" pitchFamily="34" charset="-122"/>
                <a:cs typeface="Calibri" pitchFamily="34" charset="-120"/>
              </a:rPr>
              <a:t>La exposición de seguro de desempleo y compensación laboral se evalúa por separado de cualquier resolución federal</a:t>
            </a:r>
            <a:endParaRPr lang="en-US" sz="1250" dirty="0"/>
          </a:p>
        </p:txBody>
      </p:sp>
      <p:sp>
        <p:nvSpPr>
          <p:cNvPr id="17" name="Text 14"/>
          <p:cNvSpPr/>
          <p:nvPr/>
        </p:nvSpPr>
        <p:spPr>
          <a:xfrm>
            <a:off x="548640" y="6172200"/>
            <a:ext cx="10972800" cy="36576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Fuentes: Depto. de Trabajo y Capacitación de RI; División de Trabajo Justo del Fiscal General de Mass.gov. Solo educación general — confirma detalles con un abogado.</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F33"/>
        </a:solidFill>
      </p:bgPr>
    </p:bg>
    <p:spTree>
      <p:nvGrpSpPr>
        <p:cNvPr id="1" name=""/>
        <p:cNvGrpSpPr/>
        <p:nvPr/>
      </p:nvGrpSpPr>
      <p:grpSpPr>
        <a:xfrm>
          <a:off x="0" y="0"/>
          <a:ext cx="0" cy="0"/>
          <a:chOff x="0" y="0"/>
          <a:chExt cx="0" cy="0"/>
        </a:xfrm>
      </p:grpSpPr>
      <p:sp>
        <p:nvSpPr>
          <p:cNvPr id="2" name="Text 0"/>
          <p:cNvSpPr/>
          <p:nvPr/>
        </p:nvSpPr>
        <p:spPr>
          <a:xfrm>
            <a:off x="548640" y="457200"/>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Sí — y Pasa Constantemente</a:t>
            </a:r>
            <a:endParaRPr lang="en-US" sz="3000" dirty="0"/>
          </a:p>
        </p:txBody>
      </p:sp>
      <p:sp>
        <p:nvSpPr>
          <p:cNvPr id="3" name="Text 1"/>
          <p:cNvSpPr/>
          <p:nvPr/>
        </p:nvSpPr>
        <p:spPr>
          <a:xfrm>
            <a:off x="548640" y="1234440"/>
            <a:ext cx="10698480" cy="548640"/>
          </a:xfrm>
          <a:prstGeom prst="rect">
            <a:avLst/>
          </a:prstGeom>
          <a:noFill/>
          <a:ln/>
        </p:spPr>
        <p:txBody>
          <a:bodyPr wrap="square" lIns="0" tIns="0" rIns="0" bIns="0" rtlCol="0" anchor="ctr"/>
          <a:lstStyle/>
          <a:p>
            <a:pPr indent="0" marL="0">
              <a:lnSpc>
                <a:spcPct val="130000"/>
              </a:lnSpc>
              <a:buNone/>
            </a:pPr>
            <a:r>
              <a:rPr lang="en-US" sz="1450" dirty="0">
                <a:solidFill>
                  <a:srgbClr val="C7D2D6"/>
                </a:solidFill>
                <a:latin typeface="Calibri" pitchFamily="34" charset="0"/>
                <a:ea typeface="Calibri" pitchFamily="34" charset="-122"/>
                <a:cs typeface="Calibri" pitchFamily="34" charset="-120"/>
              </a:rPr>
              <a:t>Un trabajador puede ser un contratista 1099 federal legítimo y aun así ser un empleado bajo la ley estatal en RI o MA — al mismo tiempo, para el mismo puesto.</a:t>
            </a:r>
            <a:endParaRPr lang="en-US" sz="1450" dirty="0"/>
          </a:p>
        </p:txBody>
      </p:sp>
      <p:sp>
        <p:nvSpPr>
          <p:cNvPr id="4" name="Shape 2"/>
          <p:cNvSpPr/>
          <p:nvPr/>
        </p:nvSpPr>
        <p:spPr>
          <a:xfrm>
            <a:off x="548640" y="2103120"/>
            <a:ext cx="5349240" cy="1783080"/>
          </a:xfrm>
          <a:prstGeom prst="roundRect">
            <a:avLst>
              <a:gd name="adj" fmla="val 5128"/>
            </a:avLst>
          </a:prstGeom>
          <a:solidFill>
            <a:srgbClr val="0E3A5F"/>
          </a:solidFill>
          <a:ln/>
        </p:spPr>
      </p:sp>
      <p:sp>
        <p:nvSpPr>
          <p:cNvPr id="5" name="Shape 3"/>
          <p:cNvSpPr/>
          <p:nvPr/>
        </p:nvSpPr>
        <p:spPr>
          <a:xfrm>
            <a:off x="777240" y="2286000"/>
            <a:ext cx="128016" cy="1417320"/>
          </a:xfrm>
          <a:prstGeom prst="roundRect">
            <a:avLst/>
          </a:prstGeom>
          <a:solidFill>
            <a:srgbClr val="2C5F2D"/>
          </a:solidFill>
          <a:ln/>
        </p:spPr>
      </p:sp>
      <p:sp>
        <p:nvSpPr>
          <p:cNvPr id="6" name="Text 4"/>
          <p:cNvSpPr/>
          <p:nvPr/>
        </p:nvSpPr>
        <p:spPr>
          <a:xfrm>
            <a:off x="1051560" y="2267712"/>
            <a:ext cx="2194560" cy="82296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Pasa Federal</a:t>
            </a:r>
            <a:endParaRPr lang="en-US" sz="1250" dirty="0"/>
          </a:p>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Pasa Estatal</a:t>
            </a:r>
            <a:endParaRPr lang="en-US" sz="1250" dirty="0"/>
          </a:p>
        </p:txBody>
      </p:sp>
      <p:sp>
        <p:nvSpPr>
          <p:cNvPr id="7" name="Text 5"/>
          <p:cNvSpPr/>
          <p:nvPr/>
        </p:nvSpPr>
        <p:spPr>
          <a:xfrm>
            <a:off x="1051560" y="3017520"/>
            <a:ext cx="4663440" cy="777240"/>
          </a:xfrm>
          <a:prstGeom prst="rect">
            <a:avLst/>
          </a:prstGeom>
          <a:noFill/>
          <a:ln/>
        </p:spPr>
        <p:txBody>
          <a:bodyPr wrap="square" lIns="0" tIns="0" rIns="0" bIns="0" rtlCol="0" anchor="ctr"/>
          <a:lstStyle/>
          <a:p>
            <a:pPr indent="0" marL="0">
              <a:lnSpc>
                <a:spcPct val="120000"/>
              </a:lnSpc>
              <a:buNone/>
            </a:pPr>
            <a:r>
              <a:rPr lang="en-US" sz="1100" dirty="0">
                <a:solidFill>
                  <a:srgbClr val="C7D2D6"/>
                </a:solidFill>
                <a:latin typeface="Calibri" pitchFamily="34" charset="0"/>
                <a:ea typeface="Calibri" pitchFamily="34" charset="-122"/>
                <a:cs typeface="Calibri" pitchFamily="34" charset="-120"/>
              </a:rPr>
              <a:t>Posición más limpia — genuinamente independiente bajo ambos estándares</a:t>
            </a:r>
            <a:endParaRPr lang="en-US" sz="1100" dirty="0"/>
          </a:p>
        </p:txBody>
      </p:sp>
      <p:sp>
        <p:nvSpPr>
          <p:cNvPr id="8" name="Shape 6"/>
          <p:cNvSpPr/>
          <p:nvPr/>
        </p:nvSpPr>
        <p:spPr>
          <a:xfrm>
            <a:off x="6126480" y="2103120"/>
            <a:ext cx="5349240" cy="1783080"/>
          </a:xfrm>
          <a:prstGeom prst="roundRect">
            <a:avLst>
              <a:gd name="adj" fmla="val 5128"/>
            </a:avLst>
          </a:prstGeom>
          <a:solidFill>
            <a:srgbClr val="0E3A5F"/>
          </a:solidFill>
          <a:ln/>
        </p:spPr>
      </p:sp>
      <p:sp>
        <p:nvSpPr>
          <p:cNvPr id="9" name="Shape 7"/>
          <p:cNvSpPr/>
          <p:nvPr/>
        </p:nvSpPr>
        <p:spPr>
          <a:xfrm>
            <a:off x="6355080" y="2286000"/>
            <a:ext cx="128016" cy="1417320"/>
          </a:xfrm>
          <a:prstGeom prst="roundRect">
            <a:avLst/>
          </a:prstGeom>
          <a:solidFill>
            <a:srgbClr val="C9A97E"/>
          </a:solidFill>
          <a:ln/>
        </p:spPr>
      </p:sp>
      <p:sp>
        <p:nvSpPr>
          <p:cNvPr id="10" name="Text 8"/>
          <p:cNvSpPr/>
          <p:nvPr/>
        </p:nvSpPr>
        <p:spPr>
          <a:xfrm>
            <a:off x="6629400" y="2267712"/>
            <a:ext cx="2194560" cy="82296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Pasa Federal</a:t>
            </a:r>
            <a:endParaRPr lang="en-US" sz="1250" dirty="0"/>
          </a:p>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Falla Estatal</a:t>
            </a:r>
            <a:endParaRPr lang="en-US" sz="1250" dirty="0"/>
          </a:p>
        </p:txBody>
      </p:sp>
      <p:sp>
        <p:nvSpPr>
          <p:cNvPr id="11" name="Text 9"/>
          <p:cNvSpPr/>
          <p:nvPr/>
        </p:nvSpPr>
        <p:spPr>
          <a:xfrm>
            <a:off x="6629400" y="3017520"/>
            <a:ext cx="4663440" cy="777240"/>
          </a:xfrm>
          <a:prstGeom prst="rect">
            <a:avLst/>
          </a:prstGeom>
          <a:noFill/>
          <a:ln/>
        </p:spPr>
        <p:txBody>
          <a:bodyPr wrap="square" lIns="0" tIns="0" rIns="0" bIns="0" rtlCol="0" anchor="ctr"/>
          <a:lstStyle/>
          <a:p>
            <a:pPr indent="0" marL="0">
              <a:lnSpc>
                <a:spcPct val="120000"/>
              </a:lnSpc>
              <a:buNone/>
            </a:pPr>
            <a:r>
              <a:rPr lang="en-US" sz="1100" dirty="0">
                <a:solidFill>
                  <a:srgbClr val="C7D2D6"/>
                </a:solidFill>
                <a:latin typeface="Calibri" pitchFamily="34" charset="0"/>
                <a:ea typeface="Calibri" pitchFamily="34" charset="-122"/>
                <a:cs typeface="Calibri" pitchFamily="34" charset="-120"/>
              </a:rPr>
              <a:t>La trampa: bien federalmente, pero un empleado bajo ley estatal para efectos salariales, de desempleo, y compensación laboral</a:t>
            </a:r>
            <a:endParaRPr lang="en-US" sz="1100" dirty="0"/>
          </a:p>
        </p:txBody>
      </p:sp>
      <p:sp>
        <p:nvSpPr>
          <p:cNvPr id="12" name="Shape 10"/>
          <p:cNvSpPr/>
          <p:nvPr/>
        </p:nvSpPr>
        <p:spPr>
          <a:xfrm>
            <a:off x="548640" y="4069080"/>
            <a:ext cx="5349240" cy="1783080"/>
          </a:xfrm>
          <a:prstGeom prst="roundRect">
            <a:avLst>
              <a:gd name="adj" fmla="val 5128"/>
            </a:avLst>
          </a:prstGeom>
          <a:solidFill>
            <a:srgbClr val="0E3A5F"/>
          </a:solidFill>
          <a:ln/>
        </p:spPr>
      </p:sp>
      <p:sp>
        <p:nvSpPr>
          <p:cNvPr id="13" name="Shape 11"/>
          <p:cNvSpPr/>
          <p:nvPr/>
        </p:nvSpPr>
        <p:spPr>
          <a:xfrm>
            <a:off x="777240" y="4251960"/>
            <a:ext cx="128016" cy="1417320"/>
          </a:xfrm>
          <a:prstGeom prst="roundRect">
            <a:avLst/>
          </a:prstGeom>
          <a:solidFill>
            <a:srgbClr val="6B7280"/>
          </a:solidFill>
          <a:ln/>
        </p:spPr>
      </p:sp>
      <p:sp>
        <p:nvSpPr>
          <p:cNvPr id="14" name="Text 12"/>
          <p:cNvSpPr/>
          <p:nvPr/>
        </p:nvSpPr>
        <p:spPr>
          <a:xfrm>
            <a:off x="1051560" y="4233672"/>
            <a:ext cx="2194560" cy="82296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Falla Federal</a:t>
            </a:r>
            <a:endParaRPr lang="en-US" sz="1250" dirty="0"/>
          </a:p>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Pasa Estatal</a:t>
            </a:r>
            <a:endParaRPr lang="en-US" sz="1250" dirty="0"/>
          </a:p>
        </p:txBody>
      </p:sp>
      <p:sp>
        <p:nvSpPr>
          <p:cNvPr id="15" name="Text 13"/>
          <p:cNvSpPr/>
          <p:nvPr/>
        </p:nvSpPr>
        <p:spPr>
          <a:xfrm>
            <a:off x="1051560" y="4983480"/>
            <a:ext cx="4663440" cy="777240"/>
          </a:xfrm>
          <a:prstGeom prst="rect">
            <a:avLst/>
          </a:prstGeom>
          <a:noFill/>
          <a:ln/>
        </p:spPr>
        <p:txBody>
          <a:bodyPr wrap="square" lIns="0" tIns="0" rIns="0" bIns="0" rtlCol="0" anchor="ctr"/>
          <a:lstStyle/>
          <a:p>
            <a:pPr indent="0" marL="0">
              <a:lnSpc>
                <a:spcPct val="120000"/>
              </a:lnSpc>
              <a:buNone/>
            </a:pPr>
            <a:r>
              <a:rPr lang="en-US" sz="1100" dirty="0">
                <a:solidFill>
                  <a:srgbClr val="C7D2D6"/>
                </a:solidFill>
                <a:latin typeface="Calibri" pitchFamily="34" charset="0"/>
                <a:ea typeface="Calibri" pitchFamily="34" charset="-122"/>
                <a:cs typeface="Calibri" pitchFamily="34" charset="-120"/>
              </a:rPr>
              <a:t>Raro en la práctica — las pruebas estatales generalmente son más estrictas que la federal</a:t>
            </a:r>
            <a:endParaRPr lang="en-US" sz="1100" dirty="0"/>
          </a:p>
        </p:txBody>
      </p:sp>
      <p:sp>
        <p:nvSpPr>
          <p:cNvPr id="16" name="Shape 14"/>
          <p:cNvSpPr/>
          <p:nvPr/>
        </p:nvSpPr>
        <p:spPr>
          <a:xfrm>
            <a:off x="6126480" y="4069080"/>
            <a:ext cx="5349240" cy="1783080"/>
          </a:xfrm>
          <a:prstGeom prst="roundRect">
            <a:avLst>
              <a:gd name="adj" fmla="val 5128"/>
            </a:avLst>
          </a:prstGeom>
          <a:solidFill>
            <a:srgbClr val="0E3A5F"/>
          </a:solidFill>
          <a:ln/>
        </p:spPr>
      </p:sp>
      <p:sp>
        <p:nvSpPr>
          <p:cNvPr id="17" name="Shape 15"/>
          <p:cNvSpPr/>
          <p:nvPr/>
        </p:nvSpPr>
        <p:spPr>
          <a:xfrm>
            <a:off x="6355080" y="4251960"/>
            <a:ext cx="128016" cy="1417320"/>
          </a:xfrm>
          <a:prstGeom prst="roundRect">
            <a:avLst/>
          </a:prstGeom>
          <a:solidFill>
            <a:srgbClr val="990011"/>
          </a:solidFill>
          <a:ln/>
        </p:spPr>
      </p:sp>
      <p:sp>
        <p:nvSpPr>
          <p:cNvPr id="18" name="Text 16"/>
          <p:cNvSpPr/>
          <p:nvPr/>
        </p:nvSpPr>
        <p:spPr>
          <a:xfrm>
            <a:off x="6629400" y="4233672"/>
            <a:ext cx="2194560" cy="822960"/>
          </a:xfrm>
          <a:prstGeom prst="rect">
            <a:avLst/>
          </a:prstGeom>
          <a:noFill/>
          <a:ln/>
        </p:spPr>
        <p:txBody>
          <a:bodyPr wrap="square" lIns="0" tIns="0" rIns="0" bIns="0" rtlCol="0" anchor="ctr"/>
          <a:lstStyle/>
          <a:p>
            <a:pPr indent="0" marL="0">
              <a:lnSpc>
                <a:spcPct val="115000"/>
              </a:lnSpc>
              <a:buNone/>
            </a:pPr>
            <a:r>
              <a:rPr lang="en-US" sz="1250" b="1" dirty="0">
                <a:solidFill>
                  <a:srgbClr val="FFFFFF"/>
                </a:solidFill>
                <a:latin typeface="Calibri" pitchFamily="34" charset="0"/>
                <a:ea typeface="Calibri" pitchFamily="34" charset="-122"/>
                <a:cs typeface="Calibri" pitchFamily="34" charset="-120"/>
              </a:rPr>
              <a:t>Falla Ambas</a:t>
            </a:r>
            <a:endParaRPr lang="en-US" sz="1250" dirty="0"/>
          </a:p>
        </p:txBody>
      </p:sp>
      <p:sp>
        <p:nvSpPr>
          <p:cNvPr id="19" name="Text 17"/>
          <p:cNvSpPr/>
          <p:nvPr/>
        </p:nvSpPr>
        <p:spPr>
          <a:xfrm>
            <a:off x="6629400" y="4983480"/>
            <a:ext cx="4663440" cy="777240"/>
          </a:xfrm>
          <a:prstGeom prst="rect">
            <a:avLst/>
          </a:prstGeom>
          <a:noFill/>
          <a:ln/>
        </p:spPr>
        <p:txBody>
          <a:bodyPr wrap="square" lIns="0" tIns="0" rIns="0" bIns="0" rtlCol="0" anchor="ctr"/>
          <a:lstStyle/>
          <a:p>
            <a:pPr indent="0" marL="0">
              <a:lnSpc>
                <a:spcPct val="120000"/>
              </a:lnSpc>
              <a:buNone/>
            </a:pPr>
            <a:r>
              <a:rPr lang="en-US" sz="1100" dirty="0">
                <a:solidFill>
                  <a:srgbClr val="C7D2D6"/>
                </a:solidFill>
                <a:latin typeface="Calibri" pitchFamily="34" charset="0"/>
                <a:ea typeface="Calibri" pitchFamily="34" charset="-122"/>
                <a:cs typeface="Calibri" pitchFamily="34" charset="-120"/>
              </a:rPr>
              <a:t>La mayor exposición ante todas las agencias a la vez</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mapmarker_white.png">    </p:cNvPr>
          <p:cNvPicPr>
            <a:picLocks noChangeAspect="1"/>
          </p:cNvPicPr>
          <p:nvPr/>
        </p:nvPicPr>
        <p:blipFill>
          <a:blip r:embed="rId1"/>
          <a:stretch>
            <a:fillRect/>
          </a:stretch>
        </p:blipFill>
        <p:spPr>
          <a:xfrm>
            <a:off x="795528" y="667512"/>
            <a:ext cx="274320" cy="365760"/>
          </a:xfrm>
          <a:prstGeom prst="rect">
            <a:avLst/>
          </a:prstGeom>
        </p:spPr>
      </p:pic>
      <p:sp>
        <p:nvSpPr>
          <p:cNvPr id="4" name="Text 1"/>
          <p:cNvSpPr/>
          <p:nvPr/>
        </p:nvSpPr>
        <p:spPr>
          <a:xfrm>
            <a:off x="1417320" y="502920"/>
            <a:ext cx="10058400" cy="685800"/>
          </a:xfrm>
          <a:prstGeom prst="rect">
            <a:avLst/>
          </a:prstGeom>
          <a:noFill/>
          <a:ln/>
        </p:spPr>
        <p:txBody>
          <a:bodyPr wrap="square" lIns="0" tIns="0" rIns="0" bIns="0" rtlCol="0" anchor="ctr"/>
          <a:lstStyle/>
          <a:p>
            <a:pPr indent="0" marL="0">
              <a:buNone/>
            </a:pPr>
            <a:r>
              <a:rPr lang="en-US" sz="2400" b="1" dirty="0">
                <a:solidFill>
                  <a:srgbClr val="081F33"/>
                </a:solidFill>
                <a:latin typeface="Cambria" pitchFamily="34" charset="0"/>
                <a:ea typeface="Cambria" pitchFamily="34" charset="-122"/>
                <a:cs typeface="Cambria" pitchFamily="34" charset="-120"/>
              </a:rPr>
              <a:t>¿Esto Sigue Aplicando Si Tu Asistente Virtual Es Remoto?</a:t>
            </a:r>
            <a:endParaRPr lang="en-US" sz="2400" dirty="0"/>
          </a:p>
        </p:txBody>
      </p:sp>
      <p:sp>
        <p:nvSpPr>
          <p:cNvPr id="5" name="Text 2"/>
          <p:cNvSpPr/>
          <p:nvPr/>
        </p:nvSpPr>
        <p:spPr>
          <a:xfrm>
            <a:off x="548640" y="1325880"/>
            <a:ext cx="10698480" cy="548640"/>
          </a:xfrm>
          <a:prstGeom prst="rect">
            <a:avLst/>
          </a:prstGeom>
          <a:noFill/>
          <a:ln/>
        </p:spPr>
        <p:txBody>
          <a:bodyPr wrap="square" lIns="0" tIns="0" rIns="0" bIns="0" rtlCol="0" anchor="ctr"/>
          <a:lstStyle/>
          <a:p>
            <a:pPr indent="0" marL="0">
              <a:lnSpc>
                <a:spcPct val="125000"/>
              </a:lnSpc>
              <a:buNone/>
            </a:pPr>
            <a:r>
              <a:rPr lang="en-US" sz="1400" i="1" dirty="0">
                <a:solidFill>
                  <a:srgbClr val="6B7280"/>
                </a:solidFill>
                <a:latin typeface="Calibri" pitchFamily="34" charset="0"/>
                <a:ea typeface="Calibri" pitchFamily="34" charset="-122"/>
                <a:cs typeface="Calibri" pitchFamily="34" charset="-120"/>
              </a:rPr>
              <a:t>Muchos asistentes virtuales que apoyan prácticas de RI/MA trabajan desde otro lugar completamente — otro estado, u otro país. Eso no elimina automáticamente la exposición estatal.</a:t>
            </a:r>
            <a:endParaRPr lang="en-US" sz="1400" dirty="0"/>
          </a:p>
        </p:txBody>
      </p:sp>
      <p:sp>
        <p:nvSpPr>
          <p:cNvPr id="6" name="Shape 3"/>
          <p:cNvSpPr/>
          <p:nvPr/>
        </p:nvSpPr>
        <p:spPr>
          <a:xfrm>
            <a:off x="548640" y="2103120"/>
            <a:ext cx="11064240" cy="960120"/>
          </a:xfrm>
          <a:prstGeom prst="roundRect">
            <a:avLst>
              <a:gd name="adj" fmla="val 7619"/>
            </a:avLst>
          </a:prstGeom>
          <a:solidFill>
            <a:srgbClr val="F7F2EA"/>
          </a:solidFill>
          <a:ln/>
        </p:spPr>
      </p:sp>
      <p:sp>
        <p:nvSpPr>
          <p:cNvPr id="7" name="Text 4"/>
          <p:cNvSpPr/>
          <p:nvPr/>
        </p:nvSpPr>
        <p:spPr>
          <a:xfrm>
            <a:off x="822960" y="2103120"/>
            <a:ext cx="3200400" cy="96012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Dónde opera el negocio</a:t>
            </a:r>
            <a:endParaRPr lang="en-US" sz="1350" dirty="0"/>
          </a:p>
        </p:txBody>
      </p:sp>
      <p:sp>
        <p:nvSpPr>
          <p:cNvPr id="8" name="Text 5"/>
          <p:cNvSpPr/>
          <p:nvPr/>
        </p:nvSpPr>
        <p:spPr>
          <a:xfrm>
            <a:off x="4160520" y="2103120"/>
            <a:ext cx="7269480" cy="960120"/>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Una práctica con sede en RI o MA generalmente sigue sujeta a las leyes salariales, de desempleo, y de compensación laboral de ese estado para el trabajo que dirige y controla — sin importar dónde esté el trabajador</a:t>
            </a:r>
            <a:endParaRPr lang="en-US" sz="1200" dirty="0"/>
          </a:p>
        </p:txBody>
      </p:sp>
      <p:sp>
        <p:nvSpPr>
          <p:cNvPr id="9" name="Shape 6"/>
          <p:cNvSpPr/>
          <p:nvPr/>
        </p:nvSpPr>
        <p:spPr>
          <a:xfrm>
            <a:off x="548640" y="3182112"/>
            <a:ext cx="11064240" cy="960120"/>
          </a:xfrm>
          <a:prstGeom prst="roundRect">
            <a:avLst>
              <a:gd name="adj" fmla="val 7619"/>
            </a:avLst>
          </a:prstGeom>
          <a:solidFill>
            <a:srgbClr val="F7F2EA"/>
          </a:solidFill>
          <a:ln/>
        </p:spPr>
      </p:sp>
      <p:sp>
        <p:nvSpPr>
          <p:cNvPr id="10" name="Text 7"/>
          <p:cNvSpPr/>
          <p:nvPr/>
        </p:nvSpPr>
        <p:spPr>
          <a:xfrm>
            <a:off x="822960" y="3182112"/>
            <a:ext cx="3200400" cy="96012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Dónde el trabajador realiza el trabajo</a:t>
            </a:r>
            <a:endParaRPr lang="en-US" sz="1350" dirty="0"/>
          </a:p>
        </p:txBody>
      </p:sp>
      <p:sp>
        <p:nvSpPr>
          <p:cNvPr id="11" name="Text 8"/>
          <p:cNvSpPr/>
          <p:nvPr/>
        </p:nvSpPr>
        <p:spPr>
          <a:xfrm>
            <a:off x="4160520" y="3182112"/>
            <a:ext cx="7269480" cy="960120"/>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El propio estado (o país) del trabajador puede imponer por separado sus propias reglas de clasificación, impuestos, y trabajo sobre la misma relación</a:t>
            </a:r>
            <a:endParaRPr lang="en-US" sz="1200" dirty="0"/>
          </a:p>
        </p:txBody>
      </p:sp>
      <p:sp>
        <p:nvSpPr>
          <p:cNvPr id="12" name="Shape 9"/>
          <p:cNvSpPr/>
          <p:nvPr/>
        </p:nvSpPr>
        <p:spPr>
          <a:xfrm>
            <a:off x="548640" y="4261104"/>
            <a:ext cx="11064240" cy="960120"/>
          </a:xfrm>
          <a:prstGeom prst="roundRect">
            <a:avLst>
              <a:gd name="adj" fmla="val 7619"/>
            </a:avLst>
          </a:prstGeom>
          <a:solidFill>
            <a:srgbClr val="F7F2EA"/>
          </a:solidFill>
          <a:ln/>
        </p:spPr>
      </p:sp>
      <p:sp>
        <p:nvSpPr>
          <p:cNvPr id="13" name="Text 10"/>
          <p:cNvSpPr/>
          <p:nvPr/>
        </p:nvSpPr>
        <p:spPr>
          <a:xfrm>
            <a:off x="822960" y="4261104"/>
            <a:ext cx="3200400" cy="96012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Contratistas en el extranjero</a:t>
            </a:r>
            <a:endParaRPr lang="en-US" sz="1350" dirty="0"/>
          </a:p>
        </p:txBody>
      </p:sp>
      <p:sp>
        <p:nvSpPr>
          <p:cNvPr id="14" name="Text 11"/>
          <p:cNvSpPr/>
          <p:nvPr/>
        </p:nvSpPr>
        <p:spPr>
          <a:xfrm>
            <a:off x="4160520" y="4261104"/>
            <a:ext cx="7269480" cy="960120"/>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Los asistentes virtuales basados en el extranjero generalmente caen fuera de la ley salarial estatal de EE. UU., pero esto no resuelve las preguntas de reporte fiscal federal, y los arreglos de plataforma/agencia añaden otra capa</a:t>
            </a:r>
            <a:endParaRPr lang="en-US" sz="1200" dirty="0"/>
          </a:p>
        </p:txBody>
      </p:sp>
      <p:sp>
        <p:nvSpPr>
          <p:cNvPr id="15" name="Shape 12"/>
          <p:cNvSpPr/>
          <p:nvPr/>
        </p:nvSpPr>
        <p:spPr>
          <a:xfrm>
            <a:off x="548640" y="5340096"/>
            <a:ext cx="11064240" cy="960120"/>
          </a:xfrm>
          <a:prstGeom prst="roundRect">
            <a:avLst>
              <a:gd name="adj" fmla="val 7619"/>
            </a:avLst>
          </a:prstGeom>
          <a:solidFill>
            <a:srgbClr val="F7F2EA"/>
          </a:solidFill>
          <a:ln/>
        </p:spPr>
      </p:sp>
      <p:sp>
        <p:nvSpPr>
          <p:cNvPr id="16" name="Text 13"/>
          <p:cNvSpPr/>
          <p:nvPr/>
        </p:nvSpPr>
        <p:spPr>
          <a:xfrm>
            <a:off x="822960" y="5340096"/>
            <a:ext cx="3200400" cy="960120"/>
          </a:xfrm>
          <a:prstGeom prst="rect">
            <a:avLst/>
          </a:prstGeom>
          <a:noFill/>
          <a:ln/>
        </p:spPr>
        <p:txBody>
          <a:bodyPr wrap="square" lIns="0" tIns="0" rIns="0" bIns="0" rtlCol="0" anchor="ctr"/>
          <a:lstStyle/>
          <a:p>
            <a:pPr indent="0" marL="0">
              <a:buNone/>
            </a:pPr>
            <a:r>
              <a:rPr lang="en-US" sz="1350" b="1" dirty="0">
                <a:solidFill>
                  <a:srgbClr val="081F33"/>
                </a:solidFill>
                <a:latin typeface="Calibri" pitchFamily="34" charset="0"/>
                <a:ea typeface="Calibri" pitchFamily="34" charset="-122"/>
                <a:cs typeface="Calibri" pitchFamily="34" charset="-120"/>
              </a:rPr>
              <a:t>La conclusión práctica</a:t>
            </a:r>
            <a:endParaRPr lang="en-US" sz="1350" dirty="0"/>
          </a:p>
        </p:txBody>
      </p:sp>
      <p:sp>
        <p:nvSpPr>
          <p:cNvPr id="17" name="Text 14"/>
          <p:cNvSpPr/>
          <p:nvPr/>
        </p:nvSpPr>
        <p:spPr>
          <a:xfrm>
            <a:off x="4160520" y="5340096"/>
            <a:ext cx="7269480" cy="960120"/>
          </a:xfrm>
          <a:prstGeom prst="rect">
            <a:avLst/>
          </a:prstGeom>
          <a:noFill/>
          <a:ln/>
        </p:spPr>
        <p:txBody>
          <a:bodyPr wrap="square" lIns="0" tIns="0" rIns="0" bIns="0" rtlCol="0" anchor="ctr"/>
          <a:lstStyle/>
          <a:p>
            <a:pPr indent="0" marL="0">
              <a:lnSpc>
                <a:spcPct val="120000"/>
              </a:lnSpc>
              <a:buNone/>
            </a:pPr>
            <a:r>
              <a:rPr lang="en-US" sz="1200" dirty="0">
                <a:solidFill>
                  <a:srgbClr val="081F33"/>
                </a:solidFill>
                <a:latin typeface="Calibri" pitchFamily="34" charset="0"/>
                <a:ea typeface="Calibri" pitchFamily="34" charset="-122"/>
                <a:cs typeface="Calibri" pitchFamily="34" charset="-120"/>
              </a:rPr>
              <a:t>“Mi asistente virtual no vive en Rhode Island” no es, por sí sola, una razón para asumir que la ley de Rhode Island no aplica a cómo tu práctica la contrata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02920"/>
            <a:ext cx="685800" cy="685800"/>
          </a:xfrm>
          <a:prstGeom prst="ellipse">
            <a:avLst/>
          </a:prstGeom>
          <a:solidFill>
            <a:srgbClr val="081F33"/>
          </a:solidFill>
          <a:ln/>
        </p:spPr>
      </p:sp>
      <p:pic>
        <p:nvPicPr>
          <p:cNvPr id="3" name="Image 0" descr="icon_shield_white.png">    </p:cNvPr>
          <p:cNvPicPr>
            <a:picLocks noChangeAspect="1"/>
          </p:cNvPicPr>
          <p:nvPr/>
        </p:nvPicPr>
        <p:blipFill>
          <a:blip r:embed="rId1"/>
          <a:stretch>
            <a:fillRect/>
          </a:stretch>
        </p:blipFill>
        <p:spPr>
          <a:xfrm>
            <a:off x="758952" y="667512"/>
            <a:ext cx="329184" cy="365760"/>
          </a:xfrm>
          <a:prstGeom prst="rect">
            <a:avLst/>
          </a:prstGeom>
        </p:spPr>
      </p:pic>
      <p:sp>
        <p:nvSpPr>
          <p:cNvPr id="4" name="Text 1"/>
          <p:cNvSpPr/>
          <p:nvPr/>
        </p:nvSpPr>
        <p:spPr>
          <a:xfrm>
            <a:off x="1417320" y="502920"/>
            <a:ext cx="9601200" cy="685800"/>
          </a:xfrm>
          <a:prstGeom prst="rect">
            <a:avLst/>
          </a:prstGeom>
          <a:noFill/>
          <a:ln/>
        </p:spPr>
        <p:txBody>
          <a:bodyPr wrap="square" lIns="0" tIns="0" rIns="0" bIns="0" rtlCol="0" anchor="ctr"/>
          <a:lstStyle/>
          <a:p>
            <a:pPr indent="0" marL="0">
              <a:buNone/>
            </a:pPr>
            <a:r>
              <a:rPr lang="en-US" sz="2500" b="1" dirty="0">
                <a:solidFill>
                  <a:srgbClr val="081F33"/>
                </a:solidFill>
                <a:latin typeface="Cambria" pitchFamily="34" charset="0"/>
                <a:ea typeface="Cambria" pitchFamily="34" charset="-122"/>
                <a:cs typeface="Cambria" pitchFamily="34" charset="-120"/>
              </a:rPr>
              <a:t>Qué Realmente Ayuda Tu Posición</a:t>
            </a:r>
            <a:endParaRPr lang="en-US" sz="2500" dirty="0"/>
          </a:p>
        </p:txBody>
      </p:sp>
      <p:sp>
        <p:nvSpPr>
          <p:cNvPr id="5" name="Text 2"/>
          <p:cNvSpPr/>
          <p:nvPr/>
        </p:nvSpPr>
        <p:spPr>
          <a:xfrm>
            <a:off x="548640" y="1325880"/>
            <a:ext cx="10698480" cy="45720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Si de verdad confías en que una relación con un asistente virtual es independiente, esto fortalece (pero no garantiza) tu posición:</a:t>
            </a:r>
            <a:endParaRPr lang="en-US" sz="1400" dirty="0"/>
          </a:p>
        </p:txBody>
      </p:sp>
      <p:pic>
        <p:nvPicPr>
          <p:cNvPr id="6" name="Image 1" descr="icon_clipboardcheck_navy.png">    </p:cNvPr>
          <p:cNvPicPr>
            <a:picLocks noChangeAspect="1"/>
          </p:cNvPicPr>
          <p:nvPr/>
        </p:nvPicPr>
        <p:blipFill>
          <a:blip r:embed="rId2"/>
          <a:stretch>
            <a:fillRect/>
          </a:stretch>
        </p:blipFill>
        <p:spPr>
          <a:xfrm>
            <a:off x="548640" y="1965960"/>
            <a:ext cx="292608" cy="292608"/>
          </a:xfrm>
          <a:prstGeom prst="rect">
            <a:avLst/>
          </a:prstGeom>
        </p:spPr>
      </p:pic>
      <p:sp>
        <p:nvSpPr>
          <p:cNvPr id="7" name="Text 3"/>
          <p:cNvSpPr/>
          <p:nvPr/>
        </p:nvSpPr>
        <p:spPr>
          <a:xfrm>
            <a:off x="1005840" y="1911096"/>
            <a:ext cx="10424160" cy="502920"/>
          </a:xfrm>
          <a:prstGeom prst="rect">
            <a:avLst/>
          </a:prstGeom>
          <a:noFill/>
          <a:ln/>
        </p:spPr>
        <p:txBody>
          <a:bodyPr wrap="square" lIns="0" tIns="0" rIns="0" bIns="0" rtlCol="0" anchor="ctr"/>
          <a:lstStyle/>
          <a:p>
            <a:pPr indent="0" marL="0">
              <a:lnSpc>
                <a:spcPct val="115000"/>
              </a:lnSpc>
              <a:buNone/>
            </a:pPr>
            <a:r>
              <a:rPr lang="en-US" sz="1350" dirty="0">
                <a:solidFill>
                  <a:srgbClr val="081F33"/>
                </a:solidFill>
                <a:latin typeface="Calibri" pitchFamily="34" charset="0"/>
                <a:ea typeface="Calibri" pitchFamily="34" charset="-122"/>
                <a:cs typeface="Calibri" pitchFamily="34" charset="-120"/>
              </a:rPr>
              <a:t>Evidencia de que el asistente virtual sirve activamente a otras prácticas — no solo referencias, sino trabajo concurrente visible</a:t>
            </a:r>
            <a:endParaRPr lang="en-US" sz="1350" dirty="0"/>
          </a:p>
        </p:txBody>
      </p:sp>
      <p:pic>
        <p:nvPicPr>
          <p:cNvPr id="8" name="Image 2" descr="icon_clipboardcheck_navy.png">    </p:cNvPr>
          <p:cNvPicPr>
            <a:picLocks noChangeAspect="1"/>
          </p:cNvPicPr>
          <p:nvPr/>
        </p:nvPicPr>
        <p:blipFill>
          <a:blip r:embed="rId3"/>
          <a:stretch>
            <a:fillRect/>
          </a:stretch>
        </p:blipFill>
        <p:spPr>
          <a:xfrm>
            <a:off x="548640" y="2624328"/>
            <a:ext cx="292608" cy="292608"/>
          </a:xfrm>
          <a:prstGeom prst="rect">
            <a:avLst/>
          </a:prstGeom>
        </p:spPr>
      </p:pic>
      <p:sp>
        <p:nvSpPr>
          <p:cNvPr id="9" name="Text 4"/>
          <p:cNvSpPr/>
          <p:nvPr/>
        </p:nvSpPr>
        <p:spPr>
          <a:xfrm>
            <a:off x="1005840" y="2569464"/>
            <a:ext cx="10424160" cy="502920"/>
          </a:xfrm>
          <a:prstGeom prst="rect">
            <a:avLst/>
          </a:prstGeom>
          <a:noFill/>
          <a:ln/>
        </p:spPr>
        <p:txBody>
          <a:bodyPr wrap="square" lIns="0" tIns="0" rIns="0" bIns="0" rtlCol="0" anchor="ctr"/>
          <a:lstStyle/>
          <a:p>
            <a:pPr indent="0" marL="0">
              <a:lnSpc>
                <a:spcPct val="115000"/>
              </a:lnSpc>
              <a:buNone/>
            </a:pPr>
            <a:r>
              <a:rPr lang="en-US" sz="1350" dirty="0">
                <a:solidFill>
                  <a:srgbClr val="081F33"/>
                </a:solidFill>
                <a:latin typeface="Calibri" pitchFamily="34" charset="0"/>
                <a:ea typeface="Calibri" pitchFamily="34" charset="-122"/>
                <a:cs typeface="Calibri" pitchFamily="34" charset="-120"/>
              </a:rPr>
              <a:t>Un nombre de negocio registrado, su propio sitio web o listado, y su propio seguro de responsabilidad civil</a:t>
            </a:r>
            <a:endParaRPr lang="en-US" sz="1350" dirty="0"/>
          </a:p>
        </p:txBody>
      </p:sp>
      <p:pic>
        <p:nvPicPr>
          <p:cNvPr id="10" name="Image 3" descr="icon_clipboardcheck_navy.png">    </p:cNvPr>
          <p:cNvPicPr>
            <a:picLocks noChangeAspect="1"/>
          </p:cNvPicPr>
          <p:nvPr/>
        </p:nvPicPr>
        <p:blipFill>
          <a:blip r:embed="rId4"/>
          <a:stretch>
            <a:fillRect/>
          </a:stretch>
        </p:blipFill>
        <p:spPr>
          <a:xfrm>
            <a:off x="548640" y="3282696"/>
            <a:ext cx="292608" cy="292608"/>
          </a:xfrm>
          <a:prstGeom prst="rect">
            <a:avLst/>
          </a:prstGeom>
        </p:spPr>
      </p:pic>
      <p:sp>
        <p:nvSpPr>
          <p:cNvPr id="11" name="Text 5"/>
          <p:cNvSpPr/>
          <p:nvPr/>
        </p:nvSpPr>
        <p:spPr>
          <a:xfrm>
            <a:off x="1005840" y="3227832"/>
            <a:ext cx="10424160" cy="502920"/>
          </a:xfrm>
          <a:prstGeom prst="rect">
            <a:avLst/>
          </a:prstGeom>
          <a:noFill/>
          <a:ln/>
        </p:spPr>
        <p:txBody>
          <a:bodyPr wrap="square" lIns="0" tIns="0" rIns="0" bIns="0" rtlCol="0" anchor="ctr"/>
          <a:lstStyle/>
          <a:p>
            <a:pPr indent="0" marL="0">
              <a:lnSpc>
                <a:spcPct val="115000"/>
              </a:lnSpc>
              <a:buNone/>
            </a:pPr>
            <a:r>
              <a:rPr lang="en-US" sz="1350" dirty="0">
                <a:solidFill>
                  <a:srgbClr val="081F33"/>
                </a:solidFill>
                <a:latin typeface="Calibri" pitchFamily="34" charset="0"/>
                <a:ea typeface="Calibri" pitchFamily="34" charset="-122"/>
                <a:cs typeface="Calibri" pitchFamily="34" charset="-120"/>
              </a:rPr>
              <a:t>Un acuerdo escrito que describe resultados y entregables, no horas o tareas supervisadas</a:t>
            </a:r>
            <a:endParaRPr lang="en-US" sz="1350" dirty="0"/>
          </a:p>
        </p:txBody>
      </p:sp>
      <p:pic>
        <p:nvPicPr>
          <p:cNvPr id="12" name="Image 4" descr="icon_clipboardcheck_navy.png">    </p:cNvPr>
          <p:cNvPicPr>
            <a:picLocks noChangeAspect="1"/>
          </p:cNvPicPr>
          <p:nvPr/>
        </p:nvPicPr>
        <p:blipFill>
          <a:blip r:embed="rId5"/>
          <a:stretch>
            <a:fillRect/>
          </a:stretch>
        </p:blipFill>
        <p:spPr>
          <a:xfrm>
            <a:off x="548640" y="3941064"/>
            <a:ext cx="292608" cy="292608"/>
          </a:xfrm>
          <a:prstGeom prst="rect">
            <a:avLst/>
          </a:prstGeom>
        </p:spPr>
      </p:pic>
      <p:sp>
        <p:nvSpPr>
          <p:cNvPr id="13" name="Text 6"/>
          <p:cNvSpPr/>
          <p:nvPr/>
        </p:nvSpPr>
        <p:spPr>
          <a:xfrm>
            <a:off x="1005840" y="3886200"/>
            <a:ext cx="10424160" cy="502920"/>
          </a:xfrm>
          <a:prstGeom prst="rect">
            <a:avLst/>
          </a:prstGeom>
          <a:noFill/>
          <a:ln/>
        </p:spPr>
        <p:txBody>
          <a:bodyPr wrap="square" lIns="0" tIns="0" rIns="0" bIns="0" rtlCol="0" anchor="ctr"/>
          <a:lstStyle/>
          <a:p>
            <a:pPr indent="0" marL="0">
              <a:lnSpc>
                <a:spcPct val="115000"/>
              </a:lnSpc>
              <a:buNone/>
            </a:pPr>
            <a:r>
              <a:rPr lang="en-US" sz="1350" dirty="0">
                <a:solidFill>
                  <a:srgbClr val="081F33"/>
                </a:solidFill>
                <a:latin typeface="Calibri" pitchFamily="34" charset="0"/>
                <a:ea typeface="Calibri" pitchFamily="34" charset="-122"/>
                <a:cs typeface="Calibri" pitchFamily="34" charset="-120"/>
              </a:rPr>
              <a:t>Facturación a tarifa de proyecto o entregable, no una tarifa por hora que se parezca a un salario</a:t>
            </a:r>
            <a:endParaRPr lang="en-US" sz="1350" dirty="0"/>
          </a:p>
        </p:txBody>
      </p:sp>
      <p:pic>
        <p:nvPicPr>
          <p:cNvPr id="14" name="Image 5" descr="icon_clipboardcheck_navy.png">    </p:cNvPr>
          <p:cNvPicPr>
            <a:picLocks noChangeAspect="1"/>
          </p:cNvPicPr>
          <p:nvPr/>
        </p:nvPicPr>
        <p:blipFill>
          <a:blip r:embed="rId6"/>
          <a:stretch>
            <a:fillRect/>
          </a:stretch>
        </p:blipFill>
        <p:spPr>
          <a:xfrm>
            <a:off x="548640" y="4599432"/>
            <a:ext cx="292608" cy="292608"/>
          </a:xfrm>
          <a:prstGeom prst="rect">
            <a:avLst/>
          </a:prstGeom>
        </p:spPr>
      </p:pic>
      <p:sp>
        <p:nvSpPr>
          <p:cNvPr id="15" name="Text 7"/>
          <p:cNvSpPr/>
          <p:nvPr/>
        </p:nvSpPr>
        <p:spPr>
          <a:xfrm>
            <a:off x="1005840" y="4544568"/>
            <a:ext cx="10424160" cy="502920"/>
          </a:xfrm>
          <a:prstGeom prst="rect">
            <a:avLst/>
          </a:prstGeom>
          <a:noFill/>
          <a:ln/>
        </p:spPr>
        <p:txBody>
          <a:bodyPr wrap="square" lIns="0" tIns="0" rIns="0" bIns="0" rtlCol="0" anchor="ctr"/>
          <a:lstStyle/>
          <a:p>
            <a:pPr indent="0" marL="0">
              <a:lnSpc>
                <a:spcPct val="115000"/>
              </a:lnSpc>
              <a:buNone/>
            </a:pPr>
            <a:r>
              <a:rPr lang="en-US" sz="1350" dirty="0">
                <a:solidFill>
                  <a:srgbClr val="081F33"/>
                </a:solidFill>
                <a:latin typeface="Calibri" pitchFamily="34" charset="0"/>
                <a:ea typeface="Calibri" pitchFamily="34" charset="-122"/>
                <a:cs typeface="Calibri" pitchFamily="34" charset="-120"/>
              </a:rPr>
              <a:t>Sin correo de la práctica, y sin uso obligatorio de sistemas internos donde sea evitable</a:t>
            </a:r>
            <a:endParaRPr lang="en-US" sz="1350" dirty="0"/>
          </a:p>
        </p:txBody>
      </p:sp>
      <p:sp>
        <p:nvSpPr>
          <p:cNvPr id="16" name="Shape 8"/>
          <p:cNvSpPr/>
          <p:nvPr/>
        </p:nvSpPr>
        <p:spPr>
          <a:xfrm>
            <a:off x="548640" y="5532120"/>
            <a:ext cx="11064240" cy="868680"/>
          </a:xfrm>
          <a:prstGeom prst="roundRect">
            <a:avLst>
              <a:gd name="adj" fmla="val 8421"/>
            </a:avLst>
          </a:prstGeom>
          <a:solidFill>
            <a:srgbClr val="F7F2EA"/>
          </a:solidFill>
          <a:ln/>
        </p:spPr>
      </p:sp>
      <p:sp>
        <p:nvSpPr>
          <p:cNvPr id="17" name="Text 9"/>
          <p:cNvSpPr/>
          <p:nvPr/>
        </p:nvSpPr>
        <p:spPr>
          <a:xfrm>
            <a:off x="822960" y="5532120"/>
            <a:ext cx="10515600" cy="868680"/>
          </a:xfrm>
          <a:prstGeom prst="rect">
            <a:avLst/>
          </a:prstGeom>
          <a:noFill/>
          <a:ln/>
        </p:spPr>
        <p:txBody>
          <a:bodyPr wrap="square" lIns="0" tIns="0" rIns="0" bIns="0" rtlCol="0" anchor="ctr"/>
          <a:lstStyle/>
          <a:p>
            <a:pPr indent="0" marL="0">
              <a:lnSpc>
                <a:spcPct val="125000"/>
              </a:lnSpc>
              <a:buNone/>
            </a:pPr>
            <a:r>
              <a:rPr lang="en-US" sz="1250" b="1" dirty="0">
                <a:solidFill>
                  <a:srgbClr val="081F33"/>
                </a:solidFill>
                <a:latin typeface="Calibri" pitchFamily="34" charset="0"/>
                <a:ea typeface="Calibri" pitchFamily="34" charset="-122"/>
                <a:cs typeface="Calibri" pitchFamily="34" charset="-120"/>
              </a:rPr>
              <a:t>Verificación de realidad:  </a:t>
            </a:r>
            <a:pPr indent="0" marL="0">
              <a:lnSpc>
                <a:spcPct val="125000"/>
              </a:lnSpc>
              <a:buNone/>
            </a:pPr>
            <a:r>
              <a:rPr lang="en-US" sz="1250" dirty="0">
                <a:solidFill>
                  <a:srgbClr val="081F33"/>
                </a:solidFill>
                <a:latin typeface="Calibri" pitchFamily="34" charset="0"/>
                <a:ea typeface="Calibri" pitchFamily="34" charset="-122"/>
                <a:cs typeface="Calibri" pitchFamily="34" charset="-120"/>
              </a:rPr>
              <a:t>Para la mayoría de los arreglos de asistente virtual de práctica individual que manejan tareas operativas centrales, el Aspecto B sigue siendo genuinamente difícil de satisfacer — la documentación ayuda en los márgenes, pero no cambia la naturaleza del trabajo en sí.</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548640" y="457200"/>
            <a:ext cx="685800" cy="685800"/>
          </a:xfrm>
          <a:prstGeom prst="ellipse">
            <a:avLst/>
          </a:prstGeom>
          <a:solidFill>
            <a:srgbClr val="C9A97E"/>
          </a:solidFill>
          <a:ln/>
        </p:spPr>
      </p:sp>
      <p:pic>
        <p:nvPicPr>
          <p:cNvPr id="3" name="Image 0" descr="icon_route_navy.png">    </p:cNvPr>
          <p:cNvPicPr>
            <a:picLocks noChangeAspect="1"/>
          </p:cNvPicPr>
          <p:nvPr/>
        </p:nvPicPr>
        <p:blipFill>
          <a:blip r:embed="rId1"/>
          <a:stretch>
            <a:fillRect/>
          </a:stretch>
        </p:blipFill>
        <p:spPr>
          <a:xfrm>
            <a:off x="731520" y="621792"/>
            <a:ext cx="365760" cy="365760"/>
          </a:xfrm>
          <a:prstGeom prst="rect">
            <a:avLst/>
          </a:prstGeom>
        </p:spPr>
      </p:pic>
      <p:sp>
        <p:nvSpPr>
          <p:cNvPr id="4" name="Text 1"/>
          <p:cNvSpPr/>
          <p:nvPr/>
        </p:nvSpPr>
        <p:spPr>
          <a:xfrm>
            <a:off x="1417320" y="457200"/>
            <a:ext cx="91440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Tus Próximos Pasos</a:t>
            </a:r>
            <a:endParaRPr lang="en-US" sz="3000" dirty="0"/>
          </a:p>
        </p:txBody>
      </p:sp>
      <p:sp>
        <p:nvSpPr>
          <p:cNvPr id="5" name="Shape 2"/>
          <p:cNvSpPr/>
          <p:nvPr/>
        </p:nvSpPr>
        <p:spPr>
          <a:xfrm>
            <a:off x="548640" y="1600200"/>
            <a:ext cx="11064240" cy="822960"/>
          </a:xfrm>
          <a:prstGeom prst="roundRect">
            <a:avLst>
              <a:gd name="adj" fmla="val 8889"/>
            </a:avLst>
          </a:prstGeom>
          <a:solidFill>
            <a:srgbClr val="0E3A5F"/>
          </a:solidFill>
          <a:ln/>
        </p:spPr>
      </p:sp>
      <p:pic>
        <p:nvPicPr>
          <p:cNvPr id="6" name="Image 1" descr="icon_clipboardcheck_amber.png">    </p:cNvPr>
          <p:cNvPicPr>
            <a:picLocks noChangeAspect="1"/>
          </p:cNvPicPr>
          <p:nvPr/>
        </p:nvPicPr>
        <p:blipFill>
          <a:blip r:embed="rId2"/>
          <a:stretch>
            <a:fillRect/>
          </a:stretch>
        </p:blipFill>
        <p:spPr>
          <a:xfrm>
            <a:off x="777240" y="1819656"/>
            <a:ext cx="384048" cy="384048"/>
          </a:xfrm>
          <a:prstGeom prst="rect">
            <a:avLst/>
          </a:prstGeom>
        </p:spPr>
      </p:pic>
      <p:sp>
        <p:nvSpPr>
          <p:cNvPr id="7" name="Text 3"/>
          <p:cNvSpPr/>
          <p:nvPr/>
        </p:nvSpPr>
        <p:spPr>
          <a:xfrm>
            <a:off x="1371600" y="1600200"/>
            <a:ext cx="996696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Enumera cada trabajador 1099 que apoya las operaciones diarias de tu práctica</a:t>
            </a:r>
            <a:endParaRPr lang="en-US" sz="1400" dirty="0"/>
          </a:p>
        </p:txBody>
      </p:sp>
      <p:sp>
        <p:nvSpPr>
          <p:cNvPr id="8" name="Shape 4"/>
          <p:cNvSpPr/>
          <p:nvPr/>
        </p:nvSpPr>
        <p:spPr>
          <a:xfrm>
            <a:off x="548640" y="2532888"/>
            <a:ext cx="11064240" cy="822960"/>
          </a:xfrm>
          <a:prstGeom prst="roundRect">
            <a:avLst>
              <a:gd name="adj" fmla="val 8889"/>
            </a:avLst>
          </a:prstGeom>
          <a:solidFill>
            <a:srgbClr val="0E3A5F"/>
          </a:solidFill>
          <a:ln/>
        </p:spPr>
      </p:sp>
      <p:pic>
        <p:nvPicPr>
          <p:cNvPr id="9" name="Image 2" descr="icon_clipboardcheck_amber.png">    </p:cNvPr>
          <p:cNvPicPr>
            <a:picLocks noChangeAspect="1"/>
          </p:cNvPicPr>
          <p:nvPr/>
        </p:nvPicPr>
        <p:blipFill>
          <a:blip r:embed="rId3"/>
          <a:stretch>
            <a:fillRect/>
          </a:stretch>
        </p:blipFill>
        <p:spPr>
          <a:xfrm>
            <a:off x="777240" y="2752344"/>
            <a:ext cx="384048" cy="384048"/>
          </a:xfrm>
          <a:prstGeom prst="rect">
            <a:avLst/>
          </a:prstGeom>
        </p:spPr>
      </p:pic>
      <p:sp>
        <p:nvSpPr>
          <p:cNvPr id="10" name="Text 5"/>
          <p:cNvSpPr/>
          <p:nvPr/>
        </p:nvSpPr>
        <p:spPr>
          <a:xfrm>
            <a:off x="1371600" y="2532888"/>
            <a:ext cx="996696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Pasa cada uno por los tres aspectos ABC — no solo la prueba federal</a:t>
            </a:r>
            <a:endParaRPr lang="en-US" sz="1400" dirty="0"/>
          </a:p>
        </p:txBody>
      </p:sp>
      <p:sp>
        <p:nvSpPr>
          <p:cNvPr id="11" name="Shape 6"/>
          <p:cNvSpPr/>
          <p:nvPr/>
        </p:nvSpPr>
        <p:spPr>
          <a:xfrm>
            <a:off x="548640" y="3465576"/>
            <a:ext cx="11064240" cy="822960"/>
          </a:xfrm>
          <a:prstGeom prst="roundRect">
            <a:avLst>
              <a:gd name="adj" fmla="val 8889"/>
            </a:avLst>
          </a:prstGeom>
          <a:solidFill>
            <a:srgbClr val="0E3A5F"/>
          </a:solidFill>
          <a:ln/>
        </p:spPr>
      </p:sp>
      <p:pic>
        <p:nvPicPr>
          <p:cNvPr id="12" name="Image 3" descr="icon_clipboardcheck_amber.png">    </p:cNvPr>
          <p:cNvPicPr>
            <a:picLocks noChangeAspect="1"/>
          </p:cNvPicPr>
          <p:nvPr/>
        </p:nvPicPr>
        <p:blipFill>
          <a:blip r:embed="rId4"/>
          <a:stretch>
            <a:fillRect/>
          </a:stretch>
        </p:blipFill>
        <p:spPr>
          <a:xfrm>
            <a:off x="777240" y="3685032"/>
            <a:ext cx="384048" cy="384048"/>
          </a:xfrm>
          <a:prstGeom prst="rect">
            <a:avLst/>
          </a:prstGeom>
        </p:spPr>
      </p:pic>
      <p:sp>
        <p:nvSpPr>
          <p:cNvPr id="13" name="Text 7"/>
          <p:cNvSpPr/>
          <p:nvPr/>
        </p:nvSpPr>
        <p:spPr>
          <a:xfrm>
            <a:off x="1371600" y="3465576"/>
            <a:ext cx="996696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Marca a cualquiera que realice trabajo operativo central (programación, admisión, facturación) para una revisión más cercana</a:t>
            </a:r>
            <a:endParaRPr lang="en-US" sz="1400" dirty="0"/>
          </a:p>
        </p:txBody>
      </p:sp>
      <p:sp>
        <p:nvSpPr>
          <p:cNvPr id="14" name="Shape 8"/>
          <p:cNvSpPr/>
          <p:nvPr/>
        </p:nvSpPr>
        <p:spPr>
          <a:xfrm>
            <a:off x="548640" y="4398264"/>
            <a:ext cx="11064240" cy="822960"/>
          </a:xfrm>
          <a:prstGeom prst="roundRect">
            <a:avLst>
              <a:gd name="adj" fmla="val 8889"/>
            </a:avLst>
          </a:prstGeom>
          <a:solidFill>
            <a:srgbClr val="0E3A5F"/>
          </a:solidFill>
          <a:ln/>
        </p:spPr>
      </p:sp>
      <p:pic>
        <p:nvPicPr>
          <p:cNvPr id="15" name="Image 4" descr="icon_clipboardcheck_amber.png">    </p:cNvPr>
          <p:cNvPicPr>
            <a:picLocks noChangeAspect="1"/>
          </p:cNvPicPr>
          <p:nvPr/>
        </p:nvPicPr>
        <p:blipFill>
          <a:blip r:embed="rId5"/>
          <a:stretch>
            <a:fillRect/>
          </a:stretch>
        </p:blipFill>
        <p:spPr>
          <a:xfrm>
            <a:off x="777240" y="4617720"/>
            <a:ext cx="384048" cy="384048"/>
          </a:xfrm>
          <a:prstGeom prst="rect">
            <a:avLst/>
          </a:prstGeom>
        </p:spPr>
      </p:pic>
      <p:sp>
        <p:nvSpPr>
          <p:cNvPr id="16" name="Text 9"/>
          <p:cNvSpPr/>
          <p:nvPr/>
        </p:nvSpPr>
        <p:spPr>
          <a:xfrm>
            <a:off x="1371600" y="4398264"/>
            <a:ext cx="996696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Reúne evidencia de estatus de negocio independiente para cualquiera que creas que realmente califica</a:t>
            </a:r>
            <a:endParaRPr lang="en-US" sz="1400" dirty="0"/>
          </a:p>
        </p:txBody>
      </p:sp>
      <p:sp>
        <p:nvSpPr>
          <p:cNvPr id="17" name="Shape 10"/>
          <p:cNvSpPr/>
          <p:nvPr/>
        </p:nvSpPr>
        <p:spPr>
          <a:xfrm>
            <a:off x="548640" y="5330952"/>
            <a:ext cx="11064240" cy="822960"/>
          </a:xfrm>
          <a:prstGeom prst="roundRect">
            <a:avLst>
              <a:gd name="adj" fmla="val 8889"/>
            </a:avLst>
          </a:prstGeom>
          <a:solidFill>
            <a:srgbClr val="0E3A5F"/>
          </a:solidFill>
          <a:ln/>
        </p:spPr>
      </p:sp>
      <p:pic>
        <p:nvPicPr>
          <p:cNvPr id="18" name="Image 5" descr="icon_clipboardcheck_amber.png">    </p:cNvPr>
          <p:cNvPicPr>
            <a:picLocks noChangeAspect="1"/>
          </p:cNvPicPr>
          <p:nvPr/>
        </p:nvPicPr>
        <p:blipFill>
          <a:blip r:embed="rId6"/>
          <a:stretch>
            <a:fillRect/>
          </a:stretch>
        </p:blipFill>
        <p:spPr>
          <a:xfrm>
            <a:off x="777240" y="5550408"/>
            <a:ext cx="384048" cy="384048"/>
          </a:xfrm>
          <a:prstGeom prst="rect">
            <a:avLst/>
          </a:prstGeom>
        </p:spPr>
      </p:pic>
      <p:sp>
        <p:nvSpPr>
          <p:cNvPr id="19" name="Text 11"/>
          <p:cNvSpPr/>
          <p:nvPr/>
        </p:nvSpPr>
        <p:spPr>
          <a:xfrm>
            <a:off x="1371600" y="5330952"/>
            <a:ext cx="9966960" cy="8229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Habla con un profesional antes de tu próxima fecha límite de presentación, no después de que llegue un reclamo o auditoría</a:t>
            </a:r>
            <a:endParaRPr lang="en-US" sz="1400" dirty="0"/>
          </a:p>
        </p:txBody>
      </p:sp>
      <p:sp>
        <p:nvSpPr>
          <p:cNvPr id="20" name="Text 12"/>
          <p:cNvSpPr/>
          <p:nvPr/>
        </p:nvSpPr>
        <p:spPr>
          <a:xfrm>
            <a:off x="548640" y="6355080"/>
            <a:ext cx="10972800" cy="36576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Esto es educación general, no asesoría legal o fiscal — las preguntas de clasificación en RI/MA valen una conversación directa con un profesional.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F33"/>
        </a:solidFill>
      </p:bgPr>
    </p:bg>
    <p:spTree>
      <p:nvGrpSpPr>
        <p:cNvPr id="1" name=""/>
        <p:cNvGrpSpPr/>
        <p:nvPr/>
      </p:nvGrpSpPr>
      <p:grpSpPr>
        <a:xfrm>
          <a:off x="0" y="0"/>
          <a:ext cx="0" cy="0"/>
          <a:chOff x="0" y="0"/>
          <a:chExt cx="0" cy="0"/>
        </a:xfrm>
      </p:grpSpPr>
      <p:sp>
        <p:nvSpPr>
          <p:cNvPr id="2" name="Shape 0"/>
          <p:cNvSpPr/>
          <p:nvPr/>
        </p:nvSpPr>
        <p:spPr>
          <a:xfrm>
            <a:off x="9875520" y="-1371600"/>
            <a:ext cx="4572000" cy="4572000"/>
          </a:xfrm>
          <a:prstGeom prst="ellipse">
            <a:avLst/>
          </a:prstGeom>
          <a:solidFill>
            <a:srgbClr val="0E3A5F"/>
          </a:solidFill>
          <a:ln/>
        </p:spPr>
      </p:sp>
      <p:sp>
        <p:nvSpPr>
          <p:cNvPr id="3" name="Shape 1"/>
          <p:cNvSpPr/>
          <p:nvPr/>
        </p:nvSpPr>
        <p:spPr>
          <a:xfrm>
            <a:off x="-1645920" y="4754880"/>
            <a:ext cx="3657600" cy="3657600"/>
          </a:xfrm>
          <a:prstGeom prst="ellipse">
            <a:avLst/>
          </a:prstGeom>
          <a:solidFill>
            <a:srgbClr val="0E3A5F"/>
          </a:solidFill>
          <a:ln/>
        </p:spPr>
      </p:sp>
      <p:sp>
        <p:nvSpPr>
          <p:cNvPr id="4" name="Text 2"/>
          <p:cNvSpPr/>
          <p:nvPr/>
        </p:nvSpPr>
        <p:spPr>
          <a:xfrm>
            <a:off x="548640" y="2377440"/>
            <a:ext cx="7315200" cy="457200"/>
          </a:xfrm>
          <a:prstGeom prst="rect">
            <a:avLst/>
          </a:prstGeom>
          <a:noFill/>
          <a:ln/>
        </p:spPr>
        <p:txBody>
          <a:bodyPr wrap="square" lIns="0" tIns="0" rIns="0" bIns="0" rtlCol="0" anchor="ctr"/>
          <a:lstStyle/>
          <a:p>
            <a:pPr indent="0" marL="0">
              <a:buNone/>
            </a:pPr>
            <a:r>
              <a:rPr lang="en-US" sz="1600" b="1" spc="300" kern="0" dirty="0">
                <a:solidFill>
                  <a:srgbClr val="C7D2D6"/>
                </a:solidFill>
                <a:latin typeface="Calibri" pitchFamily="34" charset="0"/>
                <a:ea typeface="Calibri" pitchFamily="34" charset="-122"/>
                <a:cs typeface="Calibri" pitchFamily="34" charset="-120"/>
              </a:rPr>
              <a:t>NÁCAR &amp; LEDGER</a:t>
            </a:r>
            <a:endParaRPr lang="en-US" sz="1600" dirty="0"/>
          </a:p>
        </p:txBody>
      </p:sp>
      <p:sp>
        <p:nvSpPr>
          <p:cNvPr id="5" name="Text 3"/>
          <p:cNvSpPr/>
          <p:nvPr/>
        </p:nvSpPr>
        <p:spPr>
          <a:xfrm>
            <a:off x="548640" y="2926080"/>
            <a:ext cx="10058400" cy="73152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Dos pruebas. Una práctica. Acertemos en ambas.</a:t>
            </a:r>
            <a:endParaRPr lang="en-US" sz="2700" dirty="0"/>
          </a:p>
        </p:txBody>
      </p:sp>
      <p:sp>
        <p:nvSpPr>
          <p:cNvPr id="6" name="Text 4"/>
          <p:cNvSpPr/>
          <p:nvPr/>
        </p:nvSpPr>
        <p:spPr>
          <a:xfrm>
            <a:off x="548640" y="3794760"/>
            <a:ext cx="7315200" cy="365760"/>
          </a:xfrm>
          <a:prstGeom prst="rect">
            <a:avLst/>
          </a:prstGeom>
          <a:noFill/>
          <a:ln/>
        </p:spPr>
        <p:txBody>
          <a:bodyPr wrap="square" lIns="0" tIns="0" rIns="0" bIns="0" rtlCol="0" anchor="ctr"/>
          <a:lstStyle/>
          <a:p>
            <a:pPr indent="0" marL="0">
              <a:buNone/>
            </a:pPr>
            <a:r>
              <a:rPr lang="en-US" sz="1500" dirty="0">
                <a:solidFill>
                  <a:srgbClr val="C7D2D6"/>
                </a:solidFill>
                <a:latin typeface="Calibri" pitchFamily="34" charset="0"/>
                <a:ea typeface="Calibri" pitchFamily="34" charset="-122"/>
                <a:cs typeface="Calibri" pitchFamily="34" charset="-120"/>
              </a:rPr>
              <a:t>nacarledger.com</a:t>
            </a:r>
            <a:endParaRPr lang="en-US" sz="1500" dirty="0"/>
          </a:p>
        </p:txBody>
      </p:sp>
      <p:sp>
        <p:nvSpPr>
          <p:cNvPr id="7" name="Text 5"/>
          <p:cNvSpPr/>
          <p:nvPr/>
        </p:nvSpPr>
        <p:spPr>
          <a:xfrm>
            <a:off x="548640" y="6126480"/>
            <a:ext cx="10698480" cy="45720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Este material es para fines educativos generales y no constituye asesoría fiscal o legal. Consulta a un profesional calificado con licencia en Massachusetts o Rhode Island para orientación específica sobre tu práctica.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2026-07-26T00:56:40Z</dcterms:created>
  <dcterms:modified xsi:type="dcterms:W3CDTF">2026-07-26T00:56:40Z</dcterms:modified>
</cp:coreProperties>
</file>