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3"/>
        </a:solidFill>
      </p:bgPr>
    </p:bg>
    <p:spTree>
      <p:nvGrpSpPr>
        <p:cNvPr id="1" name=""/>
        <p:cNvGrpSpPr/>
        <p:nvPr/>
      </p:nvGrpSpPr>
      <p:grpSpPr>
        <a:xfrm>
          <a:off x="0" y="0"/>
          <a:ext cx="0" cy="0"/>
          <a:chOff x="0" y="0"/>
          <a:chExt cx="0" cy="0"/>
        </a:xfrm>
      </p:grpSpPr>
      <p:pic>
        <p:nvPicPr>
          <p:cNvPr id="2" name="Image 0" descr="/home/claude/logo_icon_transparent.png">    </p:cNvPr>
          <p:cNvPicPr>
            <a:picLocks noChangeAspect="1"/>
          </p:cNvPicPr>
          <p:nvPr/>
        </p:nvPicPr>
        <p:blipFill>
          <a:blip r:embed="rId1"/>
          <a:stretch>
            <a:fillRect/>
          </a:stretch>
        </p:blipFill>
        <p:spPr>
          <a:xfrm>
            <a:off x="5394960" y="685800"/>
            <a:ext cx="1371600" cy="1289304"/>
          </a:xfrm>
          <a:prstGeom prst="rect">
            <a:avLst/>
          </a:prstGeom>
        </p:spPr>
      </p:pic>
      <p:sp>
        <p:nvSpPr>
          <p:cNvPr id="3" name="Text 0"/>
          <p:cNvSpPr/>
          <p:nvPr/>
        </p:nvSpPr>
        <p:spPr>
          <a:xfrm>
            <a:off x="731520" y="2331720"/>
            <a:ext cx="10698480" cy="685800"/>
          </a:xfrm>
          <a:prstGeom prst="rect">
            <a:avLst/>
          </a:prstGeom>
          <a:noFill/>
          <a:ln/>
        </p:spPr>
        <p:txBody>
          <a:bodyPr wrap="square" lIns="0" tIns="0" rIns="0" bIns="0" rtlCol="0" anchor="ctr"/>
          <a:lstStyle/>
          <a:p>
            <a:pPr algn="ctr" indent="0" marL="0">
              <a:buNone/>
            </a:pPr>
            <a:r>
              <a:rPr lang="en-US" sz="4000" dirty="0">
                <a:solidFill>
                  <a:srgbClr val="FFFFFF"/>
                </a:solidFill>
                <a:latin typeface="Georgia" pitchFamily="34" charset="0"/>
                <a:ea typeface="Georgia" pitchFamily="34" charset="-122"/>
                <a:cs typeface="Georgia" pitchFamily="34" charset="-120"/>
              </a:rPr>
              <a:t>My Business Pays My Mortgage</a:t>
            </a:r>
            <a:endParaRPr lang="en-US" sz="4000" dirty="0"/>
          </a:p>
        </p:txBody>
      </p:sp>
      <p:sp>
        <p:nvSpPr>
          <p:cNvPr id="4" name="Text 1"/>
          <p:cNvSpPr/>
          <p:nvPr/>
        </p:nvSpPr>
        <p:spPr>
          <a:xfrm>
            <a:off x="731520" y="2971800"/>
            <a:ext cx="10698480" cy="777240"/>
          </a:xfrm>
          <a:prstGeom prst="rect">
            <a:avLst/>
          </a:prstGeom>
          <a:noFill/>
          <a:ln/>
        </p:spPr>
        <p:txBody>
          <a:bodyPr wrap="square" lIns="0" tIns="0" rIns="0" bIns="0" rtlCol="0" anchor="ctr"/>
          <a:lstStyle/>
          <a:p>
            <a:pPr algn="ctr" indent="0" marL="0">
              <a:buNone/>
            </a:pPr>
            <a:r>
              <a:rPr lang="en-US" sz="4000" b="1" dirty="0">
                <a:solidFill>
                  <a:srgbClr val="C9A97E"/>
                </a:solidFill>
                <a:latin typeface="Georgia" pitchFamily="34" charset="0"/>
                <a:ea typeface="Georgia" pitchFamily="34" charset="-122"/>
                <a:cs typeface="Georgia" pitchFamily="34" charset="-120"/>
              </a:rPr>
              <a:t>Is That a Problem?</a:t>
            </a:r>
            <a:endParaRPr lang="en-US" sz="4000" dirty="0"/>
          </a:p>
        </p:txBody>
      </p:sp>
      <p:sp>
        <p:nvSpPr>
          <p:cNvPr id="5" name="Text 2"/>
          <p:cNvSpPr/>
          <p:nvPr/>
        </p:nvSpPr>
        <p:spPr>
          <a:xfrm>
            <a:off x="731520" y="3794760"/>
            <a:ext cx="10698480" cy="457200"/>
          </a:xfrm>
          <a:prstGeom prst="rect">
            <a:avLst/>
          </a:prstGeom>
          <a:noFill/>
          <a:ln/>
        </p:spPr>
        <p:txBody>
          <a:bodyPr wrap="square" lIns="0" tIns="0" rIns="0" bIns="0" rtlCol="0" anchor="ctr"/>
          <a:lstStyle/>
          <a:p>
            <a:pPr algn="ctr" indent="0" marL="0">
              <a:buNone/>
            </a:pPr>
            <a:r>
              <a:rPr lang="en-US" sz="1800" i="1" dirty="0">
                <a:solidFill>
                  <a:srgbClr val="C7D2D6"/>
                </a:solidFill>
                <a:latin typeface="Calibri" pitchFamily="34" charset="0"/>
                <a:ea typeface="Calibri" pitchFamily="34" charset="-122"/>
                <a:cs typeface="Calibri" pitchFamily="34" charset="-120"/>
              </a:rPr>
              <a:t>The Real Cost of Putting Your House on the Company Balance Sheet</a:t>
            </a:r>
            <a:endParaRPr lang="en-US" sz="1800" dirty="0"/>
          </a:p>
        </p:txBody>
      </p:sp>
      <p:sp>
        <p:nvSpPr>
          <p:cNvPr id="6" name="Shape 3"/>
          <p:cNvSpPr/>
          <p:nvPr/>
        </p:nvSpPr>
        <p:spPr>
          <a:xfrm>
            <a:off x="5166360" y="4434840"/>
            <a:ext cx="1828800" cy="0"/>
          </a:xfrm>
          <a:prstGeom prst="line">
            <a:avLst/>
          </a:prstGeom>
          <a:noFill/>
          <a:ln w="19050">
            <a:solidFill>
              <a:srgbClr val="C9A97E"/>
            </a:solidFill>
            <a:prstDash val="solid"/>
          </a:ln>
        </p:spPr>
      </p:sp>
      <p:sp>
        <p:nvSpPr>
          <p:cNvPr id="7" name="Text 4"/>
          <p:cNvSpPr/>
          <p:nvPr/>
        </p:nvSpPr>
        <p:spPr>
          <a:xfrm>
            <a:off x="731520" y="4617720"/>
            <a:ext cx="10698480" cy="365760"/>
          </a:xfrm>
          <a:prstGeom prst="rect">
            <a:avLst/>
          </a:prstGeom>
          <a:noFill/>
          <a:ln/>
        </p:spPr>
        <p:txBody>
          <a:bodyPr wrap="square" lIns="0" tIns="0" rIns="0" bIns="0" rtlCol="0" anchor="ctr"/>
          <a:lstStyle/>
          <a:p>
            <a:pPr algn="ctr" indent="0" marL="0">
              <a:buNone/>
            </a:pPr>
            <a:r>
              <a:rPr lang="en-US" sz="1400" dirty="0">
                <a:solidFill>
                  <a:srgbClr val="9FB0B6"/>
                </a:solidFill>
                <a:latin typeface="Calibri" pitchFamily="34" charset="0"/>
                <a:ea typeface="Calibri" pitchFamily="34" charset="-122"/>
                <a:cs typeface="Calibri" pitchFamily="34" charset="-120"/>
              </a:rPr>
              <a:t>A field guide for owners who moved personal property onto the books</a:t>
            </a:r>
            <a:endParaRPr lang="en-US" sz="1400" dirty="0"/>
          </a:p>
        </p:txBody>
      </p:sp>
      <p:sp>
        <p:nvSpPr>
          <p:cNvPr id="8" name="Text 5"/>
          <p:cNvSpPr/>
          <p:nvPr/>
        </p:nvSpPr>
        <p:spPr>
          <a:xfrm>
            <a:off x="731520" y="6263640"/>
            <a:ext cx="10698480" cy="320040"/>
          </a:xfrm>
          <a:prstGeom prst="rect">
            <a:avLst/>
          </a:prstGeom>
          <a:noFill/>
          <a:ln/>
        </p:spPr>
        <p:txBody>
          <a:bodyPr wrap="square" lIns="0" tIns="0" rIns="0" bIns="0" rtlCol="0" anchor="ctr"/>
          <a:lstStyle/>
          <a:p>
            <a:pPr algn="ctr" indent="0" marL="0">
              <a:buNone/>
            </a:pPr>
            <a:r>
              <a:rPr lang="en-US" sz="1100" spc="150" kern="0" dirty="0">
                <a:solidFill>
                  <a:srgbClr val="7F9095"/>
                </a:solidFill>
                <a:latin typeface="Arial" pitchFamily="34" charset="0"/>
                <a:ea typeface="Arial" pitchFamily="34" charset="-122"/>
                <a:cs typeface="Arial" pitchFamily="34" charset="-120"/>
              </a:rPr>
              <a:t>NÁCAR &amp; LEDGER  |  Financial &amp; Operations Consulting  |  Providence, 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822960"/>
            <a:ext cx="502920" cy="0"/>
          </a:xfrm>
          <a:prstGeom prst="line">
            <a:avLst/>
          </a:prstGeom>
          <a:noFill/>
          <a:ln w="25400">
            <a:solidFill>
              <a:srgbClr val="8C7A54"/>
            </a:solidFill>
            <a:prstDash val="solid"/>
          </a:ln>
        </p:spPr>
      </p:sp>
      <p:sp>
        <p:nvSpPr>
          <p:cNvPr id="3" name="Text 1"/>
          <p:cNvSpPr/>
          <p:nvPr/>
        </p:nvSpPr>
        <p:spPr>
          <a:xfrm>
            <a:off x="731520" y="960120"/>
            <a:ext cx="10698480" cy="365760"/>
          </a:xfrm>
          <a:prstGeom prst="rect">
            <a:avLst/>
          </a:prstGeom>
          <a:noFill/>
          <a:ln/>
        </p:spPr>
        <p:txBody>
          <a:bodyPr wrap="square" lIns="0" tIns="0" rIns="0" bIns="0" rtlCol="0" anchor="ctr"/>
          <a:lstStyle/>
          <a:p>
            <a:pPr indent="0" marL="0">
              <a:buNone/>
            </a:pPr>
            <a:r>
              <a:rPr lang="en-US" sz="1300" b="1" spc="200" kern="0" dirty="0">
                <a:solidFill>
                  <a:srgbClr val="8C7A54"/>
                </a:solidFill>
                <a:latin typeface="Arial" pitchFamily="34" charset="0"/>
                <a:ea typeface="Arial" pitchFamily="34" charset="-122"/>
                <a:cs typeface="Arial" pitchFamily="34" charset="-120"/>
              </a:rPr>
              <a:t>A NOTE BEFORE WE START</a:t>
            </a:r>
            <a:endParaRPr lang="en-US" sz="1300" dirty="0"/>
          </a:p>
        </p:txBody>
      </p:sp>
      <p:sp>
        <p:nvSpPr>
          <p:cNvPr id="4" name="Text 2"/>
          <p:cNvSpPr/>
          <p:nvPr/>
        </p:nvSpPr>
        <p:spPr>
          <a:xfrm>
            <a:off x="731520" y="1508760"/>
            <a:ext cx="10698480" cy="1554480"/>
          </a:xfrm>
          <a:prstGeom prst="rect">
            <a:avLst/>
          </a:prstGeom>
          <a:noFill/>
          <a:ln/>
        </p:spPr>
        <p:txBody>
          <a:bodyPr wrap="square" lIns="0" tIns="0" rIns="0" bIns="0" rtlCol="0" anchor="ctr"/>
          <a:lstStyle/>
          <a:p>
            <a:pPr indent="0" marL="0">
              <a:lnSpc>
                <a:spcPct val="135000"/>
              </a:lnSpc>
              <a:buNone/>
            </a:pPr>
            <a:r>
              <a:rPr lang="en-US" sz="1650" dirty="0">
                <a:solidFill>
                  <a:srgbClr val="24303A"/>
                </a:solidFill>
                <a:latin typeface="Calibri" pitchFamily="34" charset="0"/>
                <a:ea typeface="Calibri" pitchFamily="34" charset="-122"/>
                <a:cs typeface="Calibri" pitchFamily="34" charset="-120"/>
              </a:rPr>
              <a:t>This presentation is provided for general educational purposes only and does not constitute tax, legal, or accounting advice for any specific individual or entity. The treatment of personal property transferred to a business, mortgage assumptions, and distributions depends heavily on the facts and circumstances of each situation — what applies to one business may not apply to another.</a:t>
            </a:r>
            <a:endParaRPr lang="en-US" sz="1650" dirty="0"/>
          </a:p>
        </p:txBody>
      </p:sp>
      <p:sp>
        <p:nvSpPr>
          <p:cNvPr id="5" name="Text 3"/>
          <p:cNvSpPr/>
          <p:nvPr/>
        </p:nvSpPr>
        <p:spPr>
          <a:xfrm>
            <a:off x="731520" y="3246120"/>
            <a:ext cx="10698480" cy="1188720"/>
          </a:xfrm>
          <a:prstGeom prst="rect">
            <a:avLst/>
          </a:prstGeom>
          <a:noFill/>
          <a:ln/>
        </p:spPr>
        <p:txBody>
          <a:bodyPr wrap="square" lIns="0" tIns="0" rIns="0" bIns="0" rtlCol="0" anchor="ctr"/>
          <a:lstStyle/>
          <a:p>
            <a:pPr indent="0" marL="0">
              <a:lnSpc>
                <a:spcPct val="135000"/>
              </a:lnSpc>
              <a:buNone/>
            </a:pPr>
            <a:r>
              <a:rPr lang="en-US" sz="1650" i="1" dirty="0">
                <a:solidFill>
                  <a:srgbClr val="5B6670"/>
                </a:solidFill>
                <a:latin typeface="Calibri" pitchFamily="34" charset="0"/>
                <a:ea typeface="Calibri" pitchFamily="34" charset="-122"/>
                <a:cs typeface="Calibri" pitchFamily="34" charset="-120"/>
              </a:rPr>
              <a:t>Nothing in this deck should be relied upon in place of consultation with a qualified CPA, tax advisor, or attorney regarding your specific situation. Nácar &amp; Ledger is glad to discuss how these issues may apply to your business directly.</a:t>
            </a:r>
            <a:endParaRPr lang="en-US" sz="1650" dirty="0"/>
          </a:p>
        </p:txBody>
      </p:sp>
      <p:sp>
        <p:nvSpPr>
          <p:cNvPr id="6" name="Text 4"/>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7" name="Text 5"/>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731520" y="548640"/>
            <a:ext cx="10698480" cy="457200"/>
          </a:xfrm>
          <a:prstGeom prst="rect">
            <a:avLst/>
          </a:prstGeom>
          <a:noFill/>
          <a:ln/>
        </p:spPr>
        <p:txBody>
          <a:bodyPr wrap="square" lIns="0" tIns="0" rIns="0" bIns="0" rtlCol="0" anchor="ctr"/>
          <a:lstStyle/>
          <a:p>
            <a:pPr indent="0" marL="0">
              <a:buNone/>
            </a:pPr>
            <a:r>
              <a:rPr lang="en-US" sz="1400" b="1" spc="200" kern="0" dirty="0">
                <a:solidFill>
                  <a:srgbClr val="C9A97E"/>
                </a:solidFill>
                <a:latin typeface="Arial" pitchFamily="34" charset="0"/>
                <a:ea typeface="Arial" pitchFamily="34" charset="-122"/>
                <a:cs typeface="Arial" pitchFamily="34" charset="-120"/>
              </a:rPr>
              <a:t>WHY THIS LIST EXISTS</a:t>
            </a:r>
            <a:endParaRPr lang="en-US" sz="1400" dirty="0"/>
          </a:p>
        </p:txBody>
      </p:sp>
      <p:sp>
        <p:nvSpPr>
          <p:cNvPr id="3" name="Text 1"/>
          <p:cNvSpPr/>
          <p:nvPr/>
        </p:nvSpPr>
        <p:spPr>
          <a:xfrm>
            <a:off x="731520" y="1234440"/>
            <a:ext cx="10698480" cy="640080"/>
          </a:xfrm>
          <a:prstGeom prst="rect">
            <a:avLst/>
          </a:prstGeom>
          <a:noFill/>
          <a:ln/>
        </p:spPr>
        <p:txBody>
          <a:bodyPr wrap="square" lIns="0" tIns="0" rIns="0" bIns="0" rtlCol="0" anchor="ctr"/>
          <a:lstStyle/>
          <a:p>
            <a:pPr indent="0" marL="0">
              <a:buNone/>
            </a:pPr>
            <a:r>
              <a:rPr lang="en-US" sz="2600" dirty="0">
                <a:solidFill>
                  <a:srgbClr val="FFFFFF"/>
                </a:solidFill>
                <a:latin typeface="Georgia" pitchFamily="34" charset="0"/>
                <a:ea typeface="Georgia" pitchFamily="34" charset="-122"/>
                <a:cs typeface="Georgia" pitchFamily="34" charset="-120"/>
              </a:rPr>
              <a:t>Putting your house on the business books feels like a formality — it's your business, it's your house.</a:t>
            </a:r>
            <a:endParaRPr lang="en-US" sz="2600" dirty="0"/>
          </a:p>
        </p:txBody>
      </p:sp>
      <p:sp>
        <p:nvSpPr>
          <p:cNvPr id="4" name="Text 2"/>
          <p:cNvSpPr/>
          <p:nvPr/>
        </p:nvSpPr>
        <p:spPr>
          <a:xfrm>
            <a:off x="731520" y="1874520"/>
            <a:ext cx="10698480" cy="640080"/>
          </a:xfrm>
          <a:prstGeom prst="rect">
            <a:avLst/>
          </a:prstGeom>
          <a:noFill/>
          <a:ln/>
        </p:spPr>
        <p:txBody>
          <a:bodyPr wrap="square" lIns="0" tIns="0" rIns="0" bIns="0" rtlCol="0" anchor="ctr"/>
          <a:lstStyle/>
          <a:p>
            <a:pPr indent="0" marL="0">
              <a:buNone/>
            </a:pPr>
            <a:r>
              <a:rPr lang="en-US" sz="2600" dirty="0">
                <a:solidFill>
                  <a:srgbClr val="C9A97E"/>
                </a:solidFill>
                <a:latin typeface="Georgia" pitchFamily="34" charset="0"/>
                <a:ea typeface="Georgia" pitchFamily="34" charset="-122"/>
                <a:cs typeface="Georgia" pitchFamily="34" charset="-120"/>
              </a:rPr>
              <a:t>It stops feeling like a formality the day a lender calls the loan due, or an examiner asks who actually owns what.</a:t>
            </a:r>
            <a:endParaRPr lang="en-US" sz="2600" dirty="0"/>
          </a:p>
        </p:txBody>
      </p:sp>
      <p:sp>
        <p:nvSpPr>
          <p:cNvPr id="5" name="Shape 3"/>
          <p:cNvSpPr/>
          <p:nvPr/>
        </p:nvSpPr>
        <p:spPr>
          <a:xfrm>
            <a:off x="731520" y="2880360"/>
            <a:ext cx="3429000" cy="2606040"/>
          </a:xfrm>
          <a:prstGeom prst="roundRect">
            <a:avLst>
              <a:gd name="adj" fmla="val 2807"/>
            </a:avLst>
          </a:prstGeom>
          <a:solidFill>
            <a:srgbClr val="081F33"/>
          </a:solidFill>
          <a:ln w="9525">
            <a:solidFill>
              <a:srgbClr val="8C7A54"/>
            </a:solidFill>
            <a:prstDash val="solid"/>
          </a:ln>
        </p:spPr>
      </p:sp>
      <p:sp>
        <p:nvSpPr>
          <p:cNvPr id="6" name="Text 4"/>
          <p:cNvSpPr/>
          <p:nvPr/>
        </p:nvSpPr>
        <p:spPr>
          <a:xfrm>
            <a:off x="100584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No real transaction recorded</a:t>
            </a:r>
            <a:endParaRPr lang="en-US" sz="1800" dirty="0"/>
          </a:p>
        </p:txBody>
      </p:sp>
      <p:sp>
        <p:nvSpPr>
          <p:cNvPr id="7" name="Text 5"/>
          <p:cNvSpPr/>
          <p:nvPr/>
        </p:nvSpPr>
        <p:spPr>
          <a:xfrm>
            <a:off x="100584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The IRS treats an asset added with no offsetting entry as if nothing legitimate happened at all — the paper trail simply doesn't exist.</a:t>
            </a:r>
            <a:endParaRPr lang="en-US" sz="1300" dirty="0"/>
          </a:p>
        </p:txBody>
      </p:sp>
      <p:sp>
        <p:nvSpPr>
          <p:cNvPr id="8" name="Shape 6"/>
          <p:cNvSpPr/>
          <p:nvPr/>
        </p:nvSpPr>
        <p:spPr>
          <a:xfrm>
            <a:off x="4434840" y="2880360"/>
            <a:ext cx="3429000" cy="2606040"/>
          </a:xfrm>
          <a:prstGeom prst="roundRect">
            <a:avLst>
              <a:gd name="adj" fmla="val 2807"/>
            </a:avLst>
          </a:prstGeom>
          <a:solidFill>
            <a:srgbClr val="081F33"/>
          </a:solidFill>
          <a:ln w="9525">
            <a:solidFill>
              <a:srgbClr val="8C7A54"/>
            </a:solidFill>
            <a:prstDash val="solid"/>
          </a:ln>
        </p:spPr>
      </p:sp>
      <p:sp>
        <p:nvSpPr>
          <p:cNvPr id="9" name="Text 7"/>
          <p:cNvSpPr/>
          <p:nvPr/>
        </p:nvSpPr>
        <p:spPr>
          <a:xfrm>
            <a:off x="470916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Mortgage acceleration risk</a:t>
            </a:r>
            <a:endParaRPr lang="en-US" sz="1800" dirty="0"/>
          </a:p>
        </p:txBody>
      </p:sp>
      <p:sp>
        <p:nvSpPr>
          <p:cNvPr id="10" name="Text 8"/>
          <p:cNvSpPr/>
          <p:nvPr/>
        </p:nvSpPr>
        <p:spPr>
          <a:xfrm>
            <a:off x="470916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Most residential mortgages have a due-on-sale clause — transferring the property without lender consent can make the entire balance due immediately.</a:t>
            </a:r>
            <a:endParaRPr lang="en-US" sz="1300" dirty="0"/>
          </a:p>
        </p:txBody>
      </p:sp>
      <p:sp>
        <p:nvSpPr>
          <p:cNvPr id="11" name="Shape 9"/>
          <p:cNvSpPr/>
          <p:nvPr/>
        </p:nvSpPr>
        <p:spPr>
          <a:xfrm>
            <a:off x="8138160" y="2880360"/>
            <a:ext cx="3429000" cy="2606040"/>
          </a:xfrm>
          <a:prstGeom prst="roundRect">
            <a:avLst>
              <a:gd name="adj" fmla="val 2807"/>
            </a:avLst>
          </a:prstGeom>
          <a:solidFill>
            <a:srgbClr val="081F33"/>
          </a:solidFill>
          <a:ln w="9525">
            <a:solidFill>
              <a:srgbClr val="8C7A54"/>
            </a:solidFill>
            <a:prstDash val="solid"/>
          </a:ln>
        </p:spPr>
      </p:sp>
      <p:sp>
        <p:nvSpPr>
          <p:cNvPr id="12" name="Text 10"/>
          <p:cNvSpPr/>
          <p:nvPr/>
        </p:nvSpPr>
        <p:spPr>
          <a:xfrm>
            <a:off x="841248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Liability shield reversed</a:t>
            </a:r>
            <a:endParaRPr lang="en-US" sz="1800" dirty="0"/>
          </a:p>
        </p:txBody>
      </p:sp>
      <p:sp>
        <p:nvSpPr>
          <p:cNvPr id="13" name="Text 11"/>
          <p:cNvSpPr/>
          <p:nvPr/>
        </p:nvSpPr>
        <p:spPr>
          <a:xfrm>
            <a:off x="841248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An entity formed to protect personal assets now exposes that same asset directly to business creditors — the opposite of what it was built to do.</a:t>
            </a:r>
            <a:endParaRPr lang="en-US" sz="1300" dirty="0"/>
          </a:p>
        </p:txBody>
      </p:sp>
      <p:sp>
        <p:nvSpPr>
          <p:cNvPr id="14" name="Text 12"/>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5" name="Text 13"/>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1</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No Capital Contribution Recorded</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property shows up as a business asset, but nothing on the other side of the entry — no equity contribution, no loan, no consideration of any kind.</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It's the owner's house and the owner's business, so the transfer feels like moving money between two pockets of the same coat.</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Without an offsetting entry, there's no legitimate basis for the asset at all — everything built on top of it, including depreciation, stands on nothing.</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2</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Ignoring the Due-on-Sale Clause</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mortgage moves onto the business books along with the property, with no call to the lender and no consent obtained.</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The loan and the house feel like a package deal — nobody thinks to check whether the lender has a say in it.</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Most residential mortgages can be called due in full the moment title changes without consent — a technicality that only matters until the lender notices.</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3</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Treating Mortgage Payments as a Business Expense</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Monthly mortgage payments get booked as rent, occupancy cost, or a straightforward business expense.</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The payment comes out of the business account, so it gets categorized like any other outgoing bill.</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A personal mortgage paid by the business is a distribution or compensation, not a deduction — booking it as an expense overstates costs and understates what the owner actually took out.</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4</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No Basis or Depreciation Tracking</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business starts depreciating the property as a fixed asset, using whatever number was on hand at the time.</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Depreciation feels like a standard step for any asset on the books, regardless of how it got there.</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Depreciation claimed against basis that was never properly established gets unwound — with interest — the moment anyone looks closely enough to ask where the number came from.</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5</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Inverting the Liability Shield</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very asset the entity was formed to protect is now sitting inside the entity, exposed to its liabilities instead of shielded from them.</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Nobody connects “put it on the books for tax purposes” with “now a business creditor can reach it.”</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A lawsuit, a bad debt, or a business bankruptcy now reaches an asset that was supposed to be untouchable — the protection was paid for and then undone.</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6</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No Fair Market Value Documentation</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property is added to the books at a round number, an old purchase price, or whatever felt reasonable — no appraisal, no formal valuation.</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Getting a real valuation feels like an unnecessary step for a transfer that already feels informal.</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Every later event — a sale, a refinance, an estate settlement, an audit — needs a number nobody can actually defend.</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698480" cy="64008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How This Actually Catches Up With You</a:t>
            </a:r>
            <a:endParaRPr lang="en-US" sz="2800" dirty="0"/>
          </a:p>
        </p:txBody>
      </p:sp>
      <p:sp>
        <p:nvSpPr>
          <p:cNvPr id="3" name="Text 1"/>
          <p:cNvSpPr/>
          <p:nvPr/>
        </p:nvSpPr>
        <p:spPr>
          <a:xfrm>
            <a:off x="731520" y="1097280"/>
            <a:ext cx="10698480" cy="411480"/>
          </a:xfrm>
          <a:prstGeom prst="rect">
            <a:avLst/>
          </a:prstGeom>
          <a:noFill/>
          <a:ln/>
        </p:spPr>
        <p:txBody>
          <a:bodyPr wrap="square" lIns="0" tIns="0" rIns="0" bIns="0" rtlCol="0" anchor="ctr"/>
          <a:lstStyle/>
          <a:p>
            <a:pPr indent="0" marL="0">
              <a:buNone/>
            </a:pPr>
            <a:r>
              <a:rPr lang="en-US" sz="1400" i="1" dirty="0">
                <a:solidFill>
                  <a:srgbClr val="5B6670"/>
                </a:solidFill>
                <a:latin typeface="Calibri" pitchFamily="34" charset="0"/>
                <a:ea typeface="Calibri" pitchFamily="34" charset="-122"/>
                <a:cs typeface="Calibri" pitchFamily="34" charset="-120"/>
              </a:rPr>
              <a:t>An undocumented property transfer resolves itself one of two ways — and one is a lot more expensive than the other.</a:t>
            </a:r>
            <a:endParaRPr lang="en-US" sz="1400" dirty="0"/>
          </a:p>
        </p:txBody>
      </p:sp>
      <p:sp>
        <p:nvSpPr>
          <p:cNvPr id="4" name="Shape 2"/>
          <p:cNvSpPr/>
          <p:nvPr/>
        </p:nvSpPr>
        <p:spPr>
          <a:xfrm>
            <a:off x="731520" y="1783080"/>
            <a:ext cx="5074920" cy="4160520"/>
          </a:xfrm>
          <a:prstGeom prst="roundRect">
            <a:avLst>
              <a:gd name="adj" fmla="val 1758"/>
            </a:avLst>
          </a:prstGeom>
          <a:solidFill>
            <a:srgbClr val="F7F2EA"/>
          </a:solidFill>
          <a:ln w="12700">
            <a:solidFill>
              <a:srgbClr val="8C7A54"/>
            </a:solidFill>
            <a:prstDash val="solid"/>
          </a:ln>
        </p:spPr>
      </p:sp>
      <p:sp>
        <p:nvSpPr>
          <p:cNvPr id="5" name="Text 3"/>
          <p:cNvSpPr/>
          <p:nvPr/>
        </p:nvSpPr>
        <p:spPr>
          <a:xfrm>
            <a:off x="1051560" y="2011680"/>
            <a:ext cx="4434840" cy="320040"/>
          </a:xfrm>
          <a:prstGeom prst="rect">
            <a:avLst/>
          </a:prstGeom>
          <a:noFill/>
          <a:ln/>
        </p:spPr>
        <p:txBody>
          <a:bodyPr wrap="square" lIns="0" tIns="0" rIns="0" bIns="0" rtlCol="0" anchor="ctr"/>
          <a:lstStyle/>
          <a:p>
            <a:pPr indent="0" marL="0">
              <a:buNone/>
            </a:pPr>
            <a:r>
              <a:rPr lang="en-US" sz="1200" b="1" spc="200" kern="0" dirty="0">
                <a:solidFill>
                  <a:srgbClr val="8C7A54"/>
                </a:solidFill>
                <a:latin typeface="Arial" pitchFamily="34" charset="0"/>
                <a:ea typeface="Arial" pitchFamily="34" charset="-122"/>
                <a:cs typeface="Arial" pitchFamily="34" charset="-120"/>
              </a:rPr>
              <a:t>PATH A</a:t>
            </a:r>
            <a:endParaRPr lang="en-US" sz="1200" dirty="0"/>
          </a:p>
        </p:txBody>
      </p:sp>
      <p:sp>
        <p:nvSpPr>
          <p:cNvPr id="6" name="Text 4"/>
          <p:cNvSpPr/>
          <p:nvPr/>
        </p:nvSpPr>
        <p:spPr>
          <a:xfrm>
            <a:off x="1051560" y="2331720"/>
            <a:ext cx="4434840" cy="685800"/>
          </a:xfrm>
          <a:prstGeom prst="rect">
            <a:avLst/>
          </a:prstGeom>
          <a:noFill/>
          <a:ln/>
        </p:spPr>
        <p:txBody>
          <a:bodyPr wrap="square" lIns="0" tIns="0" rIns="0" bIns="0" rtlCol="0" anchor="ctr"/>
          <a:lstStyle/>
          <a:p>
            <a:pPr indent="0" marL="0">
              <a:buNone/>
            </a:pPr>
            <a:r>
              <a:rPr lang="en-US" sz="2100" b="1" dirty="0">
                <a:solidFill>
                  <a:srgbClr val="0E3A5F"/>
                </a:solidFill>
                <a:latin typeface="Georgia" pitchFamily="34" charset="0"/>
                <a:ea typeface="Georgia" pitchFamily="34" charset="-122"/>
                <a:cs typeface="Georgia" pitchFamily="34" charset="-120"/>
              </a:rPr>
              <a:t>You Unwind It Yourself</a:t>
            </a:r>
            <a:endParaRPr lang="en-US" sz="2100" dirty="0"/>
          </a:p>
        </p:txBody>
      </p:sp>
      <p:sp>
        <p:nvSpPr>
          <p:cNvPr id="7" name="Text 5"/>
          <p:cNvSpPr/>
          <p:nvPr/>
        </p:nvSpPr>
        <p:spPr>
          <a:xfrm>
            <a:off x="1051560" y="3063240"/>
            <a:ext cx="4434840" cy="1188720"/>
          </a:xfrm>
          <a:prstGeom prst="rect">
            <a:avLst/>
          </a:prstGeom>
          <a:noFill/>
          <a:ln/>
        </p:spPr>
        <p:txBody>
          <a:bodyPr wrap="square" lIns="0" tIns="0" rIns="0" bIns="0" rtlCol="0" anchor="ctr"/>
          <a:lstStyle/>
          <a:p>
            <a:pPr indent="0" marL="0">
              <a:lnSpc>
                <a:spcPct val="125000"/>
              </a:lnSpc>
              <a:buNone/>
            </a:pPr>
            <a:r>
              <a:rPr lang="en-US" sz="1450" dirty="0">
                <a:solidFill>
                  <a:srgbClr val="24303A"/>
                </a:solidFill>
                <a:latin typeface="Calibri" pitchFamily="34" charset="0"/>
                <a:ea typeface="Calibri" pitchFamily="34" charset="-122"/>
                <a:cs typeface="Calibri" pitchFamily="34" charset="-120"/>
              </a:rPr>
              <a:t>The contribution or distribution gets recorded properly, basis gets corrected, and the mortgage question gets addressed with the lender directly.</a:t>
            </a:r>
            <a:endParaRPr lang="en-US" sz="1450" dirty="0"/>
          </a:p>
        </p:txBody>
      </p:sp>
      <p:sp>
        <p:nvSpPr>
          <p:cNvPr id="8" name="Shape 6"/>
          <p:cNvSpPr/>
          <p:nvPr/>
        </p:nvSpPr>
        <p:spPr>
          <a:xfrm>
            <a:off x="1051560" y="4343400"/>
            <a:ext cx="4434840" cy="0"/>
          </a:xfrm>
          <a:prstGeom prst="line">
            <a:avLst/>
          </a:prstGeom>
          <a:noFill/>
          <a:ln w="9525">
            <a:solidFill>
              <a:srgbClr val="8C7A54"/>
            </a:solidFill>
            <a:prstDash val="dash"/>
          </a:ln>
        </p:spPr>
      </p:sp>
      <p:sp>
        <p:nvSpPr>
          <p:cNvPr id="9" name="Text 7"/>
          <p:cNvSpPr/>
          <p:nvPr/>
        </p:nvSpPr>
        <p:spPr>
          <a:xfrm>
            <a:off x="1051560" y="4526280"/>
            <a:ext cx="4434840" cy="1280160"/>
          </a:xfrm>
          <a:prstGeom prst="rect">
            <a:avLst/>
          </a:prstGeom>
          <a:noFill/>
          <a:ln/>
        </p:spPr>
        <p:txBody>
          <a:bodyPr wrap="square" lIns="0" tIns="0" rIns="0" bIns="0" rtlCol="0" anchor="ctr"/>
          <a:lstStyle/>
          <a:p>
            <a:pPr indent="0" marL="0">
              <a:lnSpc>
                <a:spcPct val="125000"/>
              </a:lnSpc>
              <a:buNone/>
            </a:pPr>
            <a:r>
              <a:rPr lang="en-US" sz="1450" b="1" dirty="0">
                <a:solidFill>
                  <a:srgbClr val="8C7A54"/>
                </a:solidFill>
                <a:latin typeface="Calibri" pitchFamily="34" charset="0"/>
                <a:ea typeface="Calibri" pitchFamily="34" charset="-122"/>
                <a:cs typeface="Calibri" pitchFamily="34" charset="-120"/>
              </a:rPr>
              <a:t>The fix happens quietly, on your own timeline, before anyone else is asking questions.</a:t>
            </a:r>
            <a:endParaRPr lang="en-US" sz="1450" dirty="0"/>
          </a:p>
        </p:txBody>
      </p:sp>
      <p:sp>
        <p:nvSpPr>
          <p:cNvPr id="10" name="Shape 8"/>
          <p:cNvSpPr/>
          <p:nvPr/>
        </p:nvSpPr>
        <p:spPr>
          <a:xfrm>
            <a:off x="6355080" y="1783080"/>
            <a:ext cx="5074920" cy="4160520"/>
          </a:xfrm>
          <a:prstGeom prst="roundRect">
            <a:avLst>
              <a:gd name="adj" fmla="val 1758"/>
            </a:avLst>
          </a:prstGeom>
          <a:solidFill>
            <a:srgbClr val="F7F2EA"/>
          </a:solidFill>
          <a:ln w="12700">
            <a:solidFill>
              <a:srgbClr val="B8664F"/>
            </a:solidFill>
            <a:prstDash val="solid"/>
          </a:ln>
        </p:spPr>
      </p:sp>
      <p:sp>
        <p:nvSpPr>
          <p:cNvPr id="11" name="Text 9"/>
          <p:cNvSpPr/>
          <p:nvPr/>
        </p:nvSpPr>
        <p:spPr>
          <a:xfrm>
            <a:off x="6675120" y="2011680"/>
            <a:ext cx="4434840" cy="320040"/>
          </a:xfrm>
          <a:prstGeom prst="rect">
            <a:avLst/>
          </a:prstGeom>
          <a:noFill/>
          <a:ln/>
        </p:spPr>
        <p:txBody>
          <a:bodyPr wrap="square" lIns="0" tIns="0" rIns="0" bIns="0" rtlCol="0" anchor="ctr"/>
          <a:lstStyle/>
          <a:p>
            <a:pPr indent="0" marL="0">
              <a:buNone/>
            </a:pPr>
            <a:r>
              <a:rPr lang="en-US" sz="1200" b="1" spc="200" kern="0" dirty="0">
                <a:solidFill>
                  <a:srgbClr val="B8664F"/>
                </a:solidFill>
                <a:latin typeface="Arial" pitchFamily="34" charset="0"/>
                <a:ea typeface="Arial" pitchFamily="34" charset="-122"/>
                <a:cs typeface="Arial" pitchFamily="34" charset="-120"/>
              </a:rPr>
              <a:t>PATH B</a:t>
            </a:r>
            <a:endParaRPr lang="en-US" sz="1200" dirty="0"/>
          </a:p>
        </p:txBody>
      </p:sp>
      <p:sp>
        <p:nvSpPr>
          <p:cNvPr id="12" name="Text 10"/>
          <p:cNvSpPr/>
          <p:nvPr/>
        </p:nvSpPr>
        <p:spPr>
          <a:xfrm>
            <a:off x="6675120" y="2331720"/>
            <a:ext cx="4434840" cy="685800"/>
          </a:xfrm>
          <a:prstGeom prst="rect">
            <a:avLst/>
          </a:prstGeom>
          <a:noFill/>
          <a:ln/>
        </p:spPr>
        <p:txBody>
          <a:bodyPr wrap="square" lIns="0" tIns="0" rIns="0" bIns="0" rtlCol="0" anchor="ctr"/>
          <a:lstStyle/>
          <a:p>
            <a:pPr indent="0" marL="0">
              <a:buNone/>
            </a:pPr>
            <a:r>
              <a:rPr lang="en-US" sz="2100" b="1" dirty="0">
                <a:solidFill>
                  <a:srgbClr val="0E3A5F"/>
                </a:solidFill>
                <a:latin typeface="Georgia" pitchFamily="34" charset="0"/>
                <a:ea typeface="Georgia" pitchFamily="34" charset="-122"/>
                <a:cs typeface="Georgia" pitchFamily="34" charset="-120"/>
              </a:rPr>
              <a:t>Someone Else Catches It First</a:t>
            </a:r>
            <a:endParaRPr lang="en-US" sz="2100" dirty="0"/>
          </a:p>
        </p:txBody>
      </p:sp>
      <p:sp>
        <p:nvSpPr>
          <p:cNvPr id="13" name="Text 11"/>
          <p:cNvSpPr/>
          <p:nvPr/>
        </p:nvSpPr>
        <p:spPr>
          <a:xfrm>
            <a:off x="6675120" y="3063240"/>
            <a:ext cx="4434840" cy="1188720"/>
          </a:xfrm>
          <a:prstGeom prst="rect">
            <a:avLst/>
          </a:prstGeom>
          <a:noFill/>
          <a:ln/>
        </p:spPr>
        <p:txBody>
          <a:bodyPr wrap="square" lIns="0" tIns="0" rIns="0" bIns="0" rtlCol="0" anchor="ctr"/>
          <a:lstStyle/>
          <a:p>
            <a:pPr indent="0" marL="0">
              <a:lnSpc>
                <a:spcPct val="125000"/>
              </a:lnSpc>
              <a:buNone/>
            </a:pPr>
            <a:r>
              <a:rPr lang="en-US" sz="1450" dirty="0">
                <a:solidFill>
                  <a:srgbClr val="24303A"/>
                </a:solidFill>
                <a:latin typeface="Calibri" pitchFamily="34" charset="0"/>
                <a:ea typeface="Calibri" pitchFamily="34" charset="-122"/>
                <a:cs typeface="Calibri" pitchFamily="34" charset="-120"/>
              </a:rPr>
              <a:t>A lender discovers the transfer during a refinance or review and calls the loan due, or an examiner questions depreciation with no basis behind it.</a:t>
            </a:r>
            <a:endParaRPr lang="en-US" sz="1450" dirty="0"/>
          </a:p>
        </p:txBody>
      </p:sp>
      <p:sp>
        <p:nvSpPr>
          <p:cNvPr id="14" name="Shape 12"/>
          <p:cNvSpPr/>
          <p:nvPr/>
        </p:nvSpPr>
        <p:spPr>
          <a:xfrm>
            <a:off x="6675120" y="4343400"/>
            <a:ext cx="4434840" cy="0"/>
          </a:xfrm>
          <a:prstGeom prst="line">
            <a:avLst/>
          </a:prstGeom>
          <a:noFill/>
          <a:ln w="9525">
            <a:solidFill>
              <a:srgbClr val="B8664F"/>
            </a:solidFill>
            <a:prstDash val="dash"/>
          </a:ln>
        </p:spPr>
      </p:sp>
      <p:sp>
        <p:nvSpPr>
          <p:cNvPr id="15" name="Text 13"/>
          <p:cNvSpPr/>
          <p:nvPr/>
        </p:nvSpPr>
        <p:spPr>
          <a:xfrm>
            <a:off x="6675120" y="4526280"/>
            <a:ext cx="4434840" cy="1280160"/>
          </a:xfrm>
          <a:prstGeom prst="rect">
            <a:avLst/>
          </a:prstGeom>
          <a:noFill/>
          <a:ln/>
        </p:spPr>
        <p:txBody>
          <a:bodyPr wrap="square" lIns="0" tIns="0" rIns="0" bIns="0" rtlCol="0" anchor="ctr"/>
          <a:lstStyle/>
          <a:p>
            <a:pPr indent="0" marL="0">
              <a:lnSpc>
                <a:spcPct val="125000"/>
              </a:lnSpc>
              <a:buNone/>
            </a:pPr>
            <a:r>
              <a:rPr lang="en-US" sz="1450" b="1" dirty="0">
                <a:solidFill>
                  <a:srgbClr val="B8664F"/>
                </a:solidFill>
                <a:latin typeface="Calibri" pitchFamily="34" charset="0"/>
                <a:ea typeface="Calibri" pitchFamily="34" charset="-122"/>
                <a:cs typeface="Calibri" pitchFamily="34" charset="-120"/>
              </a:rPr>
              <a:t>Now it's a demand for immediate payoff, or reclassified income with penalties and interest — on someone else's timeline, not yours.</a:t>
            </a:r>
            <a:endParaRPr lang="en-US" sz="1450" dirty="0"/>
          </a:p>
        </p:txBody>
      </p:sp>
      <p:sp>
        <p:nvSpPr>
          <p:cNvPr id="16" name="Text 14"/>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7" name="Text 15"/>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698480" cy="64008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The Fix Is Almost Always the Same</a:t>
            </a:r>
            <a:endParaRPr lang="en-US" sz="2800" dirty="0"/>
          </a:p>
        </p:txBody>
      </p:sp>
      <p:sp>
        <p:nvSpPr>
          <p:cNvPr id="3" name="Shape 1"/>
          <p:cNvSpPr/>
          <p:nvPr/>
        </p:nvSpPr>
        <p:spPr>
          <a:xfrm>
            <a:off x="731520" y="1508760"/>
            <a:ext cx="594360" cy="594360"/>
          </a:xfrm>
          <a:prstGeom prst="ellipse">
            <a:avLst/>
          </a:prstGeom>
          <a:solidFill>
            <a:srgbClr val="C9A97E"/>
          </a:solidFill>
          <a:ln w="12700">
            <a:solidFill>
              <a:srgbClr val="FFFFFF"/>
            </a:solidFill>
            <a:prstDash val="solid"/>
          </a:ln>
        </p:spPr>
      </p:sp>
      <p:sp>
        <p:nvSpPr>
          <p:cNvPr id="4" name="Shape 2"/>
          <p:cNvSpPr/>
          <p:nvPr/>
        </p:nvSpPr>
        <p:spPr>
          <a:xfrm>
            <a:off x="649224" y="1426464"/>
            <a:ext cx="758952" cy="758952"/>
          </a:xfrm>
          <a:prstGeom prst="ellipse">
            <a:avLst/>
          </a:prstGeom>
          <a:ln w="15875">
            <a:solidFill>
              <a:srgbClr val="C9A97E"/>
            </a:solidFill>
            <a:prstDash val="solid"/>
          </a:ln>
        </p:spPr>
      </p:sp>
      <p:sp>
        <p:nvSpPr>
          <p:cNvPr id="5" name="Text 3"/>
          <p:cNvSpPr/>
          <p:nvPr/>
        </p:nvSpPr>
        <p:spPr>
          <a:xfrm>
            <a:off x="731520" y="15087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1554480" y="14630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Record a real transaction</a:t>
            </a:r>
            <a:endParaRPr lang="en-US" sz="1700" dirty="0"/>
          </a:p>
        </p:txBody>
      </p:sp>
      <p:sp>
        <p:nvSpPr>
          <p:cNvPr id="7" name="Text 5"/>
          <p:cNvSpPr/>
          <p:nvPr/>
        </p:nvSpPr>
        <p:spPr>
          <a:xfrm>
            <a:off x="1554480" y="19202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A capital contribution or a documented loan — never a silent transfer.</a:t>
            </a:r>
            <a:endParaRPr lang="en-US" sz="1300" dirty="0"/>
          </a:p>
        </p:txBody>
      </p:sp>
      <p:sp>
        <p:nvSpPr>
          <p:cNvPr id="8" name="Shape 6"/>
          <p:cNvSpPr/>
          <p:nvPr/>
        </p:nvSpPr>
        <p:spPr>
          <a:xfrm>
            <a:off x="6217920" y="1508760"/>
            <a:ext cx="594360" cy="594360"/>
          </a:xfrm>
          <a:prstGeom prst="ellipse">
            <a:avLst/>
          </a:prstGeom>
          <a:solidFill>
            <a:srgbClr val="C9A97E"/>
          </a:solidFill>
          <a:ln w="12700">
            <a:solidFill>
              <a:srgbClr val="FFFFFF"/>
            </a:solidFill>
            <a:prstDash val="solid"/>
          </a:ln>
        </p:spPr>
      </p:sp>
      <p:sp>
        <p:nvSpPr>
          <p:cNvPr id="9" name="Shape 7"/>
          <p:cNvSpPr/>
          <p:nvPr/>
        </p:nvSpPr>
        <p:spPr>
          <a:xfrm>
            <a:off x="6135624" y="1426464"/>
            <a:ext cx="758952" cy="758952"/>
          </a:xfrm>
          <a:prstGeom prst="ellipse">
            <a:avLst/>
          </a:prstGeom>
          <a:ln w="15875">
            <a:solidFill>
              <a:srgbClr val="C9A97E"/>
            </a:solidFill>
            <a:prstDash val="solid"/>
          </a:ln>
        </p:spPr>
      </p:sp>
      <p:sp>
        <p:nvSpPr>
          <p:cNvPr id="10" name="Text 8"/>
          <p:cNvSpPr/>
          <p:nvPr/>
        </p:nvSpPr>
        <p:spPr>
          <a:xfrm>
            <a:off x="6217920" y="15087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2</a:t>
            </a:r>
            <a:endParaRPr lang="en-US" sz="3000" dirty="0"/>
          </a:p>
        </p:txBody>
      </p:sp>
      <p:sp>
        <p:nvSpPr>
          <p:cNvPr id="11" name="Text 9"/>
          <p:cNvSpPr/>
          <p:nvPr/>
        </p:nvSpPr>
        <p:spPr>
          <a:xfrm>
            <a:off x="7040880" y="14630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Check the mortgage terms</a:t>
            </a:r>
            <a:endParaRPr lang="en-US" sz="1700" dirty="0"/>
          </a:p>
        </p:txBody>
      </p:sp>
      <p:sp>
        <p:nvSpPr>
          <p:cNvPr id="12" name="Text 10"/>
          <p:cNvSpPr/>
          <p:nvPr/>
        </p:nvSpPr>
        <p:spPr>
          <a:xfrm>
            <a:off x="7040880" y="19202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Confirm due-on-sale implications with the lender before anything moves.</a:t>
            </a:r>
            <a:endParaRPr lang="en-US" sz="1300" dirty="0"/>
          </a:p>
        </p:txBody>
      </p:sp>
      <p:sp>
        <p:nvSpPr>
          <p:cNvPr id="13" name="Shape 11"/>
          <p:cNvSpPr/>
          <p:nvPr/>
        </p:nvSpPr>
        <p:spPr>
          <a:xfrm>
            <a:off x="731520" y="3108960"/>
            <a:ext cx="594360" cy="594360"/>
          </a:xfrm>
          <a:prstGeom prst="ellipse">
            <a:avLst/>
          </a:prstGeom>
          <a:solidFill>
            <a:srgbClr val="C9A97E"/>
          </a:solidFill>
          <a:ln w="12700">
            <a:solidFill>
              <a:srgbClr val="FFFFFF"/>
            </a:solidFill>
            <a:prstDash val="solid"/>
          </a:ln>
        </p:spPr>
      </p:sp>
      <p:sp>
        <p:nvSpPr>
          <p:cNvPr id="14" name="Shape 12"/>
          <p:cNvSpPr/>
          <p:nvPr/>
        </p:nvSpPr>
        <p:spPr>
          <a:xfrm>
            <a:off x="649224" y="3026664"/>
            <a:ext cx="758952" cy="758952"/>
          </a:xfrm>
          <a:prstGeom prst="ellipse">
            <a:avLst/>
          </a:prstGeom>
          <a:ln w="15875">
            <a:solidFill>
              <a:srgbClr val="C9A97E"/>
            </a:solidFill>
            <a:prstDash val="solid"/>
          </a:ln>
        </p:spPr>
      </p:sp>
      <p:sp>
        <p:nvSpPr>
          <p:cNvPr id="15" name="Text 13"/>
          <p:cNvSpPr/>
          <p:nvPr/>
        </p:nvSpPr>
        <p:spPr>
          <a:xfrm>
            <a:off x="731520" y="31089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3</a:t>
            </a:r>
            <a:endParaRPr lang="en-US" sz="3000" dirty="0"/>
          </a:p>
        </p:txBody>
      </p:sp>
      <p:sp>
        <p:nvSpPr>
          <p:cNvPr id="16" name="Text 14"/>
          <p:cNvSpPr/>
          <p:nvPr/>
        </p:nvSpPr>
        <p:spPr>
          <a:xfrm>
            <a:off x="1554480" y="30632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Get a real valuation</a:t>
            </a:r>
            <a:endParaRPr lang="en-US" sz="1700" dirty="0"/>
          </a:p>
        </p:txBody>
      </p:sp>
      <p:sp>
        <p:nvSpPr>
          <p:cNvPr id="17" name="Text 15"/>
          <p:cNvSpPr/>
          <p:nvPr/>
        </p:nvSpPr>
        <p:spPr>
          <a:xfrm>
            <a:off x="1554480" y="35204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An appraisal or documented basis at the time of transfer, not a guess.</a:t>
            </a:r>
            <a:endParaRPr lang="en-US" sz="1300" dirty="0"/>
          </a:p>
        </p:txBody>
      </p:sp>
      <p:sp>
        <p:nvSpPr>
          <p:cNvPr id="18" name="Shape 16"/>
          <p:cNvSpPr/>
          <p:nvPr/>
        </p:nvSpPr>
        <p:spPr>
          <a:xfrm>
            <a:off x="6217920" y="3108960"/>
            <a:ext cx="594360" cy="594360"/>
          </a:xfrm>
          <a:prstGeom prst="ellipse">
            <a:avLst/>
          </a:prstGeom>
          <a:solidFill>
            <a:srgbClr val="C9A97E"/>
          </a:solidFill>
          <a:ln w="12700">
            <a:solidFill>
              <a:srgbClr val="FFFFFF"/>
            </a:solidFill>
            <a:prstDash val="solid"/>
          </a:ln>
        </p:spPr>
      </p:sp>
      <p:sp>
        <p:nvSpPr>
          <p:cNvPr id="19" name="Shape 17"/>
          <p:cNvSpPr/>
          <p:nvPr/>
        </p:nvSpPr>
        <p:spPr>
          <a:xfrm>
            <a:off x="6135624" y="3026664"/>
            <a:ext cx="758952" cy="758952"/>
          </a:xfrm>
          <a:prstGeom prst="ellipse">
            <a:avLst/>
          </a:prstGeom>
          <a:ln w="15875">
            <a:solidFill>
              <a:srgbClr val="C9A97E"/>
            </a:solidFill>
            <a:prstDash val="solid"/>
          </a:ln>
        </p:spPr>
      </p:sp>
      <p:sp>
        <p:nvSpPr>
          <p:cNvPr id="20" name="Text 18"/>
          <p:cNvSpPr/>
          <p:nvPr/>
        </p:nvSpPr>
        <p:spPr>
          <a:xfrm>
            <a:off x="6217920" y="31089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4</a:t>
            </a:r>
            <a:endParaRPr lang="en-US" sz="3000" dirty="0"/>
          </a:p>
        </p:txBody>
      </p:sp>
      <p:sp>
        <p:nvSpPr>
          <p:cNvPr id="21" name="Text 19"/>
          <p:cNvSpPr/>
          <p:nvPr/>
        </p:nvSpPr>
        <p:spPr>
          <a:xfrm>
            <a:off x="7040880" y="30632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Book payments correctly</a:t>
            </a:r>
            <a:endParaRPr lang="en-US" sz="1700" dirty="0"/>
          </a:p>
        </p:txBody>
      </p:sp>
      <p:sp>
        <p:nvSpPr>
          <p:cNvPr id="22" name="Text 20"/>
          <p:cNvSpPr/>
          <p:nvPr/>
        </p:nvSpPr>
        <p:spPr>
          <a:xfrm>
            <a:off x="7040880" y="35204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Distributions or compensation, not a business expense.</a:t>
            </a:r>
            <a:endParaRPr lang="en-US" sz="1300" dirty="0"/>
          </a:p>
        </p:txBody>
      </p:sp>
      <p:sp>
        <p:nvSpPr>
          <p:cNvPr id="23" name="Shape 21"/>
          <p:cNvSpPr/>
          <p:nvPr/>
        </p:nvSpPr>
        <p:spPr>
          <a:xfrm>
            <a:off x="731520" y="4709160"/>
            <a:ext cx="594360" cy="594360"/>
          </a:xfrm>
          <a:prstGeom prst="ellipse">
            <a:avLst/>
          </a:prstGeom>
          <a:solidFill>
            <a:srgbClr val="C9A97E"/>
          </a:solidFill>
          <a:ln w="12700">
            <a:solidFill>
              <a:srgbClr val="FFFFFF"/>
            </a:solidFill>
            <a:prstDash val="solid"/>
          </a:ln>
        </p:spPr>
      </p:sp>
      <p:sp>
        <p:nvSpPr>
          <p:cNvPr id="24" name="Shape 22"/>
          <p:cNvSpPr/>
          <p:nvPr/>
        </p:nvSpPr>
        <p:spPr>
          <a:xfrm>
            <a:off x="649224" y="4626864"/>
            <a:ext cx="758952" cy="758952"/>
          </a:xfrm>
          <a:prstGeom prst="ellipse">
            <a:avLst/>
          </a:prstGeom>
          <a:ln w="15875">
            <a:solidFill>
              <a:srgbClr val="C9A97E"/>
            </a:solidFill>
            <a:prstDash val="solid"/>
          </a:ln>
        </p:spPr>
      </p:sp>
      <p:sp>
        <p:nvSpPr>
          <p:cNvPr id="25" name="Text 23"/>
          <p:cNvSpPr/>
          <p:nvPr/>
        </p:nvSpPr>
        <p:spPr>
          <a:xfrm>
            <a:off x="731520" y="47091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5</a:t>
            </a:r>
            <a:endParaRPr lang="en-US" sz="3000" dirty="0"/>
          </a:p>
        </p:txBody>
      </p:sp>
      <p:sp>
        <p:nvSpPr>
          <p:cNvPr id="26" name="Text 24"/>
          <p:cNvSpPr/>
          <p:nvPr/>
        </p:nvSpPr>
        <p:spPr>
          <a:xfrm>
            <a:off x="1554480" y="46634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Track basis and depreciation</a:t>
            </a:r>
            <a:endParaRPr lang="en-US" sz="1700" dirty="0"/>
          </a:p>
        </p:txBody>
      </p:sp>
      <p:sp>
        <p:nvSpPr>
          <p:cNvPr id="27" name="Text 25"/>
          <p:cNvSpPr/>
          <p:nvPr/>
        </p:nvSpPr>
        <p:spPr>
          <a:xfrm>
            <a:off x="1554480" y="51206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Once the contribution is properly recorded, from that point forward.</a:t>
            </a:r>
            <a:endParaRPr lang="en-US" sz="1300" dirty="0"/>
          </a:p>
        </p:txBody>
      </p:sp>
      <p:sp>
        <p:nvSpPr>
          <p:cNvPr id="28" name="Shape 26"/>
          <p:cNvSpPr/>
          <p:nvPr/>
        </p:nvSpPr>
        <p:spPr>
          <a:xfrm>
            <a:off x="6217920" y="4709160"/>
            <a:ext cx="594360" cy="594360"/>
          </a:xfrm>
          <a:prstGeom prst="ellipse">
            <a:avLst/>
          </a:prstGeom>
          <a:solidFill>
            <a:srgbClr val="C9A97E"/>
          </a:solidFill>
          <a:ln w="12700">
            <a:solidFill>
              <a:srgbClr val="FFFFFF"/>
            </a:solidFill>
            <a:prstDash val="solid"/>
          </a:ln>
        </p:spPr>
      </p:sp>
      <p:sp>
        <p:nvSpPr>
          <p:cNvPr id="29" name="Shape 27"/>
          <p:cNvSpPr/>
          <p:nvPr/>
        </p:nvSpPr>
        <p:spPr>
          <a:xfrm>
            <a:off x="6135624" y="4626864"/>
            <a:ext cx="758952" cy="758952"/>
          </a:xfrm>
          <a:prstGeom prst="ellipse">
            <a:avLst/>
          </a:prstGeom>
          <a:ln w="15875">
            <a:solidFill>
              <a:srgbClr val="C9A97E"/>
            </a:solidFill>
            <a:prstDash val="solid"/>
          </a:ln>
        </p:spPr>
      </p:sp>
      <p:sp>
        <p:nvSpPr>
          <p:cNvPr id="30" name="Text 28"/>
          <p:cNvSpPr/>
          <p:nvPr/>
        </p:nvSpPr>
        <p:spPr>
          <a:xfrm>
            <a:off x="6217920" y="47091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6</a:t>
            </a:r>
            <a:endParaRPr lang="en-US" sz="3000" dirty="0"/>
          </a:p>
        </p:txBody>
      </p:sp>
      <p:sp>
        <p:nvSpPr>
          <p:cNvPr id="31" name="Text 29"/>
          <p:cNvSpPr/>
          <p:nvPr/>
        </p:nvSpPr>
        <p:spPr>
          <a:xfrm>
            <a:off x="7040880" y="46634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Question if it belongs there</a:t>
            </a:r>
            <a:endParaRPr lang="en-US" sz="1700" dirty="0"/>
          </a:p>
        </p:txBody>
      </p:sp>
      <p:sp>
        <p:nvSpPr>
          <p:cNvPr id="32" name="Text 30"/>
          <p:cNvSpPr/>
          <p:nvPr/>
        </p:nvSpPr>
        <p:spPr>
          <a:xfrm>
            <a:off x="7040880" y="51206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Sometimes the right fix is taking the asset back out, not documenting it better.</a:t>
            </a:r>
            <a:endParaRPr lang="en-US" sz="1300" dirty="0"/>
          </a:p>
        </p:txBody>
      </p:sp>
      <p:sp>
        <p:nvSpPr>
          <p:cNvPr id="33" name="Text 3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34" name="Text 3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F33"/>
        </a:solidFill>
      </p:bgPr>
    </p:bg>
    <p:spTree>
      <p:nvGrpSpPr>
        <p:cNvPr id="1" name=""/>
        <p:cNvGrpSpPr/>
        <p:nvPr/>
      </p:nvGrpSpPr>
      <p:grpSpPr>
        <a:xfrm>
          <a:off x="0" y="0"/>
          <a:ext cx="0" cy="0"/>
          <a:chOff x="0" y="0"/>
          <a:chExt cx="0" cy="0"/>
        </a:xfrm>
      </p:grpSpPr>
      <p:pic>
        <p:nvPicPr>
          <p:cNvPr id="2" name="Image 0" descr="/home/claude/logo_icon_transparent.png">    </p:cNvPr>
          <p:cNvPicPr>
            <a:picLocks noChangeAspect="1"/>
          </p:cNvPicPr>
          <p:nvPr/>
        </p:nvPicPr>
        <p:blipFill>
          <a:blip r:embed="rId1"/>
          <a:stretch>
            <a:fillRect/>
          </a:stretch>
        </p:blipFill>
        <p:spPr>
          <a:xfrm>
            <a:off x="5394960" y="640080"/>
            <a:ext cx="1371600" cy="1289304"/>
          </a:xfrm>
          <a:prstGeom prst="rect">
            <a:avLst/>
          </a:prstGeom>
        </p:spPr>
      </p:pic>
      <p:sp>
        <p:nvSpPr>
          <p:cNvPr id="3" name="Text 0"/>
          <p:cNvSpPr/>
          <p:nvPr/>
        </p:nvSpPr>
        <p:spPr>
          <a:xfrm>
            <a:off x="731520" y="2240280"/>
            <a:ext cx="1069848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Untangle It Before Someone Else Does</a:t>
            </a:r>
            <a:endParaRPr lang="en-US" sz="3200" dirty="0"/>
          </a:p>
        </p:txBody>
      </p:sp>
      <p:sp>
        <p:nvSpPr>
          <p:cNvPr id="4" name="Text 1"/>
          <p:cNvSpPr/>
          <p:nvPr/>
        </p:nvSpPr>
        <p:spPr>
          <a:xfrm>
            <a:off x="1645920" y="3108960"/>
            <a:ext cx="8869680" cy="822960"/>
          </a:xfrm>
          <a:prstGeom prst="rect">
            <a:avLst/>
          </a:prstGeom>
          <a:noFill/>
          <a:ln/>
        </p:spPr>
        <p:txBody>
          <a:bodyPr wrap="square" lIns="0" tIns="0" rIns="0" bIns="0" rtlCol="0" anchor="ctr"/>
          <a:lstStyle/>
          <a:p>
            <a:pPr algn="ctr" indent="0" marL="0">
              <a:lnSpc>
                <a:spcPct val="130000"/>
              </a:lnSpc>
              <a:buNone/>
            </a:pPr>
            <a:r>
              <a:rPr lang="en-US" sz="1500" i="1" dirty="0">
                <a:solidFill>
                  <a:srgbClr val="D8E0E3"/>
                </a:solidFill>
                <a:latin typeface="Calibri" pitchFamily="34" charset="0"/>
                <a:ea typeface="Calibri" pitchFamily="34" charset="-122"/>
                <a:cs typeface="Calibri" pitchFamily="34" charset="-120"/>
              </a:rPr>
              <a:t>A properly documented transfer — or no transfer at all — protects both the asset and the entity it was supposed to protect in the first place.</a:t>
            </a:r>
            <a:endParaRPr lang="en-US" sz="1500" dirty="0"/>
          </a:p>
        </p:txBody>
      </p:sp>
      <p:sp>
        <p:nvSpPr>
          <p:cNvPr id="5" name="Shape 2"/>
          <p:cNvSpPr/>
          <p:nvPr/>
        </p:nvSpPr>
        <p:spPr>
          <a:xfrm>
            <a:off x="5166360" y="4114800"/>
            <a:ext cx="1828800" cy="0"/>
          </a:xfrm>
          <a:prstGeom prst="line">
            <a:avLst/>
          </a:prstGeom>
          <a:noFill/>
          <a:ln w="19050">
            <a:solidFill>
              <a:srgbClr val="C9A97E"/>
            </a:solidFill>
            <a:prstDash val="solid"/>
          </a:ln>
        </p:spPr>
      </p:sp>
      <p:sp>
        <p:nvSpPr>
          <p:cNvPr id="6" name="Text 3"/>
          <p:cNvSpPr/>
          <p:nvPr/>
        </p:nvSpPr>
        <p:spPr>
          <a:xfrm>
            <a:off x="731520" y="4434840"/>
            <a:ext cx="10698480" cy="457200"/>
          </a:xfrm>
          <a:prstGeom prst="rect">
            <a:avLst/>
          </a:prstGeom>
          <a:noFill/>
          <a:ln/>
        </p:spPr>
        <p:txBody>
          <a:bodyPr wrap="square" lIns="0" tIns="0" rIns="0" bIns="0" rtlCol="0" anchor="ctr"/>
          <a:lstStyle/>
          <a:p>
            <a:pPr algn="ctr" indent="0" marL="0">
              <a:buNone/>
            </a:pPr>
            <a:r>
              <a:rPr lang="en-US" sz="2400" dirty="0">
                <a:solidFill>
                  <a:srgbClr val="C9A97E"/>
                </a:solidFill>
                <a:latin typeface="Georgia" pitchFamily="34" charset="0"/>
                <a:ea typeface="Georgia" pitchFamily="34" charset="-122"/>
                <a:cs typeface="Georgia" pitchFamily="34" charset="-120"/>
              </a:rPr>
              <a:t>NÁCAR &amp; LEDGER</a:t>
            </a:r>
            <a:endParaRPr lang="en-US" sz="2400" dirty="0"/>
          </a:p>
        </p:txBody>
      </p:sp>
      <p:sp>
        <p:nvSpPr>
          <p:cNvPr id="7" name="Text 4"/>
          <p:cNvSpPr/>
          <p:nvPr/>
        </p:nvSpPr>
        <p:spPr>
          <a:xfrm>
            <a:off x="731520" y="4937760"/>
            <a:ext cx="10698480" cy="365760"/>
          </a:xfrm>
          <a:prstGeom prst="rect">
            <a:avLst/>
          </a:prstGeom>
          <a:noFill/>
          <a:ln/>
        </p:spPr>
        <p:txBody>
          <a:bodyPr wrap="square" lIns="0" tIns="0" rIns="0" bIns="0" rtlCol="0" anchor="ctr"/>
          <a:lstStyle/>
          <a:p>
            <a:pPr algn="ctr" indent="0" marL="0">
              <a:buNone/>
            </a:pPr>
            <a:r>
              <a:rPr lang="en-US" sz="1300" i="1" dirty="0">
                <a:solidFill>
                  <a:srgbClr val="9FB0B6"/>
                </a:solidFill>
                <a:latin typeface="Calibri" pitchFamily="34" charset="0"/>
                <a:ea typeface="Calibri" pitchFamily="34" charset="-122"/>
                <a:cs typeface="Calibri" pitchFamily="34" charset="-120"/>
              </a:rPr>
              <a:t>Financial &amp; Operations Consulting for Providence's Small Businesses</a:t>
            </a:r>
            <a:endParaRPr lang="en-US" sz="1300" dirty="0"/>
          </a:p>
        </p:txBody>
      </p:sp>
      <p:sp>
        <p:nvSpPr>
          <p:cNvPr id="8" name="Text 5"/>
          <p:cNvSpPr/>
          <p:nvPr/>
        </p:nvSpPr>
        <p:spPr>
          <a:xfrm>
            <a:off x="731520" y="5486400"/>
            <a:ext cx="10698480" cy="365760"/>
          </a:xfrm>
          <a:prstGeom prst="rect">
            <a:avLst/>
          </a:prstGeom>
          <a:noFill/>
          <a:ln/>
        </p:spPr>
        <p:txBody>
          <a:bodyPr wrap="square" lIns="0" tIns="0" rIns="0" bIns="0" rtlCol="0" anchor="ctr"/>
          <a:lstStyle/>
          <a:p>
            <a:pPr algn="ctr" indent="0" marL="0">
              <a:buNone/>
            </a:pPr>
            <a:r>
              <a:rPr lang="en-US" sz="1300" spc="100" kern="0" dirty="0">
                <a:solidFill>
                  <a:srgbClr val="C7D2D6"/>
                </a:solidFill>
                <a:latin typeface="Arial" pitchFamily="34" charset="0"/>
                <a:ea typeface="Arial" pitchFamily="34" charset="-122"/>
                <a:cs typeface="Arial" pitchFamily="34" charset="-120"/>
              </a:rPr>
              <a:t>nacarledger@outlook.com   |   nacarledger.com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2026-07-14T17:00:57Z</dcterms:created>
  <dcterms:modified xsi:type="dcterms:W3CDTF">2026-07-14T17:00:57Z</dcterms:modified>
</cp:coreProperties>
</file>