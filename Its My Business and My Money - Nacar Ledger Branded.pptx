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F33"/>
        </a:solidFill>
      </p:bgPr>
    </p:bg>
    <p:spTree>
      <p:nvGrpSpPr>
        <p:cNvPr id="1" name=""/>
        <p:cNvGrpSpPr/>
        <p:nvPr/>
      </p:nvGrpSpPr>
      <p:grpSpPr>
        <a:xfrm>
          <a:off x="0" y="0"/>
          <a:ext cx="0" cy="0"/>
          <a:chOff x="0" y="0"/>
          <a:chExt cx="0" cy="0"/>
        </a:xfrm>
      </p:grpSpPr>
      <p:pic>
        <p:nvPicPr>
          <p:cNvPr id="2" name="Image 0" descr="/home/claude/logo_icon_transparent.png">    </p:cNvPr>
          <p:cNvPicPr>
            <a:picLocks noChangeAspect="1"/>
          </p:cNvPicPr>
          <p:nvPr/>
        </p:nvPicPr>
        <p:blipFill>
          <a:blip r:embed="rId1"/>
          <a:stretch>
            <a:fillRect/>
          </a:stretch>
        </p:blipFill>
        <p:spPr>
          <a:xfrm>
            <a:off x="5394960" y="685800"/>
            <a:ext cx="1371600" cy="1289304"/>
          </a:xfrm>
          <a:prstGeom prst="rect">
            <a:avLst/>
          </a:prstGeom>
        </p:spPr>
      </p:pic>
      <p:sp>
        <p:nvSpPr>
          <p:cNvPr id="3" name="Text 0"/>
          <p:cNvSpPr/>
          <p:nvPr/>
        </p:nvSpPr>
        <p:spPr>
          <a:xfrm>
            <a:off x="731520" y="2331720"/>
            <a:ext cx="10698480" cy="685800"/>
          </a:xfrm>
          <a:prstGeom prst="rect">
            <a:avLst/>
          </a:prstGeom>
          <a:noFill/>
          <a:ln/>
        </p:spPr>
        <p:txBody>
          <a:bodyPr wrap="square" lIns="0" tIns="0" rIns="0" bIns="0" rtlCol="0" anchor="ctr"/>
          <a:lstStyle/>
          <a:p>
            <a:pPr algn="ctr" indent="0" marL="0">
              <a:buNone/>
            </a:pPr>
            <a:r>
              <a:rPr lang="en-US" sz="4000" dirty="0">
                <a:solidFill>
                  <a:srgbClr val="FFFFFF"/>
                </a:solidFill>
                <a:latin typeface="Georgia" pitchFamily="34" charset="0"/>
                <a:ea typeface="Georgia" pitchFamily="34" charset="-122"/>
                <a:cs typeface="Georgia" pitchFamily="34" charset="-120"/>
              </a:rPr>
              <a:t>It's My Business and My Money</a:t>
            </a:r>
            <a:endParaRPr lang="en-US" sz="4000" dirty="0"/>
          </a:p>
        </p:txBody>
      </p:sp>
      <p:sp>
        <p:nvSpPr>
          <p:cNvPr id="4" name="Text 1"/>
          <p:cNvSpPr/>
          <p:nvPr/>
        </p:nvSpPr>
        <p:spPr>
          <a:xfrm>
            <a:off x="731520" y="2971800"/>
            <a:ext cx="10698480" cy="777240"/>
          </a:xfrm>
          <a:prstGeom prst="rect">
            <a:avLst/>
          </a:prstGeom>
          <a:noFill/>
          <a:ln/>
        </p:spPr>
        <p:txBody>
          <a:bodyPr wrap="square" lIns="0" tIns="0" rIns="0" bIns="0" rtlCol="0" anchor="ctr"/>
          <a:lstStyle/>
          <a:p>
            <a:pPr algn="ctr" indent="0" marL="0">
              <a:buNone/>
            </a:pPr>
            <a:r>
              <a:rPr lang="en-US" sz="4000" b="1" dirty="0">
                <a:solidFill>
                  <a:srgbClr val="C9A97E"/>
                </a:solidFill>
                <a:latin typeface="Georgia" pitchFamily="34" charset="0"/>
                <a:ea typeface="Georgia" pitchFamily="34" charset="-122"/>
                <a:cs typeface="Georgia" pitchFamily="34" charset="-120"/>
              </a:rPr>
              <a:t>Do I Need to Keep Them Separate?</a:t>
            </a:r>
            <a:endParaRPr lang="en-US" sz="4000" dirty="0"/>
          </a:p>
        </p:txBody>
      </p:sp>
      <p:sp>
        <p:nvSpPr>
          <p:cNvPr id="5" name="Text 2"/>
          <p:cNvSpPr/>
          <p:nvPr/>
        </p:nvSpPr>
        <p:spPr>
          <a:xfrm>
            <a:off x="731520" y="3794760"/>
            <a:ext cx="10698480" cy="457200"/>
          </a:xfrm>
          <a:prstGeom prst="rect">
            <a:avLst/>
          </a:prstGeom>
          <a:noFill/>
          <a:ln/>
        </p:spPr>
        <p:txBody>
          <a:bodyPr wrap="square" lIns="0" tIns="0" rIns="0" bIns="0" rtlCol="0" anchor="ctr"/>
          <a:lstStyle/>
          <a:p>
            <a:pPr algn="ctr" indent="0" marL="0">
              <a:buNone/>
            </a:pPr>
            <a:r>
              <a:rPr lang="en-US" sz="1800" i="1" dirty="0">
                <a:solidFill>
                  <a:srgbClr val="C7D2D6"/>
                </a:solidFill>
                <a:latin typeface="Calibri" pitchFamily="34" charset="0"/>
                <a:ea typeface="Calibri" pitchFamily="34" charset="-122"/>
                <a:cs typeface="Calibri" pitchFamily="34" charset="-120"/>
              </a:rPr>
              <a:t>Why Every Entity — LLC, S-Corp, or Just a DBA — Needs Its Own Financial Identity</a:t>
            </a:r>
            <a:endParaRPr lang="en-US" sz="1800" dirty="0"/>
          </a:p>
        </p:txBody>
      </p:sp>
      <p:sp>
        <p:nvSpPr>
          <p:cNvPr id="6" name="Shape 3"/>
          <p:cNvSpPr/>
          <p:nvPr/>
        </p:nvSpPr>
        <p:spPr>
          <a:xfrm>
            <a:off x="5166360" y="4434840"/>
            <a:ext cx="1828800" cy="0"/>
          </a:xfrm>
          <a:prstGeom prst="line">
            <a:avLst/>
          </a:prstGeom>
          <a:noFill/>
          <a:ln w="19050">
            <a:solidFill>
              <a:srgbClr val="C9A97E"/>
            </a:solidFill>
            <a:prstDash val="solid"/>
          </a:ln>
        </p:spPr>
      </p:sp>
      <p:sp>
        <p:nvSpPr>
          <p:cNvPr id="7" name="Text 4"/>
          <p:cNvSpPr/>
          <p:nvPr/>
        </p:nvSpPr>
        <p:spPr>
          <a:xfrm>
            <a:off x="731520" y="4617720"/>
            <a:ext cx="10698480" cy="365760"/>
          </a:xfrm>
          <a:prstGeom prst="rect">
            <a:avLst/>
          </a:prstGeom>
          <a:noFill/>
          <a:ln/>
        </p:spPr>
        <p:txBody>
          <a:bodyPr wrap="square" lIns="0" tIns="0" rIns="0" bIns="0" rtlCol="0" anchor="ctr"/>
          <a:lstStyle/>
          <a:p>
            <a:pPr algn="ctr" indent="0" marL="0">
              <a:buNone/>
            </a:pPr>
            <a:r>
              <a:rPr lang="en-US" sz="1400" dirty="0">
                <a:solidFill>
                  <a:srgbClr val="9FB0B6"/>
                </a:solidFill>
                <a:latin typeface="Calibri" pitchFamily="34" charset="0"/>
                <a:ea typeface="Calibri" pitchFamily="34" charset="-122"/>
                <a:cs typeface="Calibri" pitchFamily="34" charset="-120"/>
              </a:rPr>
              <a:t>A field guide for owners who wear every hat in the business</a:t>
            </a:r>
            <a:endParaRPr lang="en-US" sz="1400" dirty="0"/>
          </a:p>
        </p:txBody>
      </p:sp>
      <p:sp>
        <p:nvSpPr>
          <p:cNvPr id="8" name="Text 5"/>
          <p:cNvSpPr/>
          <p:nvPr/>
        </p:nvSpPr>
        <p:spPr>
          <a:xfrm>
            <a:off x="731520" y="6263640"/>
            <a:ext cx="10698480" cy="320040"/>
          </a:xfrm>
          <a:prstGeom prst="rect">
            <a:avLst/>
          </a:prstGeom>
          <a:noFill/>
          <a:ln/>
        </p:spPr>
        <p:txBody>
          <a:bodyPr wrap="square" lIns="0" tIns="0" rIns="0" bIns="0" rtlCol="0" anchor="ctr"/>
          <a:lstStyle/>
          <a:p>
            <a:pPr algn="ctr" indent="0" marL="0">
              <a:buNone/>
            </a:pPr>
            <a:r>
              <a:rPr lang="en-US" sz="1100" spc="150" kern="0" dirty="0">
                <a:solidFill>
                  <a:srgbClr val="7F9095"/>
                </a:solidFill>
                <a:latin typeface="Arial" pitchFamily="34" charset="0"/>
                <a:ea typeface="Arial" pitchFamily="34" charset="-122"/>
                <a:cs typeface="Arial" pitchFamily="34" charset="-120"/>
              </a:rPr>
              <a:t>NÁCAR &amp; LEDGER  |  Financial &amp; Operations Consulting  |  Providence, RI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822960"/>
            <a:ext cx="502920" cy="0"/>
          </a:xfrm>
          <a:prstGeom prst="line">
            <a:avLst/>
          </a:prstGeom>
          <a:noFill/>
          <a:ln w="25400">
            <a:solidFill>
              <a:srgbClr val="8C7A54"/>
            </a:solidFill>
            <a:prstDash val="solid"/>
          </a:ln>
        </p:spPr>
      </p:sp>
      <p:sp>
        <p:nvSpPr>
          <p:cNvPr id="3" name="Text 1"/>
          <p:cNvSpPr/>
          <p:nvPr/>
        </p:nvSpPr>
        <p:spPr>
          <a:xfrm>
            <a:off x="731520" y="960120"/>
            <a:ext cx="10698480" cy="365760"/>
          </a:xfrm>
          <a:prstGeom prst="rect">
            <a:avLst/>
          </a:prstGeom>
          <a:noFill/>
          <a:ln/>
        </p:spPr>
        <p:txBody>
          <a:bodyPr wrap="square" lIns="0" tIns="0" rIns="0" bIns="0" rtlCol="0" anchor="ctr"/>
          <a:lstStyle/>
          <a:p>
            <a:pPr indent="0" marL="0">
              <a:buNone/>
            </a:pPr>
            <a:r>
              <a:rPr lang="en-US" sz="1300" b="1" spc="200" kern="0" dirty="0">
                <a:solidFill>
                  <a:srgbClr val="8C7A54"/>
                </a:solidFill>
                <a:latin typeface="Arial" pitchFamily="34" charset="0"/>
                <a:ea typeface="Arial" pitchFamily="34" charset="-122"/>
                <a:cs typeface="Arial" pitchFamily="34" charset="-120"/>
              </a:rPr>
              <a:t>A NOTE BEFORE WE START</a:t>
            </a:r>
            <a:endParaRPr lang="en-US" sz="1300" dirty="0"/>
          </a:p>
        </p:txBody>
      </p:sp>
      <p:sp>
        <p:nvSpPr>
          <p:cNvPr id="4" name="Text 2"/>
          <p:cNvSpPr/>
          <p:nvPr/>
        </p:nvSpPr>
        <p:spPr>
          <a:xfrm>
            <a:off x="731520" y="1508760"/>
            <a:ext cx="10698480" cy="1554480"/>
          </a:xfrm>
          <a:prstGeom prst="rect">
            <a:avLst/>
          </a:prstGeom>
          <a:noFill/>
          <a:ln/>
        </p:spPr>
        <p:txBody>
          <a:bodyPr wrap="square" lIns="0" tIns="0" rIns="0" bIns="0" rtlCol="0" anchor="ctr"/>
          <a:lstStyle/>
          <a:p>
            <a:pPr indent="0" marL="0">
              <a:lnSpc>
                <a:spcPct val="135000"/>
              </a:lnSpc>
              <a:buNone/>
            </a:pPr>
            <a:r>
              <a:rPr lang="en-US" sz="1650" dirty="0">
                <a:solidFill>
                  <a:srgbClr val="24303A"/>
                </a:solidFill>
                <a:latin typeface="Calibri" pitchFamily="34" charset="0"/>
                <a:ea typeface="Calibri" pitchFamily="34" charset="-122"/>
                <a:cs typeface="Calibri" pitchFamily="34" charset="-120"/>
              </a:rPr>
              <a:t>This presentation is provided for general educational purposes only and does not constitute tax, legal, or accounting advice for any specific individual or entity. The treatment of commingled funds, owner draws, and entity separation depends heavily on the facts and circumstances of each situation — what applies to one business may not apply to another.</a:t>
            </a:r>
            <a:endParaRPr lang="en-US" sz="1650" dirty="0"/>
          </a:p>
        </p:txBody>
      </p:sp>
      <p:sp>
        <p:nvSpPr>
          <p:cNvPr id="5" name="Text 3"/>
          <p:cNvSpPr/>
          <p:nvPr/>
        </p:nvSpPr>
        <p:spPr>
          <a:xfrm>
            <a:off x="731520" y="3246120"/>
            <a:ext cx="10698480" cy="1188720"/>
          </a:xfrm>
          <a:prstGeom prst="rect">
            <a:avLst/>
          </a:prstGeom>
          <a:noFill/>
          <a:ln/>
        </p:spPr>
        <p:txBody>
          <a:bodyPr wrap="square" lIns="0" tIns="0" rIns="0" bIns="0" rtlCol="0" anchor="ctr"/>
          <a:lstStyle/>
          <a:p>
            <a:pPr indent="0" marL="0">
              <a:lnSpc>
                <a:spcPct val="135000"/>
              </a:lnSpc>
              <a:buNone/>
            </a:pPr>
            <a:r>
              <a:rPr lang="en-US" sz="1650" i="1" dirty="0">
                <a:solidFill>
                  <a:srgbClr val="5B6670"/>
                </a:solidFill>
                <a:latin typeface="Calibri" pitchFamily="34" charset="0"/>
                <a:ea typeface="Calibri" pitchFamily="34" charset="-122"/>
                <a:cs typeface="Calibri" pitchFamily="34" charset="-120"/>
              </a:rPr>
              <a:t>Nothing in this deck should be relied upon in place of consultation with a qualified CPA, tax advisor, or attorney regarding your specific situation. Nácar &amp; Ledger is glad to discuss how these issues may apply to your business directly.</a:t>
            </a:r>
            <a:endParaRPr lang="en-US" sz="1650" dirty="0"/>
          </a:p>
        </p:txBody>
      </p:sp>
      <p:sp>
        <p:nvSpPr>
          <p:cNvPr id="6" name="Text 4"/>
          <p:cNvSpPr/>
          <p:nvPr/>
        </p:nvSpPr>
        <p:spPr>
          <a:xfrm>
            <a:off x="457200" y="6492240"/>
            <a:ext cx="3657600" cy="274320"/>
          </a:xfrm>
          <a:prstGeom prst="rect">
            <a:avLst/>
          </a:prstGeom>
          <a:noFill/>
          <a:ln/>
        </p:spPr>
        <p:txBody>
          <a:bodyPr wrap="square" lIns="0" tIns="0" rIns="0" bIns="0" rtlCol="0" anchor="ctr"/>
          <a:lstStyle/>
          <a:p>
            <a:pPr indent="0" marL="0">
              <a:buNone/>
            </a:pPr>
            <a:r>
              <a:rPr lang="en-US" sz="1000" spc="200" kern="0" dirty="0">
                <a:solidFill>
                  <a:srgbClr val="5B6670"/>
                </a:solidFill>
                <a:latin typeface="Arial" pitchFamily="34" charset="0"/>
                <a:ea typeface="Arial" pitchFamily="34" charset="-122"/>
                <a:cs typeface="Arial" pitchFamily="34" charset="-120"/>
              </a:rPr>
              <a:t>NÁCAR &amp; LEDGER</a:t>
            </a:r>
            <a:endParaRPr lang="en-US" sz="1000" dirty="0"/>
          </a:p>
        </p:txBody>
      </p:sp>
      <p:sp>
        <p:nvSpPr>
          <p:cNvPr id="7" name="Text 5"/>
          <p:cNvSpPr/>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F33"/>
        </a:solidFill>
      </p:bgPr>
    </p:bg>
    <p:spTree>
      <p:nvGrpSpPr>
        <p:cNvPr id="1" name=""/>
        <p:cNvGrpSpPr/>
        <p:nvPr/>
      </p:nvGrpSpPr>
      <p:grpSpPr>
        <a:xfrm>
          <a:off x="0" y="0"/>
          <a:ext cx="0" cy="0"/>
          <a:chOff x="0" y="0"/>
          <a:chExt cx="0" cy="0"/>
        </a:xfrm>
      </p:grpSpPr>
      <p:sp>
        <p:nvSpPr>
          <p:cNvPr id="2" name="Text 0"/>
          <p:cNvSpPr/>
          <p:nvPr/>
        </p:nvSpPr>
        <p:spPr>
          <a:xfrm>
            <a:off x="731520" y="548640"/>
            <a:ext cx="10698480" cy="457200"/>
          </a:xfrm>
          <a:prstGeom prst="rect">
            <a:avLst/>
          </a:prstGeom>
          <a:noFill/>
          <a:ln/>
        </p:spPr>
        <p:txBody>
          <a:bodyPr wrap="square" lIns="0" tIns="0" rIns="0" bIns="0" rtlCol="0" anchor="ctr"/>
          <a:lstStyle/>
          <a:p>
            <a:pPr indent="0" marL="0">
              <a:buNone/>
            </a:pPr>
            <a:r>
              <a:rPr lang="en-US" sz="1400" b="1" spc="200" kern="0" dirty="0">
                <a:solidFill>
                  <a:srgbClr val="C9A97E"/>
                </a:solidFill>
                <a:latin typeface="Arial" pitchFamily="34" charset="0"/>
                <a:ea typeface="Arial" pitchFamily="34" charset="-122"/>
                <a:cs typeface="Arial" pitchFamily="34" charset="-120"/>
              </a:rPr>
              <a:t>WHY THIS LIST EXISTS</a:t>
            </a:r>
            <a:endParaRPr lang="en-US" sz="1400" dirty="0"/>
          </a:p>
        </p:txBody>
      </p:sp>
      <p:sp>
        <p:nvSpPr>
          <p:cNvPr id="3" name="Text 1"/>
          <p:cNvSpPr/>
          <p:nvPr/>
        </p:nvSpPr>
        <p:spPr>
          <a:xfrm>
            <a:off x="731520" y="1234440"/>
            <a:ext cx="10698480" cy="640080"/>
          </a:xfrm>
          <a:prstGeom prst="rect">
            <a:avLst/>
          </a:prstGeom>
          <a:noFill/>
          <a:ln/>
        </p:spPr>
        <p:txBody>
          <a:bodyPr wrap="square" lIns="0" tIns="0" rIns="0" bIns="0" rtlCol="0" anchor="ctr"/>
          <a:lstStyle/>
          <a:p>
            <a:pPr indent="0" marL="0">
              <a:buNone/>
            </a:pPr>
            <a:r>
              <a:rPr lang="en-US" sz="2600" dirty="0">
                <a:solidFill>
                  <a:srgbClr val="FFFFFF"/>
                </a:solidFill>
                <a:latin typeface="Georgia" pitchFamily="34" charset="0"/>
                <a:ea typeface="Georgia" pitchFamily="34" charset="-122"/>
                <a:cs typeface="Georgia" pitchFamily="34" charset="-120"/>
              </a:rPr>
              <a:t>When you own 100% of the business, keeping the money separate can feel like a formality nobody really needs.</a:t>
            </a:r>
            <a:endParaRPr lang="en-US" sz="2600" dirty="0"/>
          </a:p>
        </p:txBody>
      </p:sp>
      <p:sp>
        <p:nvSpPr>
          <p:cNvPr id="4" name="Text 2"/>
          <p:cNvSpPr/>
          <p:nvPr/>
        </p:nvSpPr>
        <p:spPr>
          <a:xfrm>
            <a:off x="731520" y="1874520"/>
            <a:ext cx="10698480" cy="640080"/>
          </a:xfrm>
          <a:prstGeom prst="rect">
            <a:avLst/>
          </a:prstGeom>
          <a:noFill/>
          <a:ln/>
        </p:spPr>
        <p:txBody>
          <a:bodyPr wrap="square" lIns="0" tIns="0" rIns="0" bIns="0" rtlCol="0" anchor="ctr"/>
          <a:lstStyle/>
          <a:p>
            <a:pPr indent="0" marL="0">
              <a:buNone/>
            </a:pPr>
            <a:r>
              <a:rPr lang="en-US" sz="2600" dirty="0">
                <a:solidFill>
                  <a:srgbClr val="C9A97E"/>
                </a:solidFill>
                <a:latin typeface="Georgia" pitchFamily="34" charset="0"/>
                <a:ea typeface="Georgia" pitchFamily="34" charset="-122"/>
                <a:cs typeface="Georgia" pitchFamily="34" charset="-120"/>
              </a:rPr>
              <a:t>It stops feeling like a formality the day a lender, a court, or the IRS asks you to prove where the business actually ends and you begin.</a:t>
            </a:r>
            <a:endParaRPr lang="en-US" sz="2600" dirty="0"/>
          </a:p>
        </p:txBody>
      </p:sp>
      <p:sp>
        <p:nvSpPr>
          <p:cNvPr id="5" name="Shape 3"/>
          <p:cNvSpPr/>
          <p:nvPr/>
        </p:nvSpPr>
        <p:spPr>
          <a:xfrm>
            <a:off x="731520" y="2880360"/>
            <a:ext cx="3429000" cy="2606040"/>
          </a:xfrm>
          <a:prstGeom prst="roundRect">
            <a:avLst>
              <a:gd name="adj" fmla="val 2807"/>
            </a:avLst>
          </a:prstGeom>
          <a:solidFill>
            <a:srgbClr val="081F33"/>
          </a:solidFill>
          <a:ln w="9525">
            <a:solidFill>
              <a:srgbClr val="8C7A54"/>
            </a:solidFill>
            <a:prstDash val="solid"/>
          </a:ln>
        </p:spPr>
      </p:sp>
      <p:sp>
        <p:nvSpPr>
          <p:cNvPr id="6" name="Text 4"/>
          <p:cNvSpPr/>
          <p:nvPr/>
        </p:nvSpPr>
        <p:spPr>
          <a:xfrm>
            <a:off x="1005840" y="3108960"/>
            <a:ext cx="2880360" cy="731520"/>
          </a:xfrm>
          <a:prstGeom prst="rect">
            <a:avLst/>
          </a:prstGeom>
          <a:noFill/>
          <a:ln/>
        </p:spPr>
        <p:txBody>
          <a:bodyPr wrap="square" lIns="0" tIns="0" rIns="0" bIns="0" rtlCol="0" anchor="ctr"/>
          <a:lstStyle/>
          <a:p>
            <a:pPr indent="0" marL="0">
              <a:buNone/>
            </a:pPr>
            <a:r>
              <a:rPr lang="en-US" sz="1800" b="1" dirty="0">
                <a:solidFill>
                  <a:srgbClr val="C9A97E"/>
                </a:solidFill>
                <a:latin typeface="Georgia" pitchFamily="34" charset="0"/>
                <a:ea typeface="Georgia" pitchFamily="34" charset="-122"/>
                <a:cs typeface="Georgia" pitchFamily="34" charset="-120"/>
              </a:rPr>
              <a:t>No liability shield left to pierce</a:t>
            </a:r>
            <a:endParaRPr lang="en-US" sz="1800" dirty="0"/>
          </a:p>
        </p:txBody>
      </p:sp>
      <p:sp>
        <p:nvSpPr>
          <p:cNvPr id="7" name="Text 5"/>
          <p:cNvSpPr/>
          <p:nvPr/>
        </p:nvSpPr>
        <p:spPr>
          <a:xfrm>
            <a:off x="1005840" y="3794760"/>
            <a:ext cx="2880360" cy="1508760"/>
          </a:xfrm>
          <a:prstGeom prst="rect">
            <a:avLst/>
          </a:prstGeom>
          <a:noFill/>
          <a:ln/>
        </p:spPr>
        <p:txBody>
          <a:bodyPr wrap="square" lIns="0" tIns="0" rIns="0" bIns="0" rtlCol="0" anchor="ctr"/>
          <a:lstStyle/>
          <a:p>
            <a:pPr indent="0" marL="0">
              <a:lnSpc>
                <a:spcPct val="115000"/>
              </a:lnSpc>
              <a:buNone/>
            </a:pPr>
            <a:r>
              <a:rPr lang="en-US" sz="1300" dirty="0">
                <a:solidFill>
                  <a:srgbClr val="D8E0E3"/>
                </a:solidFill>
                <a:latin typeface="Calibri" pitchFamily="34" charset="0"/>
                <a:ea typeface="Calibri" pitchFamily="34" charset="-122"/>
                <a:cs typeface="Calibri" pitchFamily="34" charset="-120"/>
              </a:rPr>
              <a:t>Commingled funds are exactly what courts look at when deciding whether an LLC or S-corp's liability protection still applies — or never really existed.</a:t>
            </a:r>
            <a:endParaRPr lang="en-US" sz="1300" dirty="0"/>
          </a:p>
        </p:txBody>
      </p:sp>
      <p:sp>
        <p:nvSpPr>
          <p:cNvPr id="8" name="Shape 6"/>
          <p:cNvSpPr/>
          <p:nvPr/>
        </p:nvSpPr>
        <p:spPr>
          <a:xfrm>
            <a:off x="4434840" y="2880360"/>
            <a:ext cx="3429000" cy="2606040"/>
          </a:xfrm>
          <a:prstGeom prst="roundRect">
            <a:avLst>
              <a:gd name="adj" fmla="val 2807"/>
            </a:avLst>
          </a:prstGeom>
          <a:solidFill>
            <a:srgbClr val="081F33"/>
          </a:solidFill>
          <a:ln w="9525">
            <a:solidFill>
              <a:srgbClr val="8C7A54"/>
            </a:solidFill>
            <a:prstDash val="solid"/>
          </a:ln>
        </p:spPr>
      </p:sp>
      <p:sp>
        <p:nvSpPr>
          <p:cNvPr id="9" name="Text 7"/>
          <p:cNvSpPr/>
          <p:nvPr/>
        </p:nvSpPr>
        <p:spPr>
          <a:xfrm>
            <a:off x="4709160" y="3108960"/>
            <a:ext cx="2880360" cy="731520"/>
          </a:xfrm>
          <a:prstGeom prst="rect">
            <a:avLst/>
          </a:prstGeom>
          <a:noFill/>
          <a:ln/>
        </p:spPr>
        <p:txBody>
          <a:bodyPr wrap="square" lIns="0" tIns="0" rIns="0" bIns="0" rtlCol="0" anchor="ctr"/>
          <a:lstStyle/>
          <a:p>
            <a:pPr indent="0" marL="0">
              <a:buNone/>
            </a:pPr>
            <a:r>
              <a:rPr lang="en-US" sz="1800" b="1" dirty="0">
                <a:solidFill>
                  <a:srgbClr val="C9A97E"/>
                </a:solidFill>
                <a:latin typeface="Georgia" pitchFamily="34" charset="0"/>
                <a:ea typeface="Georgia" pitchFamily="34" charset="-122"/>
                <a:cs typeface="Georgia" pitchFamily="34" charset="-120"/>
              </a:rPr>
              <a:t>No defensible numbers</a:t>
            </a:r>
            <a:endParaRPr lang="en-US" sz="1800" dirty="0"/>
          </a:p>
        </p:txBody>
      </p:sp>
      <p:sp>
        <p:nvSpPr>
          <p:cNvPr id="10" name="Text 8"/>
          <p:cNvSpPr/>
          <p:nvPr/>
        </p:nvSpPr>
        <p:spPr>
          <a:xfrm>
            <a:off x="4709160" y="3794760"/>
            <a:ext cx="2880360" cy="1508760"/>
          </a:xfrm>
          <a:prstGeom prst="rect">
            <a:avLst/>
          </a:prstGeom>
          <a:noFill/>
          <a:ln/>
        </p:spPr>
        <p:txBody>
          <a:bodyPr wrap="square" lIns="0" tIns="0" rIns="0" bIns="0" rtlCol="0" anchor="ctr"/>
          <a:lstStyle/>
          <a:p>
            <a:pPr indent="0" marL="0">
              <a:lnSpc>
                <a:spcPct val="115000"/>
              </a:lnSpc>
              <a:buNone/>
            </a:pPr>
            <a:r>
              <a:rPr lang="en-US" sz="1300" dirty="0">
                <a:solidFill>
                  <a:srgbClr val="D8E0E3"/>
                </a:solidFill>
                <a:latin typeface="Calibri" pitchFamily="34" charset="0"/>
                <a:ea typeface="Calibri" pitchFamily="34" charset="-122"/>
                <a:cs typeface="Calibri" pitchFamily="34" charset="-120"/>
              </a:rPr>
              <a:t>Without separation, there's no way to prove what's a real business expense — whether there's a legal shield involved or not.</a:t>
            </a:r>
            <a:endParaRPr lang="en-US" sz="1300" dirty="0"/>
          </a:p>
        </p:txBody>
      </p:sp>
      <p:sp>
        <p:nvSpPr>
          <p:cNvPr id="11" name="Shape 9"/>
          <p:cNvSpPr/>
          <p:nvPr/>
        </p:nvSpPr>
        <p:spPr>
          <a:xfrm>
            <a:off x="8138160" y="2880360"/>
            <a:ext cx="3429000" cy="2606040"/>
          </a:xfrm>
          <a:prstGeom prst="roundRect">
            <a:avLst>
              <a:gd name="adj" fmla="val 2807"/>
            </a:avLst>
          </a:prstGeom>
          <a:solidFill>
            <a:srgbClr val="081F33"/>
          </a:solidFill>
          <a:ln w="9525">
            <a:solidFill>
              <a:srgbClr val="8C7A54"/>
            </a:solidFill>
            <a:prstDash val="solid"/>
          </a:ln>
        </p:spPr>
      </p:sp>
      <p:sp>
        <p:nvSpPr>
          <p:cNvPr id="12" name="Text 10"/>
          <p:cNvSpPr/>
          <p:nvPr/>
        </p:nvSpPr>
        <p:spPr>
          <a:xfrm>
            <a:off x="8412480" y="3108960"/>
            <a:ext cx="2880360" cy="731520"/>
          </a:xfrm>
          <a:prstGeom prst="rect">
            <a:avLst/>
          </a:prstGeom>
          <a:noFill/>
          <a:ln/>
        </p:spPr>
        <p:txBody>
          <a:bodyPr wrap="square" lIns="0" tIns="0" rIns="0" bIns="0" rtlCol="0" anchor="ctr"/>
          <a:lstStyle/>
          <a:p>
            <a:pPr indent="0" marL="0">
              <a:buNone/>
            </a:pPr>
            <a:r>
              <a:rPr lang="en-US" sz="1800" b="1" dirty="0">
                <a:solidFill>
                  <a:srgbClr val="C9A97E"/>
                </a:solidFill>
                <a:latin typeface="Georgia" pitchFamily="34" charset="0"/>
                <a:ea typeface="Georgia" pitchFamily="34" charset="-122"/>
                <a:cs typeface="Georgia" pitchFamily="34" charset="-120"/>
              </a:rPr>
              <a:t>No real picture of the business</a:t>
            </a:r>
            <a:endParaRPr lang="en-US" sz="1800" dirty="0"/>
          </a:p>
        </p:txBody>
      </p:sp>
      <p:sp>
        <p:nvSpPr>
          <p:cNvPr id="13" name="Text 11"/>
          <p:cNvSpPr/>
          <p:nvPr/>
        </p:nvSpPr>
        <p:spPr>
          <a:xfrm>
            <a:off x="8412480" y="3794760"/>
            <a:ext cx="2880360" cy="1508760"/>
          </a:xfrm>
          <a:prstGeom prst="rect">
            <a:avLst/>
          </a:prstGeom>
          <a:noFill/>
          <a:ln/>
        </p:spPr>
        <p:txBody>
          <a:bodyPr wrap="square" lIns="0" tIns="0" rIns="0" bIns="0" rtlCol="0" anchor="ctr"/>
          <a:lstStyle/>
          <a:p>
            <a:pPr indent="0" marL="0">
              <a:lnSpc>
                <a:spcPct val="115000"/>
              </a:lnSpc>
              <a:buNone/>
            </a:pPr>
            <a:r>
              <a:rPr lang="en-US" sz="1300" dirty="0">
                <a:solidFill>
                  <a:srgbClr val="D8E0E3"/>
                </a:solidFill>
                <a:latin typeface="Calibri" pitchFamily="34" charset="0"/>
                <a:ea typeface="Calibri" pitchFamily="34" charset="-122"/>
                <a:cs typeface="Calibri" pitchFamily="34" charset="-120"/>
              </a:rPr>
              <a:t>One pool of money makes it impossible to tell whether the business is actually profitable, or just moving cash in a circle.</a:t>
            </a:r>
            <a:endParaRPr lang="en-US" sz="1300" dirty="0"/>
          </a:p>
        </p:txBody>
      </p:sp>
      <p:sp>
        <p:nvSpPr>
          <p:cNvPr id="14" name="Text 12"/>
          <p:cNvSpPr/>
          <p:nvPr/>
        </p:nvSpPr>
        <p:spPr>
          <a:xfrm>
            <a:off x="457200" y="6492240"/>
            <a:ext cx="3657600" cy="274320"/>
          </a:xfrm>
          <a:prstGeom prst="rect">
            <a:avLst/>
          </a:prstGeom>
          <a:noFill/>
          <a:ln/>
        </p:spPr>
        <p:txBody>
          <a:bodyPr wrap="square" lIns="0" tIns="0" rIns="0" bIns="0" rtlCol="0" anchor="ctr"/>
          <a:lstStyle/>
          <a:p>
            <a:pPr indent="0" marL="0">
              <a:buNone/>
            </a:pPr>
            <a:r>
              <a:rPr lang="en-US" sz="1000" spc="200" kern="0" dirty="0">
                <a:solidFill>
                  <a:srgbClr val="5B6670"/>
                </a:solidFill>
                <a:latin typeface="Arial" pitchFamily="34" charset="0"/>
                <a:ea typeface="Arial" pitchFamily="34" charset="-122"/>
                <a:cs typeface="Arial" pitchFamily="34" charset="-120"/>
              </a:rPr>
              <a:t>NÁCAR &amp; LEDGER</a:t>
            </a:r>
            <a:endParaRPr lang="en-US" sz="1000" dirty="0"/>
          </a:p>
        </p:txBody>
      </p:sp>
      <p:sp>
        <p:nvSpPr>
          <p:cNvPr id="15" name="Text 13"/>
          <p:cNvSpPr/>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94360"/>
            <a:ext cx="1005840" cy="1005840"/>
          </a:xfrm>
          <a:prstGeom prst="ellipse">
            <a:avLst/>
          </a:prstGeom>
          <a:solidFill>
            <a:srgbClr val="C9A97E"/>
          </a:solidFill>
          <a:ln w="12700">
            <a:solidFill>
              <a:srgbClr val="FFFFFF"/>
            </a:solidFill>
            <a:prstDash val="solid"/>
          </a:ln>
        </p:spPr>
      </p:sp>
      <p:sp>
        <p:nvSpPr>
          <p:cNvPr id="3" name="Shape 1"/>
          <p:cNvSpPr/>
          <p:nvPr/>
        </p:nvSpPr>
        <p:spPr>
          <a:xfrm>
            <a:off x="649224" y="512064"/>
            <a:ext cx="1170432" cy="1170432"/>
          </a:xfrm>
          <a:prstGeom prst="ellipse">
            <a:avLst/>
          </a:prstGeom>
          <a:ln w="15875">
            <a:solidFill>
              <a:srgbClr val="C9A97E"/>
            </a:solidFill>
            <a:prstDash val="solid"/>
          </a:ln>
        </p:spPr>
      </p:sp>
      <p:sp>
        <p:nvSpPr>
          <p:cNvPr id="4" name="Text 2"/>
          <p:cNvSpPr/>
          <p:nvPr/>
        </p:nvSpPr>
        <p:spPr>
          <a:xfrm>
            <a:off x="731520" y="594360"/>
            <a:ext cx="1005840" cy="100584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1</a:t>
            </a:r>
            <a:endParaRPr lang="en-US" sz="3000" dirty="0"/>
          </a:p>
        </p:txBody>
      </p:sp>
      <p:sp>
        <p:nvSpPr>
          <p:cNvPr id="5" name="Text 3"/>
          <p:cNvSpPr/>
          <p:nvPr/>
        </p:nvSpPr>
        <p:spPr>
          <a:xfrm>
            <a:off x="1965960" y="502920"/>
            <a:ext cx="9418320" cy="960120"/>
          </a:xfrm>
          <a:prstGeom prst="rect">
            <a:avLst/>
          </a:prstGeom>
          <a:noFill/>
          <a:ln/>
        </p:spPr>
        <p:txBody>
          <a:bodyPr wrap="square" lIns="0" tIns="0" rIns="0" bIns="0" rtlCol="0" anchor="ctr"/>
          <a:lstStyle/>
          <a:p>
            <a:pPr indent="0" marL="0">
              <a:buNone/>
            </a:pPr>
            <a:r>
              <a:rPr lang="en-US" sz="2800" b="1" dirty="0">
                <a:solidFill>
                  <a:srgbClr val="0E3A5F"/>
                </a:solidFill>
                <a:latin typeface="Georgia" pitchFamily="34" charset="0"/>
                <a:ea typeface="Georgia" pitchFamily="34" charset="-122"/>
                <a:cs typeface="Georgia" pitchFamily="34" charset="-120"/>
              </a:rPr>
              <a:t>One Account for Everything</a:t>
            </a:r>
            <a:endParaRPr lang="en-US" sz="2800" dirty="0"/>
          </a:p>
        </p:txBody>
      </p:sp>
      <p:sp>
        <p:nvSpPr>
          <p:cNvPr id="6" name="Shape 4"/>
          <p:cNvSpPr/>
          <p:nvPr/>
        </p:nvSpPr>
        <p:spPr>
          <a:xfrm>
            <a:off x="731520" y="1783080"/>
            <a:ext cx="10698480" cy="0"/>
          </a:xfrm>
          <a:prstGeom prst="line">
            <a:avLst/>
          </a:prstGeom>
          <a:noFill/>
          <a:ln w="12700">
            <a:solidFill>
              <a:srgbClr val="E4DCC9"/>
            </a:solidFill>
            <a:prstDash val="solid"/>
          </a:ln>
        </p:spPr>
      </p:sp>
      <p:sp>
        <p:nvSpPr>
          <p:cNvPr id="7" name="Text 5"/>
          <p:cNvSpPr/>
          <p:nvPr/>
        </p:nvSpPr>
        <p:spPr>
          <a:xfrm>
            <a:off x="731520" y="201168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THE MISTAKE</a:t>
            </a:r>
            <a:endParaRPr lang="en-US" sz="1250" dirty="0"/>
          </a:p>
        </p:txBody>
      </p:sp>
      <p:sp>
        <p:nvSpPr>
          <p:cNvPr id="8" name="Text 6"/>
          <p:cNvSpPr/>
          <p:nvPr/>
        </p:nvSpPr>
        <p:spPr>
          <a:xfrm>
            <a:off x="731520" y="237744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24303A"/>
                </a:solidFill>
                <a:latin typeface="Calibri" pitchFamily="34" charset="0"/>
                <a:ea typeface="Calibri" pitchFamily="34" charset="-122"/>
                <a:cs typeface="Calibri" pitchFamily="34" charset="-120"/>
              </a:rPr>
              <a:t>Every dollar — business revenue, personal groceries, an owner's night out — comes out of the same account, no matter what kind of entity is on paper.</a:t>
            </a:r>
            <a:endParaRPr lang="en-US" sz="1550" dirty="0"/>
          </a:p>
        </p:txBody>
      </p:sp>
      <p:sp>
        <p:nvSpPr>
          <p:cNvPr id="9" name="Text 7"/>
          <p:cNvSpPr/>
          <p:nvPr/>
        </p:nvSpPr>
        <p:spPr>
          <a:xfrm>
            <a:off x="731520" y="347472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WHY IT HAPPENS</a:t>
            </a:r>
            <a:endParaRPr lang="en-US" sz="1250" dirty="0"/>
          </a:p>
        </p:txBody>
      </p:sp>
      <p:sp>
        <p:nvSpPr>
          <p:cNvPr id="10" name="Text 8"/>
          <p:cNvSpPr/>
          <p:nvPr/>
        </p:nvSpPr>
        <p:spPr>
          <a:xfrm>
            <a:off x="731520" y="384048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5B6670"/>
                </a:solidFill>
                <a:latin typeface="Calibri" pitchFamily="34" charset="0"/>
                <a:ea typeface="Calibri" pitchFamily="34" charset="-122"/>
                <a:cs typeface="Calibri" pitchFamily="34" charset="-120"/>
              </a:rPr>
              <a:t>It's one person making every decision, so it feels like one pool of money regardless of what the paperwork says.</a:t>
            </a:r>
            <a:endParaRPr lang="en-US" sz="1550" dirty="0"/>
          </a:p>
        </p:txBody>
      </p:sp>
      <p:sp>
        <p:nvSpPr>
          <p:cNvPr id="11" name="Text 9"/>
          <p:cNvSpPr/>
          <p:nvPr/>
        </p:nvSpPr>
        <p:spPr>
          <a:xfrm>
            <a:off x="731520" y="493776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WHAT IT COSTS YOU</a:t>
            </a:r>
            <a:endParaRPr lang="en-US" sz="1250" dirty="0"/>
          </a:p>
        </p:txBody>
      </p:sp>
      <p:sp>
        <p:nvSpPr>
          <p:cNvPr id="12" name="Text 10"/>
          <p:cNvSpPr/>
          <p:nvPr/>
        </p:nvSpPr>
        <p:spPr>
          <a:xfrm>
            <a:off x="731520" y="530352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B8664F"/>
                </a:solidFill>
                <a:latin typeface="Calibri" pitchFamily="34" charset="0"/>
                <a:ea typeface="Calibri" pitchFamily="34" charset="-122"/>
                <a:cs typeface="Calibri" pitchFamily="34" charset="-120"/>
              </a:rPr>
              <a:t>For an LLC or S-corp, this is exactly what a court examines when deciding whether to pierce the liability shield. For a DBA, there's no shield to lose — but there's also no way to prove what's a real business expense the day the IRS asks.</a:t>
            </a:r>
            <a:endParaRPr lang="en-US" sz="1550" dirty="0"/>
          </a:p>
        </p:txBody>
      </p:sp>
      <p:sp>
        <p:nvSpPr>
          <p:cNvPr id="13" name="Text 11"/>
          <p:cNvSpPr/>
          <p:nvPr/>
        </p:nvSpPr>
        <p:spPr>
          <a:xfrm>
            <a:off x="457200" y="6492240"/>
            <a:ext cx="3657600" cy="274320"/>
          </a:xfrm>
          <a:prstGeom prst="rect">
            <a:avLst/>
          </a:prstGeom>
          <a:noFill/>
          <a:ln/>
        </p:spPr>
        <p:txBody>
          <a:bodyPr wrap="square" lIns="0" tIns="0" rIns="0" bIns="0" rtlCol="0" anchor="ctr"/>
          <a:lstStyle/>
          <a:p>
            <a:pPr indent="0" marL="0">
              <a:buNone/>
            </a:pPr>
            <a:r>
              <a:rPr lang="en-US" sz="1000" spc="200" kern="0" dirty="0">
                <a:solidFill>
                  <a:srgbClr val="5B6670"/>
                </a:solidFill>
                <a:latin typeface="Arial" pitchFamily="34" charset="0"/>
                <a:ea typeface="Arial" pitchFamily="34" charset="-122"/>
                <a:cs typeface="Arial" pitchFamily="34" charset="-120"/>
              </a:rPr>
              <a:t>NÁCAR &amp; LEDGER</a:t>
            </a:r>
            <a:endParaRPr lang="en-US" sz="1000" dirty="0"/>
          </a:p>
        </p:txBody>
      </p:sp>
      <p:sp>
        <p:nvSpPr>
          <p:cNvPr id="14" name="Text 12"/>
          <p:cNvSpPr/>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94360"/>
            <a:ext cx="1005840" cy="1005840"/>
          </a:xfrm>
          <a:prstGeom prst="ellipse">
            <a:avLst/>
          </a:prstGeom>
          <a:solidFill>
            <a:srgbClr val="C9A97E"/>
          </a:solidFill>
          <a:ln w="12700">
            <a:solidFill>
              <a:srgbClr val="FFFFFF"/>
            </a:solidFill>
            <a:prstDash val="solid"/>
          </a:ln>
        </p:spPr>
      </p:sp>
      <p:sp>
        <p:nvSpPr>
          <p:cNvPr id="3" name="Shape 1"/>
          <p:cNvSpPr/>
          <p:nvPr/>
        </p:nvSpPr>
        <p:spPr>
          <a:xfrm>
            <a:off x="649224" y="512064"/>
            <a:ext cx="1170432" cy="1170432"/>
          </a:xfrm>
          <a:prstGeom prst="ellipse">
            <a:avLst/>
          </a:prstGeom>
          <a:ln w="15875">
            <a:solidFill>
              <a:srgbClr val="C9A97E"/>
            </a:solidFill>
            <a:prstDash val="solid"/>
          </a:ln>
        </p:spPr>
      </p:sp>
      <p:sp>
        <p:nvSpPr>
          <p:cNvPr id="4" name="Text 2"/>
          <p:cNvSpPr/>
          <p:nvPr/>
        </p:nvSpPr>
        <p:spPr>
          <a:xfrm>
            <a:off x="731520" y="594360"/>
            <a:ext cx="1005840" cy="100584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2</a:t>
            </a:r>
            <a:endParaRPr lang="en-US" sz="3000" dirty="0"/>
          </a:p>
        </p:txBody>
      </p:sp>
      <p:sp>
        <p:nvSpPr>
          <p:cNvPr id="5" name="Text 3"/>
          <p:cNvSpPr/>
          <p:nvPr/>
        </p:nvSpPr>
        <p:spPr>
          <a:xfrm>
            <a:off x="1965960" y="502920"/>
            <a:ext cx="9418320" cy="960120"/>
          </a:xfrm>
          <a:prstGeom prst="rect">
            <a:avLst/>
          </a:prstGeom>
          <a:noFill/>
          <a:ln/>
        </p:spPr>
        <p:txBody>
          <a:bodyPr wrap="square" lIns="0" tIns="0" rIns="0" bIns="0" rtlCol="0" anchor="ctr"/>
          <a:lstStyle/>
          <a:p>
            <a:pPr indent="0" marL="0">
              <a:buNone/>
            </a:pPr>
            <a:r>
              <a:rPr lang="en-US" sz="2800" b="1" dirty="0">
                <a:solidFill>
                  <a:srgbClr val="0E3A5F"/>
                </a:solidFill>
                <a:latin typeface="Georgia" pitchFamily="34" charset="0"/>
                <a:ea typeface="Georgia" pitchFamily="34" charset="-122"/>
                <a:cs typeface="Georgia" pitchFamily="34" charset="-120"/>
              </a:rPr>
              <a:t>The “It's My Money” Mentality</a:t>
            </a:r>
            <a:endParaRPr lang="en-US" sz="2800" dirty="0"/>
          </a:p>
        </p:txBody>
      </p:sp>
      <p:sp>
        <p:nvSpPr>
          <p:cNvPr id="6" name="Shape 4"/>
          <p:cNvSpPr/>
          <p:nvPr/>
        </p:nvSpPr>
        <p:spPr>
          <a:xfrm>
            <a:off x="731520" y="1783080"/>
            <a:ext cx="10698480" cy="0"/>
          </a:xfrm>
          <a:prstGeom prst="line">
            <a:avLst/>
          </a:prstGeom>
          <a:noFill/>
          <a:ln w="12700">
            <a:solidFill>
              <a:srgbClr val="E4DCC9"/>
            </a:solidFill>
            <a:prstDash val="solid"/>
          </a:ln>
        </p:spPr>
      </p:sp>
      <p:sp>
        <p:nvSpPr>
          <p:cNvPr id="7" name="Text 5"/>
          <p:cNvSpPr/>
          <p:nvPr/>
        </p:nvSpPr>
        <p:spPr>
          <a:xfrm>
            <a:off x="731520" y="201168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THE MISTAKE</a:t>
            </a:r>
            <a:endParaRPr lang="en-US" sz="1250" dirty="0"/>
          </a:p>
        </p:txBody>
      </p:sp>
      <p:sp>
        <p:nvSpPr>
          <p:cNvPr id="8" name="Text 6"/>
          <p:cNvSpPr/>
          <p:nvPr/>
        </p:nvSpPr>
        <p:spPr>
          <a:xfrm>
            <a:off x="731520" y="237744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24303A"/>
                </a:solidFill>
                <a:latin typeface="Calibri" pitchFamily="34" charset="0"/>
                <a:ea typeface="Calibri" pitchFamily="34" charset="-122"/>
                <a:cs typeface="Calibri" pitchFamily="34" charset="-120"/>
              </a:rPr>
              <a:t>The underlying belief that because you own the whole business, there's no real difference between the business's money and your own.</a:t>
            </a:r>
            <a:endParaRPr lang="en-US" sz="1550" dirty="0"/>
          </a:p>
        </p:txBody>
      </p:sp>
      <p:sp>
        <p:nvSpPr>
          <p:cNvPr id="9" name="Text 7"/>
          <p:cNvSpPr/>
          <p:nvPr/>
        </p:nvSpPr>
        <p:spPr>
          <a:xfrm>
            <a:off x="731520" y="347472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WHY IT HAPPENS</a:t>
            </a:r>
            <a:endParaRPr lang="en-US" sz="1250" dirty="0"/>
          </a:p>
        </p:txBody>
      </p:sp>
      <p:sp>
        <p:nvSpPr>
          <p:cNvPr id="10" name="Text 8"/>
          <p:cNvSpPr/>
          <p:nvPr/>
        </p:nvSpPr>
        <p:spPr>
          <a:xfrm>
            <a:off x="731520" y="384048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5B6670"/>
                </a:solidFill>
                <a:latin typeface="Calibri" pitchFamily="34" charset="0"/>
                <a:ea typeface="Calibri" pitchFamily="34" charset="-122"/>
                <a:cs typeface="Calibri" pitchFamily="34" charset="-120"/>
              </a:rPr>
              <a:t>Ownership feels total, so the boundary feels artificial — something imposed by accountants, not something real.</a:t>
            </a:r>
            <a:endParaRPr lang="en-US" sz="1550" dirty="0"/>
          </a:p>
        </p:txBody>
      </p:sp>
      <p:sp>
        <p:nvSpPr>
          <p:cNvPr id="11" name="Text 9"/>
          <p:cNvSpPr/>
          <p:nvPr/>
        </p:nvSpPr>
        <p:spPr>
          <a:xfrm>
            <a:off x="731520" y="493776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WHAT IT COSTS YOU</a:t>
            </a:r>
            <a:endParaRPr lang="en-US" sz="1250" dirty="0"/>
          </a:p>
        </p:txBody>
      </p:sp>
      <p:sp>
        <p:nvSpPr>
          <p:cNvPr id="12" name="Text 10"/>
          <p:cNvSpPr/>
          <p:nvPr/>
        </p:nvSpPr>
        <p:spPr>
          <a:xfrm>
            <a:off x="731520" y="530352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B8664F"/>
                </a:solidFill>
                <a:latin typeface="Calibri" pitchFamily="34" charset="0"/>
                <a:ea typeface="Calibri" pitchFamily="34" charset="-122"/>
                <a:cs typeface="Calibri" pitchFamily="34" charset="-120"/>
              </a:rPr>
              <a:t>The entity is its own legal and financial person whether you treat it that way or not — LLC, S-corp, or DBA alike. Ignoring that doesn't erase the boundary; it just means nobody's tracking where it actually sits.</a:t>
            </a:r>
            <a:endParaRPr lang="en-US" sz="1550" dirty="0"/>
          </a:p>
        </p:txBody>
      </p:sp>
      <p:sp>
        <p:nvSpPr>
          <p:cNvPr id="13" name="Text 11"/>
          <p:cNvSpPr/>
          <p:nvPr/>
        </p:nvSpPr>
        <p:spPr>
          <a:xfrm>
            <a:off x="457200" y="6492240"/>
            <a:ext cx="3657600" cy="274320"/>
          </a:xfrm>
          <a:prstGeom prst="rect">
            <a:avLst/>
          </a:prstGeom>
          <a:noFill/>
          <a:ln/>
        </p:spPr>
        <p:txBody>
          <a:bodyPr wrap="square" lIns="0" tIns="0" rIns="0" bIns="0" rtlCol="0" anchor="ctr"/>
          <a:lstStyle/>
          <a:p>
            <a:pPr indent="0" marL="0">
              <a:buNone/>
            </a:pPr>
            <a:r>
              <a:rPr lang="en-US" sz="1000" spc="200" kern="0" dirty="0">
                <a:solidFill>
                  <a:srgbClr val="5B6670"/>
                </a:solidFill>
                <a:latin typeface="Arial" pitchFamily="34" charset="0"/>
                <a:ea typeface="Arial" pitchFamily="34" charset="-122"/>
                <a:cs typeface="Arial" pitchFamily="34" charset="-120"/>
              </a:rPr>
              <a:t>NÁCAR &amp; LEDGER</a:t>
            </a:r>
            <a:endParaRPr lang="en-US" sz="1000" dirty="0"/>
          </a:p>
        </p:txBody>
      </p:sp>
      <p:sp>
        <p:nvSpPr>
          <p:cNvPr id="14" name="Text 12"/>
          <p:cNvSpPr/>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94360"/>
            <a:ext cx="1005840" cy="1005840"/>
          </a:xfrm>
          <a:prstGeom prst="ellipse">
            <a:avLst/>
          </a:prstGeom>
          <a:solidFill>
            <a:srgbClr val="C9A97E"/>
          </a:solidFill>
          <a:ln w="12700">
            <a:solidFill>
              <a:srgbClr val="FFFFFF"/>
            </a:solidFill>
            <a:prstDash val="solid"/>
          </a:ln>
        </p:spPr>
      </p:sp>
      <p:sp>
        <p:nvSpPr>
          <p:cNvPr id="3" name="Shape 1"/>
          <p:cNvSpPr/>
          <p:nvPr/>
        </p:nvSpPr>
        <p:spPr>
          <a:xfrm>
            <a:off x="649224" y="512064"/>
            <a:ext cx="1170432" cy="1170432"/>
          </a:xfrm>
          <a:prstGeom prst="ellipse">
            <a:avLst/>
          </a:prstGeom>
          <a:ln w="15875">
            <a:solidFill>
              <a:srgbClr val="C9A97E"/>
            </a:solidFill>
            <a:prstDash val="solid"/>
          </a:ln>
        </p:spPr>
      </p:sp>
      <p:sp>
        <p:nvSpPr>
          <p:cNvPr id="4" name="Text 2"/>
          <p:cNvSpPr/>
          <p:nvPr/>
        </p:nvSpPr>
        <p:spPr>
          <a:xfrm>
            <a:off x="731520" y="594360"/>
            <a:ext cx="1005840" cy="100584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3</a:t>
            </a:r>
            <a:endParaRPr lang="en-US" sz="3000" dirty="0"/>
          </a:p>
        </p:txBody>
      </p:sp>
      <p:sp>
        <p:nvSpPr>
          <p:cNvPr id="5" name="Text 3"/>
          <p:cNvSpPr/>
          <p:nvPr/>
        </p:nvSpPr>
        <p:spPr>
          <a:xfrm>
            <a:off x="1965960" y="502920"/>
            <a:ext cx="9418320" cy="960120"/>
          </a:xfrm>
          <a:prstGeom prst="rect">
            <a:avLst/>
          </a:prstGeom>
          <a:noFill/>
          <a:ln/>
        </p:spPr>
        <p:txBody>
          <a:bodyPr wrap="square" lIns="0" tIns="0" rIns="0" bIns="0" rtlCol="0" anchor="ctr"/>
          <a:lstStyle/>
          <a:p>
            <a:pPr indent="0" marL="0">
              <a:buNone/>
            </a:pPr>
            <a:r>
              <a:rPr lang="en-US" sz="2800" b="1" dirty="0">
                <a:solidFill>
                  <a:srgbClr val="0E3A5F"/>
                </a:solidFill>
                <a:latin typeface="Georgia" pitchFamily="34" charset="0"/>
                <a:ea typeface="Georgia" pitchFamily="34" charset="-122"/>
                <a:cs typeface="Georgia" pitchFamily="34" charset="-120"/>
              </a:rPr>
              <a:t>No Real Draw or Distribution Process</a:t>
            </a:r>
            <a:endParaRPr lang="en-US" sz="2800" dirty="0"/>
          </a:p>
        </p:txBody>
      </p:sp>
      <p:sp>
        <p:nvSpPr>
          <p:cNvPr id="6" name="Shape 4"/>
          <p:cNvSpPr/>
          <p:nvPr/>
        </p:nvSpPr>
        <p:spPr>
          <a:xfrm>
            <a:off x="731520" y="1783080"/>
            <a:ext cx="10698480" cy="0"/>
          </a:xfrm>
          <a:prstGeom prst="line">
            <a:avLst/>
          </a:prstGeom>
          <a:noFill/>
          <a:ln w="12700">
            <a:solidFill>
              <a:srgbClr val="E4DCC9"/>
            </a:solidFill>
            <a:prstDash val="solid"/>
          </a:ln>
        </p:spPr>
      </p:sp>
      <p:sp>
        <p:nvSpPr>
          <p:cNvPr id="7" name="Text 5"/>
          <p:cNvSpPr/>
          <p:nvPr/>
        </p:nvSpPr>
        <p:spPr>
          <a:xfrm>
            <a:off x="731520" y="201168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THE MISTAKE</a:t>
            </a:r>
            <a:endParaRPr lang="en-US" sz="1250" dirty="0"/>
          </a:p>
        </p:txBody>
      </p:sp>
      <p:sp>
        <p:nvSpPr>
          <p:cNvPr id="8" name="Text 6"/>
          <p:cNvSpPr/>
          <p:nvPr/>
        </p:nvSpPr>
        <p:spPr>
          <a:xfrm>
            <a:off x="731520" y="237744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24303A"/>
                </a:solidFill>
                <a:latin typeface="Calibri" pitchFamily="34" charset="0"/>
                <a:ea typeface="Calibri" pitchFamily="34" charset="-122"/>
                <a:cs typeface="Calibri" pitchFamily="34" charset="-120"/>
              </a:rPr>
              <a:t>Money moves out whenever it's needed, in whatever amount, with no consistent pattern or record of what it actually is.</a:t>
            </a:r>
            <a:endParaRPr lang="en-US" sz="1550" dirty="0"/>
          </a:p>
        </p:txBody>
      </p:sp>
      <p:sp>
        <p:nvSpPr>
          <p:cNvPr id="9" name="Text 7"/>
          <p:cNvSpPr/>
          <p:nvPr/>
        </p:nvSpPr>
        <p:spPr>
          <a:xfrm>
            <a:off x="731520" y="347472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WHY IT HAPPENS</a:t>
            </a:r>
            <a:endParaRPr lang="en-US" sz="1250" dirty="0"/>
          </a:p>
        </p:txBody>
      </p:sp>
      <p:sp>
        <p:nvSpPr>
          <p:cNvPr id="10" name="Text 8"/>
          <p:cNvSpPr/>
          <p:nvPr/>
        </p:nvSpPr>
        <p:spPr>
          <a:xfrm>
            <a:off x="731520" y="384048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5B6670"/>
                </a:solidFill>
                <a:latin typeface="Calibri" pitchFamily="34" charset="0"/>
                <a:ea typeface="Calibri" pitchFamily="34" charset="-122"/>
                <a:cs typeface="Calibri" pitchFamily="34" charset="-120"/>
              </a:rPr>
              <a:t>There's no HR department or board setting a policy — the owner is the only signer, so nothing stops an impulsive transfer.</a:t>
            </a:r>
            <a:endParaRPr lang="en-US" sz="1550" dirty="0"/>
          </a:p>
        </p:txBody>
      </p:sp>
      <p:sp>
        <p:nvSpPr>
          <p:cNvPr id="11" name="Text 9"/>
          <p:cNvSpPr/>
          <p:nvPr/>
        </p:nvSpPr>
        <p:spPr>
          <a:xfrm>
            <a:off x="731520" y="493776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WHAT IT COSTS YOU</a:t>
            </a:r>
            <a:endParaRPr lang="en-US" sz="1250" dirty="0"/>
          </a:p>
        </p:txBody>
      </p:sp>
      <p:sp>
        <p:nvSpPr>
          <p:cNvPr id="12" name="Text 10"/>
          <p:cNvSpPr/>
          <p:nvPr/>
        </p:nvSpPr>
        <p:spPr>
          <a:xfrm>
            <a:off x="731520" y="530352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B8664F"/>
                </a:solidFill>
                <a:latin typeface="Calibri" pitchFamily="34" charset="0"/>
                <a:ea typeface="Calibri" pitchFamily="34" charset="-122"/>
                <a:cs typeface="Calibri" pitchFamily="34" charset="-120"/>
              </a:rPr>
              <a:t>Without a real draw process, there's no way to separate legitimate profit distribution from money that's actually still owed back — to the business, the IRS, or eventually a court.</a:t>
            </a:r>
            <a:endParaRPr lang="en-US" sz="1550" dirty="0"/>
          </a:p>
        </p:txBody>
      </p:sp>
      <p:sp>
        <p:nvSpPr>
          <p:cNvPr id="13" name="Text 11"/>
          <p:cNvSpPr/>
          <p:nvPr/>
        </p:nvSpPr>
        <p:spPr>
          <a:xfrm>
            <a:off x="457200" y="6492240"/>
            <a:ext cx="3657600" cy="274320"/>
          </a:xfrm>
          <a:prstGeom prst="rect">
            <a:avLst/>
          </a:prstGeom>
          <a:noFill/>
          <a:ln/>
        </p:spPr>
        <p:txBody>
          <a:bodyPr wrap="square" lIns="0" tIns="0" rIns="0" bIns="0" rtlCol="0" anchor="ctr"/>
          <a:lstStyle/>
          <a:p>
            <a:pPr indent="0" marL="0">
              <a:buNone/>
            </a:pPr>
            <a:r>
              <a:rPr lang="en-US" sz="1000" spc="200" kern="0" dirty="0">
                <a:solidFill>
                  <a:srgbClr val="5B6670"/>
                </a:solidFill>
                <a:latin typeface="Arial" pitchFamily="34" charset="0"/>
                <a:ea typeface="Arial" pitchFamily="34" charset="-122"/>
                <a:cs typeface="Arial" pitchFamily="34" charset="-120"/>
              </a:rPr>
              <a:t>NÁCAR &amp; LEDGER</a:t>
            </a:r>
            <a:endParaRPr lang="en-US" sz="1000" dirty="0"/>
          </a:p>
        </p:txBody>
      </p:sp>
      <p:sp>
        <p:nvSpPr>
          <p:cNvPr id="14" name="Text 12"/>
          <p:cNvSpPr/>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94360"/>
            <a:ext cx="1005840" cy="1005840"/>
          </a:xfrm>
          <a:prstGeom prst="ellipse">
            <a:avLst/>
          </a:prstGeom>
          <a:solidFill>
            <a:srgbClr val="C9A97E"/>
          </a:solidFill>
          <a:ln w="12700">
            <a:solidFill>
              <a:srgbClr val="FFFFFF"/>
            </a:solidFill>
            <a:prstDash val="solid"/>
          </a:ln>
        </p:spPr>
      </p:sp>
      <p:sp>
        <p:nvSpPr>
          <p:cNvPr id="3" name="Shape 1"/>
          <p:cNvSpPr/>
          <p:nvPr/>
        </p:nvSpPr>
        <p:spPr>
          <a:xfrm>
            <a:off x="649224" y="512064"/>
            <a:ext cx="1170432" cy="1170432"/>
          </a:xfrm>
          <a:prstGeom prst="ellipse">
            <a:avLst/>
          </a:prstGeom>
          <a:ln w="15875">
            <a:solidFill>
              <a:srgbClr val="C9A97E"/>
            </a:solidFill>
            <a:prstDash val="solid"/>
          </a:ln>
        </p:spPr>
      </p:sp>
      <p:sp>
        <p:nvSpPr>
          <p:cNvPr id="4" name="Text 2"/>
          <p:cNvSpPr/>
          <p:nvPr/>
        </p:nvSpPr>
        <p:spPr>
          <a:xfrm>
            <a:off x="731520" y="594360"/>
            <a:ext cx="1005840" cy="100584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4</a:t>
            </a:r>
            <a:endParaRPr lang="en-US" sz="3000" dirty="0"/>
          </a:p>
        </p:txBody>
      </p:sp>
      <p:sp>
        <p:nvSpPr>
          <p:cNvPr id="5" name="Text 3"/>
          <p:cNvSpPr/>
          <p:nvPr/>
        </p:nvSpPr>
        <p:spPr>
          <a:xfrm>
            <a:off x="1965960" y="502920"/>
            <a:ext cx="9418320" cy="960120"/>
          </a:xfrm>
          <a:prstGeom prst="rect">
            <a:avLst/>
          </a:prstGeom>
          <a:noFill/>
          <a:ln/>
        </p:spPr>
        <p:txBody>
          <a:bodyPr wrap="square" lIns="0" tIns="0" rIns="0" bIns="0" rtlCol="0" anchor="ctr"/>
          <a:lstStyle/>
          <a:p>
            <a:pPr indent="0" marL="0">
              <a:buNone/>
            </a:pPr>
            <a:r>
              <a:rPr lang="en-US" sz="2800" b="1" dirty="0">
                <a:solidFill>
                  <a:srgbClr val="0E3A5F"/>
                </a:solidFill>
                <a:latin typeface="Georgia" pitchFamily="34" charset="0"/>
                <a:ea typeface="Georgia" pitchFamily="34" charset="-122"/>
                <a:cs typeface="Georgia" pitchFamily="34" charset="-120"/>
              </a:rPr>
              <a:t>Treating a DBA Like Separation Doesn't Matter</a:t>
            </a:r>
            <a:endParaRPr lang="en-US" sz="2800" dirty="0"/>
          </a:p>
        </p:txBody>
      </p:sp>
      <p:sp>
        <p:nvSpPr>
          <p:cNvPr id="6" name="Shape 4"/>
          <p:cNvSpPr/>
          <p:nvPr/>
        </p:nvSpPr>
        <p:spPr>
          <a:xfrm>
            <a:off x="731520" y="1783080"/>
            <a:ext cx="10698480" cy="0"/>
          </a:xfrm>
          <a:prstGeom prst="line">
            <a:avLst/>
          </a:prstGeom>
          <a:noFill/>
          <a:ln w="12700">
            <a:solidFill>
              <a:srgbClr val="E4DCC9"/>
            </a:solidFill>
            <a:prstDash val="solid"/>
          </a:ln>
        </p:spPr>
      </p:sp>
      <p:sp>
        <p:nvSpPr>
          <p:cNvPr id="7" name="Text 5"/>
          <p:cNvSpPr/>
          <p:nvPr/>
        </p:nvSpPr>
        <p:spPr>
          <a:xfrm>
            <a:off x="731520" y="201168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THE MISTAKE</a:t>
            </a:r>
            <a:endParaRPr lang="en-US" sz="1250" dirty="0"/>
          </a:p>
        </p:txBody>
      </p:sp>
      <p:sp>
        <p:nvSpPr>
          <p:cNvPr id="8" name="Text 6"/>
          <p:cNvSpPr/>
          <p:nvPr/>
        </p:nvSpPr>
        <p:spPr>
          <a:xfrm>
            <a:off x="731520" y="237744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24303A"/>
                </a:solidFill>
                <a:latin typeface="Calibri" pitchFamily="34" charset="0"/>
                <a:ea typeface="Calibri" pitchFamily="34" charset="-122"/>
                <a:cs typeface="Calibri" pitchFamily="34" charset="-120"/>
              </a:rPr>
              <a:t>Because a DBA offers no liability shield, the owner assumes there's no reason to separate accounts at all.</a:t>
            </a:r>
            <a:endParaRPr lang="en-US" sz="1550" dirty="0"/>
          </a:p>
        </p:txBody>
      </p:sp>
      <p:sp>
        <p:nvSpPr>
          <p:cNvPr id="9" name="Text 7"/>
          <p:cNvSpPr/>
          <p:nvPr/>
        </p:nvSpPr>
        <p:spPr>
          <a:xfrm>
            <a:off x="731520" y="347472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WHY IT HAPPENS</a:t>
            </a:r>
            <a:endParaRPr lang="en-US" sz="1250" dirty="0"/>
          </a:p>
        </p:txBody>
      </p:sp>
      <p:sp>
        <p:nvSpPr>
          <p:cNvPr id="10" name="Text 8"/>
          <p:cNvSpPr/>
          <p:nvPr/>
        </p:nvSpPr>
        <p:spPr>
          <a:xfrm>
            <a:off x="731520" y="384048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5B6670"/>
                </a:solidFill>
                <a:latin typeface="Calibri" pitchFamily="34" charset="0"/>
                <a:ea typeface="Calibri" pitchFamily="34" charset="-122"/>
                <a:cs typeface="Calibri" pitchFamily="34" charset="-120"/>
              </a:rPr>
              <a:t>If the law doesn't require it, separation feels optional — a nice-to-have instead of a real discipline.</a:t>
            </a:r>
            <a:endParaRPr lang="en-US" sz="1550" dirty="0"/>
          </a:p>
        </p:txBody>
      </p:sp>
      <p:sp>
        <p:nvSpPr>
          <p:cNvPr id="11" name="Text 9"/>
          <p:cNvSpPr/>
          <p:nvPr/>
        </p:nvSpPr>
        <p:spPr>
          <a:xfrm>
            <a:off x="731520" y="493776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WHAT IT COSTS YOU</a:t>
            </a:r>
            <a:endParaRPr lang="en-US" sz="1250" dirty="0"/>
          </a:p>
        </p:txBody>
      </p:sp>
      <p:sp>
        <p:nvSpPr>
          <p:cNvPr id="12" name="Text 10"/>
          <p:cNvSpPr/>
          <p:nvPr/>
        </p:nvSpPr>
        <p:spPr>
          <a:xfrm>
            <a:off x="731520" y="530352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B8664F"/>
                </a:solidFill>
                <a:latin typeface="Calibri" pitchFamily="34" charset="0"/>
                <a:ea typeface="Calibri" pitchFamily="34" charset="-122"/>
                <a:cs typeface="Calibri" pitchFamily="34" charset="-120"/>
              </a:rPr>
              <a:t>A DBA with commingled books can't prove its own numbers to a lender, can't cleanly convert into an LLC later, and has no defensible expense trail if the IRS ever asks — the liability shield was never the only reason to separate.</a:t>
            </a:r>
            <a:endParaRPr lang="en-US" sz="1550" dirty="0"/>
          </a:p>
        </p:txBody>
      </p:sp>
      <p:sp>
        <p:nvSpPr>
          <p:cNvPr id="13" name="Text 11"/>
          <p:cNvSpPr/>
          <p:nvPr/>
        </p:nvSpPr>
        <p:spPr>
          <a:xfrm>
            <a:off x="457200" y="6492240"/>
            <a:ext cx="3657600" cy="274320"/>
          </a:xfrm>
          <a:prstGeom prst="rect">
            <a:avLst/>
          </a:prstGeom>
          <a:noFill/>
          <a:ln/>
        </p:spPr>
        <p:txBody>
          <a:bodyPr wrap="square" lIns="0" tIns="0" rIns="0" bIns="0" rtlCol="0" anchor="ctr"/>
          <a:lstStyle/>
          <a:p>
            <a:pPr indent="0" marL="0">
              <a:buNone/>
            </a:pPr>
            <a:r>
              <a:rPr lang="en-US" sz="1000" spc="200" kern="0" dirty="0">
                <a:solidFill>
                  <a:srgbClr val="5B6670"/>
                </a:solidFill>
                <a:latin typeface="Arial" pitchFamily="34" charset="0"/>
                <a:ea typeface="Arial" pitchFamily="34" charset="-122"/>
                <a:cs typeface="Arial" pitchFamily="34" charset="-120"/>
              </a:rPr>
              <a:t>NÁCAR &amp; LEDGER</a:t>
            </a:r>
            <a:endParaRPr lang="en-US" sz="1000" dirty="0"/>
          </a:p>
        </p:txBody>
      </p:sp>
      <p:sp>
        <p:nvSpPr>
          <p:cNvPr id="14" name="Text 12"/>
          <p:cNvSpPr/>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94360"/>
            <a:ext cx="1005840" cy="1005840"/>
          </a:xfrm>
          <a:prstGeom prst="ellipse">
            <a:avLst/>
          </a:prstGeom>
          <a:solidFill>
            <a:srgbClr val="C9A97E"/>
          </a:solidFill>
          <a:ln w="12700">
            <a:solidFill>
              <a:srgbClr val="FFFFFF"/>
            </a:solidFill>
            <a:prstDash val="solid"/>
          </a:ln>
        </p:spPr>
      </p:sp>
      <p:sp>
        <p:nvSpPr>
          <p:cNvPr id="3" name="Shape 1"/>
          <p:cNvSpPr/>
          <p:nvPr/>
        </p:nvSpPr>
        <p:spPr>
          <a:xfrm>
            <a:off x="649224" y="512064"/>
            <a:ext cx="1170432" cy="1170432"/>
          </a:xfrm>
          <a:prstGeom prst="ellipse">
            <a:avLst/>
          </a:prstGeom>
          <a:ln w="15875">
            <a:solidFill>
              <a:srgbClr val="C9A97E"/>
            </a:solidFill>
            <a:prstDash val="solid"/>
          </a:ln>
        </p:spPr>
      </p:sp>
      <p:sp>
        <p:nvSpPr>
          <p:cNvPr id="4" name="Text 2"/>
          <p:cNvSpPr/>
          <p:nvPr/>
        </p:nvSpPr>
        <p:spPr>
          <a:xfrm>
            <a:off x="731520" y="594360"/>
            <a:ext cx="1005840" cy="100584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5</a:t>
            </a:r>
            <a:endParaRPr lang="en-US" sz="3000" dirty="0"/>
          </a:p>
        </p:txBody>
      </p:sp>
      <p:sp>
        <p:nvSpPr>
          <p:cNvPr id="5" name="Text 3"/>
          <p:cNvSpPr/>
          <p:nvPr/>
        </p:nvSpPr>
        <p:spPr>
          <a:xfrm>
            <a:off x="1965960" y="502920"/>
            <a:ext cx="9418320" cy="960120"/>
          </a:xfrm>
          <a:prstGeom prst="rect">
            <a:avLst/>
          </a:prstGeom>
          <a:noFill/>
          <a:ln/>
        </p:spPr>
        <p:txBody>
          <a:bodyPr wrap="square" lIns="0" tIns="0" rIns="0" bIns="0" rtlCol="0" anchor="ctr"/>
          <a:lstStyle/>
          <a:p>
            <a:pPr indent="0" marL="0">
              <a:buNone/>
            </a:pPr>
            <a:r>
              <a:rPr lang="en-US" sz="2800" b="1" dirty="0">
                <a:solidFill>
                  <a:srgbClr val="0E3A5F"/>
                </a:solidFill>
                <a:latin typeface="Georgia" pitchFamily="34" charset="0"/>
                <a:ea typeface="Georgia" pitchFamily="34" charset="-122"/>
                <a:cs typeface="Georgia" pitchFamily="34" charset="-120"/>
              </a:rPr>
              <a:t>Running Personal Purchases Through the Business</a:t>
            </a:r>
            <a:endParaRPr lang="en-US" sz="2800" dirty="0"/>
          </a:p>
        </p:txBody>
      </p:sp>
      <p:sp>
        <p:nvSpPr>
          <p:cNvPr id="6" name="Shape 4"/>
          <p:cNvSpPr/>
          <p:nvPr/>
        </p:nvSpPr>
        <p:spPr>
          <a:xfrm>
            <a:off x="731520" y="1783080"/>
            <a:ext cx="10698480" cy="0"/>
          </a:xfrm>
          <a:prstGeom prst="line">
            <a:avLst/>
          </a:prstGeom>
          <a:noFill/>
          <a:ln w="12700">
            <a:solidFill>
              <a:srgbClr val="E4DCC9"/>
            </a:solidFill>
            <a:prstDash val="solid"/>
          </a:ln>
        </p:spPr>
      </p:sp>
      <p:sp>
        <p:nvSpPr>
          <p:cNvPr id="7" name="Text 5"/>
          <p:cNvSpPr/>
          <p:nvPr/>
        </p:nvSpPr>
        <p:spPr>
          <a:xfrm>
            <a:off x="731520" y="201168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THE MISTAKE</a:t>
            </a:r>
            <a:endParaRPr lang="en-US" sz="1250" dirty="0"/>
          </a:p>
        </p:txBody>
      </p:sp>
      <p:sp>
        <p:nvSpPr>
          <p:cNvPr id="8" name="Text 6"/>
          <p:cNvSpPr/>
          <p:nvPr/>
        </p:nvSpPr>
        <p:spPr>
          <a:xfrm>
            <a:off x="731520" y="237744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24303A"/>
                </a:solidFill>
                <a:latin typeface="Calibri" pitchFamily="34" charset="0"/>
                <a:ea typeface="Calibri" pitchFamily="34" charset="-122"/>
                <a:cs typeface="Calibri" pitchFamily="34" charset="-120"/>
              </a:rPr>
              <a:t>Personal expenses get paid from the business account and categorized as business costs because it feels like free tax savings.</a:t>
            </a:r>
            <a:endParaRPr lang="en-US" sz="1550" dirty="0"/>
          </a:p>
        </p:txBody>
      </p:sp>
      <p:sp>
        <p:nvSpPr>
          <p:cNvPr id="9" name="Text 7"/>
          <p:cNvSpPr/>
          <p:nvPr/>
        </p:nvSpPr>
        <p:spPr>
          <a:xfrm>
            <a:off x="731520" y="347472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WHY IT HAPPENS</a:t>
            </a:r>
            <a:endParaRPr lang="en-US" sz="1250" dirty="0"/>
          </a:p>
        </p:txBody>
      </p:sp>
      <p:sp>
        <p:nvSpPr>
          <p:cNvPr id="10" name="Text 8"/>
          <p:cNvSpPr/>
          <p:nvPr/>
        </p:nvSpPr>
        <p:spPr>
          <a:xfrm>
            <a:off x="731520" y="384048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5B6670"/>
                </a:solidFill>
                <a:latin typeface="Calibri" pitchFamily="34" charset="0"/>
                <a:ea typeface="Calibri" pitchFamily="34" charset="-122"/>
                <a:cs typeface="Calibri" pitchFamily="34" charset="-120"/>
              </a:rPr>
              <a:t>A deduction feels like money saved, and nobody's checking the categorization in real time.</a:t>
            </a:r>
            <a:endParaRPr lang="en-US" sz="1550" dirty="0"/>
          </a:p>
        </p:txBody>
      </p:sp>
      <p:sp>
        <p:nvSpPr>
          <p:cNvPr id="11" name="Text 9"/>
          <p:cNvSpPr/>
          <p:nvPr/>
        </p:nvSpPr>
        <p:spPr>
          <a:xfrm>
            <a:off x="731520" y="493776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WHAT IT COSTS YOU</a:t>
            </a:r>
            <a:endParaRPr lang="en-US" sz="1250" dirty="0"/>
          </a:p>
        </p:txBody>
      </p:sp>
      <p:sp>
        <p:nvSpPr>
          <p:cNvPr id="12" name="Text 10"/>
          <p:cNvSpPr/>
          <p:nvPr/>
        </p:nvSpPr>
        <p:spPr>
          <a:xfrm>
            <a:off x="731520" y="530352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B8664F"/>
                </a:solidFill>
                <a:latin typeface="Calibri" pitchFamily="34" charset="0"/>
                <a:ea typeface="Calibri" pitchFamily="34" charset="-122"/>
                <a:cs typeface="Calibri" pitchFamily="34" charset="-120"/>
              </a:rPr>
              <a:t>Misclassified personal expenses are one of the first things an examiner finds — and once one number is wrong, the credibility of every other number on the return goes with it.</a:t>
            </a:r>
            <a:endParaRPr lang="en-US" sz="1550" dirty="0"/>
          </a:p>
        </p:txBody>
      </p:sp>
      <p:sp>
        <p:nvSpPr>
          <p:cNvPr id="13" name="Text 11"/>
          <p:cNvSpPr/>
          <p:nvPr/>
        </p:nvSpPr>
        <p:spPr>
          <a:xfrm>
            <a:off x="457200" y="6492240"/>
            <a:ext cx="3657600" cy="274320"/>
          </a:xfrm>
          <a:prstGeom prst="rect">
            <a:avLst/>
          </a:prstGeom>
          <a:noFill/>
          <a:ln/>
        </p:spPr>
        <p:txBody>
          <a:bodyPr wrap="square" lIns="0" tIns="0" rIns="0" bIns="0" rtlCol="0" anchor="ctr"/>
          <a:lstStyle/>
          <a:p>
            <a:pPr indent="0" marL="0">
              <a:buNone/>
            </a:pPr>
            <a:r>
              <a:rPr lang="en-US" sz="1000" spc="200" kern="0" dirty="0">
                <a:solidFill>
                  <a:srgbClr val="5B6670"/>
                </a:solidFill>
                <a:latin typeface="Arial" pitchFamily="34" charset="0"/>
                <a:ea typeface="Arial" pitchFamily="34" charset="-122"/>
                <a:cs typeface="Arial" pitchFamily="34" charset="-120"/>
              </a:rPr>
              <a:t>NÁCAR &amp; LEDGER</a:t>
            </a:r>
            <a:endParaRPr lang="en-US" sz="1000" dirty="0"/>
          </a:p>
        </p:txBody>
      </p:sp>
      <p:sp>
        <p:nvSpPr>
          <p:cNvPr id="14" name="Text 12"/>
          <p:cNvSpPr/>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94360"/>
            <a:ext cx="1005840" cy="1005840"/>
          </a:xfrm>
          <a:prstGeom prst="ellipse">
            <a:avLst/>
          </a:prstGeom>
          <a:solidFill>
            <a:srgbClr val="C9A97E"/>
          </a:solidFill>
          <a:ln w="12700">
            <a:solidFill>
              <a:srgbClr val="FFFFFF"/>
            </a:solidFill>
            <a:prstDash val="solid"/>
          </a:ln>
        </p:spPr>
      </p:sp>
      <p:sp>
        <p:nvSpPr>
          <p:cNvPr id="3" name="Shape 1"/>
          <p:cNvSpPr/>
          <p:nvPr/>
        </p:nvSpPr>
        <p:spPr>
          <a:xfrm>
            <a:off x="649224" y="512064"/>
            <a:ext cx="1170432" cy="1170432"/>
          </a:xfrm>
          <a:prstGeom prst="ellipse">
            <a:avLst/>
          </a:prstGeom>
          <a:ln w="15875">
            <a:solidFill>
              <a:srgbClr val="C9A97E"/>
            </a:solidFill>
            <a:prstDash val="solid"/>
          </a:ln>
        </p:spPr>
      </p:sp>
      <p:sp>
        <p:nvSpPr>
          <p:cNvPr id="4" name="Text 2"/>
          <p:cNvSpPr/>
          <p:nvPr/>
        </p:nvSpPr>
        <p:spPr>
          <a:xfrm>
            <a:off x="731520" y="594360"/>
            <a:ext cx="1005840" cy="100584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6</a:t>
            </a:r>
            <a:endParaRPr lang="en-US" sz="3000" dirty="0"/>
          </a:p>
        </p:txBody>
      </p:sp>
      <p:sp>
        <p:nvSpPr>
          <p:cNvPr id="5" name="Text 3"/>
          <p:cNvSpPr/>
          <p:nvPr/>
        </p:nvSpPr>
        <p:spPr>
          <a:xfrm>
            <a:off x="1965960" y="502920"/>
            <a:ext cx="9418320" cy="960120"/>
          </a:xfrm>
          <a:prstGeom prst="rect">
            <a:avLst/>
          </a:prstGeom>
          <a:noFill/>
          <a:ln/>
        </p:spPr>
        <p:txBody>
          <a:bodyPr wrap="square" lIns="0" tIns="0" rIns="0" bIns="0" rtlCol="0" anchor="ctr"/>
          <a:lstStyle/>
          <a:p>
            <a:pPr indent="0" marL="0">
              <a:buNone/>
            </a:pPr>
            <a:r>
              <a:rPr lang="en-US" sz="2800" b="1" dirty="0">
                <a:solidFill>
                  <a:srgbClr val="0E3A5F"/>
                </a:solidFill>
                <a:latin typeface="Georgia" pitchFamily="34" charset="0"/>
                <a:ea typeface="Georgia" pitchFamily="34" charset="-122"/>
                <a:cs typeface="Georgia" pitchFamily="34" charset="-120"/>
              </a:rPr>
              <a:t>Separate Accounts, But No Real Equity Tracking</a:t>
            </a:r>
            <a:endParaRPr lang="en-US" sz="2800" dirty="0"/>
          </a:p>
        </p:txBody>
      </p:sp>
      <p:sp>
        <p:nvSpPr>
          <p:cNvPr id="6" name="Shape 4"/>
          <p:cNvSpPr/>
          <p:nvPr/>
        </p:nvSpPr>
        <p:spPr>
          <a:xfrm>
            <a:off x="731520" y="1783080"/>
            <a:ext cx="10698480" cy="0"/>
          </a:xfrm>
          <a:prstGeom prst="line">
            <a:avLst/>
          </a:prstGeom>
          <a:noFill/>
          <a:ln w="12700">
            <a:solidFill>
              <a:srgbClr val="E4DCC9"/>
            </a:solidFill>
            <a:prstDash val="solid"/>
          </a:ln>
        </p:spPr>
      </p:sp>
      <p:sp>
        <p:nvSpPr>
          <p:cNvPr id="7" name="Text 5"/>
          <p:cNvSpPr/>
          <p:nvPr/>
        </p:nvSpPr>
        <p:spPr>
          <a:xfrm>
            <a:off x="731520" y="201168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THE MISTAKE</a:t>
            </a:r>
            <a:endParaRPr lang="en-US" sz="1250" dirty="0"/>
          </a:p>
        </p:txBody>
      </p:sp>
      <p:sp>
        <p:nvSpPr>
          <p:cNvPr id="8" name="Text 6"/>
          <p:cNvSpPr/>
          <p:nvPr/>
        </p:nvSpPr>
        <p:spPr>
          <a:xfrm>
            <a:off x="731520" y="237744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24303A"/>
                </a:solidFill>
                <a:latin typeface="Calibri" pitchFamily="34" charset="0"/>
                <a:ea typeface="Calibri" pitchFamily="34" charset="-122"/>
                <a:cs typeface="Calibri" pitchFamily="34" charset="-120"/>
              </a:rPr>
              <a:t>The business has its own bank account, but draws and contributions never get recorded to an actual equity account — they just vanish into “miscellaneous.”</a:t>
            </a:r>
            <a:endParaRPr lang="en-US" sz="1550" dirty="0"/>
          </a:p>
        </p:txBody>
      </p:sp>
      <p:sp>
        <p:nvSpPr>
          <p:cNvPr id="9" name="Text 7"/>
          <p:cNvSpPr/>
          <p:nvPr/>
        </p:nvSpPr>
        <p:spPr>
          <a:xfrm>
            <a:off x="731520" y="347472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WHY IT HAPPENS</a:t>
            </a:r>
            <a:endParaRPr lang="en-US" sz="1250" dirty="0"/>
          </a:p>
        </p:txBody>
      </p:sp>
      <p:sp>
        <p:nvSpPr>
          <p:cNvPr id="10" name="Text 8"/>
          <p:cNvSpPr/>
          <p:nvPr/>
        </p:nvSpPr>
        <p:spPr>
          <a:xfrm>
            <a:off x="731520" y="384048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5B6670"/>
                </a:solidFill>
                <a:latin typeface="Calibri" pitchFamily="34" charset="0"/>
                <a:ea typeface="Calibri" pitchFamily="34" charset="-122"/>
                <a:cs typeface="Calibri" pitchFamily="34" charset="-120"/>
              </a:rPr>
              <a:t>Opening a second account feels like the whole fix, so the bookkeeping behind it doesn't get the same attention.</a:t>
            </a:r>
            <a:endParaRPr lang="en-US" sz="1550" dirty="0"/>
          </a:p>
        </p:txBody>
      </p:sp>
      <p:sp>
        <p:nvSpPr>
          <p:cNvPr id="11" name="Text 9"/>
          <p:cNvSpPr/>
          <p:nvPr/>
        </p:nvSpPr>
        <p:spPr>
          <a:xfrm>
            <a:off x="731520" y="4937760"/>
            <a:ext cx="10698480" cy="320040"/>
          </a:xfrm>
          <a:prstGeom prst="rect">
            <a:avLst/>
          </a:prstGeom>
          <a:noFill/>
          <a:ln/>
        </p:spPr>
        <p:txBody>
          <a:bodyPr wrap="square" lIns="0" tIns="0" rIns="0" bIns="0" rtlCol="0" anchor="ctr"/>
          <a:lstStyle/>
          <a:p>
            <a:pPr indent="0" marL="0">
              <a:buNone/>
            </a:pPr>
            <a:r>
              <a:rPr lang="en-US" sz="1250" b="1" spc="150" kern="0" dirty="0">
                <a:solidFill>
                  <a:srgbClr val="8C7A54"/>
                </a:solidFill>
                <a:latin typeface="Arial" pitchFamily="34" charset="0"/>
                <a:ea typeface="Arial" pitchFamily="34" charset="-122"/>
                <a:cs typeface="Arial" pitchFamily="34" charset="-120"/>
              </a:rPr>
              <a:t>WHAT IT COSTS YOU</a:t>
            </a:r>
            <a:endParaRPr lang="en-US" sz="1250" dirty="0"/>
          </a:p>
        </p:txBody>
      </p:sp>
      <p:sp>
        <p:nvSpPr>
          <p:cNvPr id="12" name="Text 10"/>
          <p:cNvSpPr/>
          <p:nvPr/>
        </p:nvSpPr>
        <p:spPr>
          <a:xfrm>
            <a:off x="731520" y="5303520"/>
            <a:ext cx="10698480" cy="1005840"/>
          </a:xfrm>
          <a:prstGeom prst="rect">
            <a:avLst/>
          </a:prstGeom>
          <a:noFill/>
          <a:ln/>
        </p:spPr>
        <p:txBody>
          <a:bodyPr wrap="square" lIns="0" tIns="0" rIns="0" bIns="0" rtlCol="0" anchor="ctr"/>
          <a:lstStyle/>
          <a:p>
            <a:pPr indent="0" marL="0">
              <a:lnSpc>
                <a:spcPct val="120000"/>
              </a:lnSpc>
              <a:buNone/>
            </a:pPr>
            <a:r>
              <a:rPr lang="en-US" sz="1550" dirty="0">
                <a:solidFill>
                  <a:srgbClr val="B8664F"/>
                </a:solidFill>
                <a:latin typeface="Calibri" pitchFamily="34" charset="0"/>
                <a:ea typeface="Calibri" pitchFamily="34" charset="-122"/>
                <a:cs typeface="Calibri" pitchFamily="34" charset="-120"/>
              </a:rPr>
              <a:t>Without tracking contributions and draws against equity, nobody — not the owner, not a lender, not an examiner — can tell whether the business is actually profitable or just moving cash in a circle.</a:t>
            </a:r>
            <a:endParaRPr lang="en-US" sz="1550" dirty="0"/>
          </a:p>
        </p:txBody>
      </p:sp>
      <p:sp>
        <p:nvSpPr>
          <p:cNvPr id="13" name="Text 11"/>
          <p:cNvSpPr/>
          <p:nvPr/>
        </p:nvSpPr>
        <p:spPr>
          <a:xfrm>
            <a:off x="457200" y="6492240"/>
            <a:ext cx="3657600" cy="274320"/>
          </a:xfrm>
          <a:prstGeom prst="rect">
            <a:avLst/>
          </a:prstGeom>
          <a:noFill/>
          <a:ln/>
        </p:spPr>
        <p:txBody>
          <a:bodyPr wrap="square" lIns="0" tIns="0" rIns="0" bIns="0" rtlCol="0" anchor="ctr"/>
          <a:lstStyle/>
          <a:p>
            <a:pPr indent="0" marL="0">
              <a:buNone/>
            </a:pPr>
            <a:r>
              <a:rPr lang="en-US" sz="1000" spc="200" kern="0" dirty="0">
                <a:solidFill>
                  <a:srgbClr val="5B6670"/>
                </a:solidFill>
                <a:latin typeface="Arial" pitchFamily="34" charset="0"/>
                <a:ea typeface="Arial" pitchFamily="34" charset="-122"/>
                <a:cs typeface="Arial" pitchFamily="34" charset="-120"/>
              </a:rPr>
              <a:t>NÁCAR &amp; LEDGER</a:t>
            </a:r>
            <a:endParaRPr lang="en-US" sz="1000" dirty="0"/>
          </a:p>
        </p:txBody>
      </p:sp>
      <p:sp>
        <p:nvSpPr>
          <p:cNvPr id="14" name="Text 12"/>
          <p:cNvSpPr/>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0698480" cy="640080"/>
          </a:xfrm>
          <a:prstGeom prst="rect">
            <a:avLst/>
          </a:prstGeom>
          <a:noFill/>
          <a:ln/>
        </p:spPr>
        <p:txBody>
          <a:bodyPr wrap="square" lIns="0" tIns="0" rIns="0" bIns="0" rtlCol="0" anchor="ctr"/>
          <a:lstStyle/>
          <a:p>
            <a:pPr indent="0" marL="0">
              <a:buNone/>
            </a:pPr>
            <a:r>
              <a:rPr lang="en-US" sz="2800" b="1" dirty="0">
                <a:solidFill>
                  <a:srgbClr val="0E3A5F"/>
                </a:solidFill>
                <a:latin typeface="Georgia" pitchFamily="34" charset="0"/>
                <a:ea typeface="Georgia" pitchFamily="34" charset="-122"/>
                <a:cs typeface="Georgia" pitchFamily="34" charset="-120"/>
              </a:rPr>
              <a:t>How This Actually Catches Up With You</a:t>
            </a:r>
            <a:endParaRPr lang="en-US" sz="2800" dirty="0"/>
          </a:p>
        </p:txBody>
      </p:sp>
      <p:sp>
        <p:nvSpPr>
          <p:cNvPr id="3" name="Text 1"/>
          <p:cNvSpPr/>
          <p:nvPr/>
        </p:nvSpPr>
        <p:spPr>
          <a:xfrm>
            <a:off x="731520" y="1097280"/>
            <a:ext cx="10698480" cy="411480"/>
          </a:xfrm>
          <a:prstGeom prst="rect">
            <a:avLst/>
          </a:prstGeom>
          <a:noFill/>
          <a:ln/>
        </p:spPr>
        <p:txBody>
          <a:bodyPr wrap="square" lIns="0" tIns="0" rIns="0" bIns="0" rtlCol="0" anchor="ctr"/>
          <a:lstStyle/>
          <a:p>
            <a:pPr indent="0" marL="0">
              <a:buNone/>
            </a:pPr>
            <a:r>
              <a:rPr lang="en-US" sz="1400" i="1" dirty="0">
                <a:solidFill>
                  <a:srgbClr val="5B6670"/>
                </a:solidFill>
                <a:latin typeface="Calibri" pitchFamily="34" charset="0"/>
                <a:ea typeface="Calibri" pitchFamily="34" charset="-122"/>
                <a:cs typeface="Calibri" pitchFamily="34" charset="-120"/>
              </a:rPr>
              <a:t>Commingled funds resolve themselves one of two ways — and one is a lot more expensive than the other.</a:t>
            </a:r>
            <a:endParaRPr lang="en-US" sz="1400" dirty="0"/>
          </a:p>
        </p:txBody>
      </p:sp>
      <p:sp>
        <p:nvSpPr>
          <p:cNvPr id="4" name="Shape 2"/>
          <p:cNvSpPr/>
          <p:nvPr/>
        </p:nvSpPr>
        <p:spPr>
          <a:xfrm>
            <a:off x="731520" y="1783080"/>
            <a:ext cx="5074920" cy="4160520"/>
          </a:xfrm>
          <a:prstGeom prst="roundRect">
            <a:avLst>
              <a:gd name="adj" fmla="val 1758"/>
            </a:avLst>
          </a:prstGeom>
          <a:solidFill>
            <a:srgbClr val="F7F2EA"/>
          </a:solidFill>
          <a:ln w="12700">
            <a:solidFill>
              <a:srgbClr val="8C7A54"/>
            </a:solidFill>
            <a:prstDash val="solid"/>
          </a:ln>
        </p:spPr>
      </p:sp>
      <p:sp>
        <p:nvSpPr>
          <p:cNvPr id="5" name="Text 3"/>
          <p:cNvSpPr/>
          <p:nvPr/>
        </p:nvSpPr>
        <p:spPr>
          <a:xfrm>
            <a:off x="1051560" y="2011680"/>
            <a:ext cx="4434840" cy="320040"/>
          </a:xfrm>
          <a:prstGeom prst="rect">
            <a:avLst/>
          </a:prstGeom>
          <a:noFill/>
          <a:ln/>
        </p:spPr>
        <p:txBody>
          <a:bodyPr wrap="square" lIns="0" tIns="0" rIns="0" bIns="0" rtlCol="0" anchor="ctr"/>
          <a:lstStyle/>
          <a:p>
            <a:pPr indent="0" marL="0">
              <a:buNone/>
            </a:pPr>
            <a:r>
              <a:rPr lang="en-US" sz="1200" b="1" spc="200" kern="0" dirty="0">
                <a:solidFill>
                  <a:srgbClr val="8C7A54"/>
                </a:solidFill>
                <a:latin typeface="Arial" pitchFamily="34" charset="0"/>
                <a:ea typeface="Arial" pitchFamily="34" charset="-122"/>
                <a:cs typeface="Arial" pitchFamily="34" charset="-120"/>
              </a:rPr>
              <a:t>PATH A</a:t>
            </a:r>
            <a:endParaRPr lang="en-US" sz="1200" dirty="0"/>
          </a:p>
        </p:txBody>
      </p:sp>
      <p:sp>
        <p:nvSpPr>
          <p:cNvPr id="6" name="Text 4"/>
          <p:cNvSpPr/>
          <p:nvPr/>
        </p:nvSpPr>
        <p:spPr>
          <a:xfrm>
            <a:off x="1051560" y="2331720"/>
            <a:ext cx="4434840" cy="685800"/>
          </a:xfrm>
          <a:prstGeom prst="rect">
            <a:avLst/>
          </a:prstGeom>
          <a:noFill/>
          <a:ln/>
        </p:spPr>
        <p:txBody>
          <a:bodyPr wrap="square" lIns="0" tIns="0" rIns="0" bIns="0" rtlCol="0" anchor="ctr"/>
          <a:lstStyle/>
          <a:p>
            <a:pPr indent="0" marL="0">
              <a:buNone/>
            </a:pPr>
            <a:r>
              <a:rPr lang="en-US" sz="2100" b="1" dirty="0">
                <a:solidFill>
                  <a:srgbClr val="0E3A5F"/>
                </a:solidFill>
                <a:latin typeface="Georgia" pitchFamily="34" charset="0"/>
                <a:ea typeface="Georgia" pitchFamily="34" charset="-122"/>
                <a:cs typeface="Georgia" pitchFamily="34" charset="-120"/>
              </a:rPr>
              <a:t>You Catch It Yourself</a:t>
            </a:r>
            <a:endParaRPr lang="en-US" sz="2100" dirty="0"/>
          </a:p>
        </p:txBody>
      </p:sp>
      <p:sp>
        <p:nvSpPr>
          <p:cNvPr id="7" name="Text 5"/>
          <p:cNvSpPr/>
          <p:nvPr/>
        </p:nvSpPr>
        <p:spPr>
          <a:xfrm>
            <a:off x="1051560" y="3063240"/>
            <a:ext cx="4434840" cy="1188720"/>
          </a:xfrm>
          <a:prstGeom prst="rect">
            <a:avLst/>
          </a:prstGeom>
          <a:noFill/>
          <a:ln/>
        </p:spPr>
        <p:txBody>
          <a:bodyPr wrap="square" lIns="0" tIns="0" rIns="0" bIns="0" rtlCol="0" anchor="ctr"/>
          <a:lstStyle/>
          <a:p>
            <a:pPr indent="0" marL="0">
              <a:lnSpc>
                <a:spcPct val="125000"/>
              </a:lnSpc>
              <a:buNone/>
            </a:pPr>
            <a:r>
              <a:rPr lang="en-US" sz="1450" dirty="0">
                <a:solidFill>
                  <a:srgbClr val="24303A"/>
                </a:solidFill>
                <a:latin typeface="Calibri" pitchFamily="34" charset="0"/>
                <a:ea typeface="Calibri" pitchFamily="34" charset="-122"/>
                <a:cs typeface="Calibri" pitchFamily="34" charset="-120"/>
              </a:rPr>
              <a:t>A real business account gets opened, a consistent draw process gets established, and the books get untangled before anyone outside the business is looking.</a:t>
            </a:r>
            <a:endParaRPr lang="en-US" sz="1450" dirty="0"/>
          </a:p>
        </p:txBody>
      </p:sp>
      <p:sp>
        <p:nvSpPr>
          <p:cNvPr id="8" name="Shape 6"/>
          <p:cNvSpPr/>
          <p:nvPr/>
        </p:nvSpPr>
        <p:spPr>
          <a:xfrm>
            <a:off x="1051560" y="4343400"/>
            <a:ext cx="4434840" cy="0"/>
          </a:xfrm>
          <a:prstGeom prst="line">
            <a:avLst/>
          </a:prstGeom>
          <a:noFill/>
          <a:ln w="9525">
            <a:solidFill>
              <a:srgbClr val="8C7A54"/>
            </a:solidFill>
            <a:prstDash val="dash"/>
          </a:ln>
        </p:spPr>
      </p:sp>
      <p:sp>
        <p:nvSpPr>
          <p:cNvPr id="9" name="Text 7"/>
          <p:cNvSpPr/>
          <p:nvPr/>
        </p:nvSpPr>
        <p:spPr>
          <a:xfrm>
            <a:off x="1051560" y="4526280"/>
            <a:ext cx="4434840" cy="1280160"/>
          </a:xfrm>
          <a:prstGeom prst="rect">
            <a:avLst/>
          </a:prstGeom>
          <a:noFill/>
          <a:ln/>
        </p:spPr>
        <p:txBody>
          <a:bodyPr wrap="square" lIns="0" tIns="0" rIns="0" bIns="0" rtlCol="0" anchor="ctr"/>
          <a:lstStyle/>
          <a:p>
            <a:pPr indent="0" marL="0">
              <a:lnSpc>
                <a:spcPct val="125000"/>
              </a:lnSpc>
              <a:buNone/>
            </a:pPr>
            <a:r>
              <a:rPr lang="en-US" sz="1450" b="1" dirty="0">
                <a:solidFill>
                  <a:srgbClr val="8C7A54"/>
                </a:solidFill>
                <a:latin typeface="Calibri" pitchFamily="34" charset="0"/>
                <a:ea typeface="Calibri" pitchFamily="34" charset="-122"/>
                <a:cs typeface="Calibri" pitchFamily="34" charset="-120"/>
              </a:rPr>
              <a:t>The fix happens quietly, on your own timeline, before it costs you anything but the time to do it.</a:t>
            </a:r>
            <a:endParaRPr lang="en-US" sz="1450" dirty="0"/>
          </a:p>
        </p:txBody>
      </p:sp>
      <p:sp>
        <p:nvSpPr>
          <p:cNvPr id="10" name="Shape 8"/>
          <p:cNvSpPr/>
          <p:nvPr/>
        </p:nvSpPr>
        <p:spPr>
          <a:xfrm>
            <a:off x="6355080" y="1783080"/>
            <a:ext cx="5074920" cy="4160520"/>
          </a:xfrm>
          <a:prstGeom prst="roundRect">
            <a:avLst>
              <a:gd name="adj" fmla="val 1758"/>
            </a:avLst>
          </a:prstGeom>
          <a:solidFill>
            <a:srgbClr val="F7F2EA"/>
          </a:solidFill>
          <a:ln w="12700">
            <a:solidFill>
              <a:srgbClr val="B8664F"/>
            </a:solidFill>
            <a:prstDash val="solid"/>
          </a:ln>
        </p:spPr>
      </p:sp>
      <p:sp>
        <p:nvSpPr>
          <p:cNvPr id="11" name="Text 9"/>
          <p:cNvSpPr/>
          <p:nvPr/>
        </p:nvSpPr>
        <p:spPr>
          <a:xfrm>
            <a:off x="6675120" y="2011680"/>
            <a:ext cx="4434840" cy="320040"/>
          </a:xfrm>
          <a:prstGeom prst="rect">
            <a:avLst/>
          </a:prstGeom>
          <a:noFill/>
          <a:ln/>
        </p:spPr>
        <p:txBody>
          <a:bodyPr wrap="square" lIns="0" tIns="0" rIns="0" bIns="0" rtlCol="0" anchor="ctr"/>
          <a:lstStyle/>
          <a:p>
            <a:pPr indent="0" marL="0">
              <a:buNone/>
            </a:pPr>
            <a:r>
              <a:rPr lang="en-US" sz="1200" b="1" spc="200" kern="0" dirty="0">
                <a:solidFill>
                  <a:srgbClr val="B8664F"/>
                </a:solidFill>
                <a:latin typeface="Arial" pitchFamily="34" charset="0"/>
                <a:ea typeface="Arial" pitchFamily="34" charset="-122"/>
                <a:cs typeface="Arial" pitchFamily="34" charset="-120"/>
              </a:rPr>
              <a:t>PATH B</a:t>
            </a:r>
            <a:endParaRPr lang="en-US" sz="1200" dirty="0"/>
          </a:p>
        </p:txBody>
      </p:sp>
      <p:sp>
        <p:nvSpPr>
          <p:cNvPr id="12" name="Text 10"/>
          <p:cNvSpPr/>
          <p:nvPr/>
        </p:nvSpPr>
        <p:spPr>
          <a:xfrm>
            <a:off x="6675120" y="2331720"/>
            <a:ext cx="4434840" cy="685800"/>
          </a:xfrm>
          <a:prstGeom prst="rect">
            <a:avLst/>
          </a:prstGeom>
          <a:noFill/>
          <a:ln/>
        </p:spPr>
        <p:txBody>
          <a:bodyPr wrap="square" lIns="0" tIns="0" rIns="0" bIns="0" rtlCol="0" anchor="ctr"/>
          <a:lstStyle/>
          <a:p>
            <a:pPr indent="0" marL="0">
              <a:buNone/>
            </a:pPr>
            <a:r>
              <a:rPr lang="en-US" sz="2100" b="1" dirty="0">
                <a:solidFill>
                  <a:srgbClr val="0E3A5F"/>
                </a:solidFill>
                <a:latin typeface="Georgia" pitchFamily="34" charset="0"/>
                <a:ea typeface="Georgia" pitchFamily="34" charset="-122"/>
                <a:cs typeface="Georgia" pitchFamily="34" charset="-120"/>
              </a:rPr>
              <a:t>Someone Else Catches It First</a:t>
            </a:r>
            <a:endParaRPr lang="en-US" sz="2100" dirty="0"/>
          </a:p>
        </p:txBody>
      </p:sp>
      <p:sp>
        <p:nvSpPr>
          <p:cNvPr id="13" name="Text 11"/>
          <p:cNvSpPr/>
          <p:nvPr/>
        </p:nvSpPr>
        <p:spPr>
          <a:xfrm>
            <a:off x="6675120" y="3063240"/>
            <a:ext cx="4434840" cy="1188720"/>
          </a:xfrm>
          <a:prstGeom prst="rect">
            <a:avLst/>
          </a:prstGeom>
          <a:noFill/>
          <a:ln/>
        </p:spPr>
        <p:txBody>
          <a:bodyPr wrap="square" lIns="0" tIns="0" rIns="0" bIns="0" rtlCol="0" anchor="ctr"/>
          <a:lstStyle/>
          <a:p>
            <a:pPr indent="0" marL="0">
              <a:lnSpc>
                <a:spcPct val="125000"/>
              </a:lnSpc>
              <a:buNone/>
            </a:pPr>
            <a:r>
              <a:rPr lang="en-US" sz="1450" dirty="0">
                <a:solidFill>
                  <a:srgbClr val="24303A"/>
                </a:solidFill>
                <a:latin typeface="Calibri" pitchFamily="34" charset="0"/>
                <a:ea typeface="Calibri" pitchFamily="34" charset="-122"/>
                <a:cs typeface="Calibri" pitchFamily="34" charset="-120"/>
              </a:rPr>
              <a:t>A lender questions the numbers, a court examines the entity during a lawsuit, or an examiner finds personal expenses buried in the business return.</a:t>
            </a:r>
            <a:endParaRPr lang="en-US" sz="1450" dirty="0"/>
          </a:p>
        </p:txBody>
      </p:sp>
      <p:sp>
        <p:nvSpPr>
          <p:cNvPr id="14" name="Shape 12"/>
          <p:cNvSpPr/>
          <p:nvPr/>
        </p:nvSpPr>
        <p:spPr>
          <a:xfrm>
            <a:off x="6675120" y="4343400"/>
            <a:ext cx="4434840" cy="0"/>
          </a:xfrm>
          <a:prstGeom prst="line">
            <a:avLst/>
          </a:prstGeom>
          <a:noFill/>
          <a:ln w="9525">
            <a:solidFill>
              <a:srgbClr val="B8664F"/>
            </a:solidFill>
            <a:prstDash val="dash"/>
          </a:ln>
        </p:spPr>
      </p:sp>
      <p:sp>
        <p:nvSpPr>
          <p:cNvPr id="15" name="Text 13"/>
          <p:cNvSpPr/>
          <p:nvPr/>
        </p:nvSpPr>
        <p:spPr>
          <a:xfrm>
            <a:off x="6675120" y="4526280"/>
            <a:ext cx="4434840" cy="1280160"/>
          </a:xfrm>
          <a:prstGeom prst="rect">
            <a:avLst/>
          </a:prstGeom>
          <a:noFill/>
          <a:ln/>
        </p:spPr>
        <p:txBody>
          <a:bodyPr wrap="square" lIns="0" tIns="0" rIns="0" bIns="0" rtlCol="0" anchor="ctr"/>
          <a:lstStyle/>
          <a:p>
            <a:pPr indent="0" marL="0">
              <a:lnSpc>
                <a:spcPct val="125000"/>
              </a:lnSpc>
              <a:buNone/>
            </a:pPr>
            <a:r>
              <a:rPr lang="en-US" sz="1450" b="1" dirty="0">
                <a:solidFill>
                  <a:srgbClr val="B8664F"/>
                </a:solidFill>
                <a:latin typeface="Calibri" pitchFamily="34" charset="0"/>
                <a:ea typeface="Calibri" pitchFamily="34" charset="-122"/>
                <a:cs typeface="Calibri" pitchFamily="34" charset="-120"/>
              </a:rPr>
              <a:t>For an LLC or S-corp, that's the liability shield unwound. For anyone, it's disallowed deductions, reconstructed income, and penalties — on someone else's timeline, not yours.</a:t>
            </a:r>
            <a:endParaRPr lang="en-US" sz="1450" dirty="0"/>
          </a:p>
        </p:txBody>
      </p:sp>
      <p:sp>
        <p:nvSpPr>
          <p:cNvPr id="16" name="Text 14"/>
          <p:cNvSpPr/>
          <p:nvPr/>
        </p:nvSpPr>
        <p:spPr>
          <a:xfrm>
            <a:off x="457200" y="6492240"/>
            <a:ext cx="3657600" cy="274320"/>
          </a:xfrm>
          <a:prstGeom prst="rect">
            <a:avLst/>
          </a:prstGeom>
          <a:noFill/>
          <a:ln/>
        </p:spPr>
        <p:txBody>
          <a:bodyPr wrap="square" lIns="0" tIns="0" rIns="0" bIns="0" rtlCol="0" anchor="ctr"/>
          <a:lstStyle/>
          <a:p>
            <a:pPr indent="0" marL="0">
              <a:buNone/>
            </a:pPr>
            <a:r>
              <a:rPr lang="en-US" sz="1000" spc="200" kern="0" dirty="0">
                <a:solidFill>
                  <a:srgbClr val="5B6670"/>
                </a:solidFill>
                <a:latin typeface="Arial" pitchFamily="34" charset="0"/>
                <a:ea typeface="Arial" pitchFamily="34" charset="-122"/>
                <a:cs typeface="Arial" pitchFamily="34" charset="-120"/>
              </a:rPr>
              <a:t>NÁCAR &amp; LEDGER</a:t>
            </a:r>
            <a:endParaRPr lang="en-US" sz="1000" dirty="0"/>
          </a:p>
        </p:txBody>
      </p:sp>
      <p:sp>
        <p:nvSpPr>
          <p:cNvPr id="17" name="Text 15"/>
          <p:cNvSpPr/>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48640"/>
            <a:ext cx="10698480" cy="640080"/>
          </a:xfrm>
          <a:prstGeom prst="rect">
            <a:avLst/>
          </a:prstGeom>
          <a:noFill/>
          <a:ln/>
        </p:spPr>
        <p:txBody>
          <a:bodyPr wrap="square" lIns="0" tIns="0" rIns="0" bIns="0" rtlCol="0" anchor="ctr"/>
          <a:lstStyle/>
          <a:p>
            <a:pPr indent="0" marL="0">
              <a:buNone/>
            </a:pPr>
            <a:r>
              <a:rPr lang="en-US" sz="2800" b="1" dirty="0">
                <a:solidFill>
                  <a:srgbClr val="0E3A5F"/>
                </a:solidFill>
                <a:latin typeface="Georgia" pitchFamily="34" charset="0"/>
                <a:ea typeface="Georgia" pitchFamily="34" charset="-122"/>
                <a:cs typeface="Georgia" pitchFamily="34" charset="-120"/>
              </a:rPr>
              <a:t>The Fix Is Almost Always the Same</a:t>
            </a:r>
            <a:endParaRPr lang="en-US" sz="2800" dirty="0"/>
          </a:p>
        </p:txBody>
      </p:sp>
      <p:sp>
        <p:nvSpPr>
          <p:cNvPr id="3" name="Shape 1"/>
          <p:cNvSpPr/>
          <p:nvPr/>
        </p:nvSpPr>
        <p:spPr>
          <a:xfrm>
            <a:off x="731520" y="1508760"/>
            <a:ext cx="594360" cy="594360"/>
          </a:xfrm>
          <a:prstGeom prst="ellipse">
            <a:avLst/>
          </a:prstGeom>
          <a:solidFill>
            <a:srgbClr val="C9A97E"/>
          </a:solidFill>
          <a:ln w="12700">
            <a:solidFill>
              <a:srgbClr val="FFFFFF"/>
            </a:solidFill>
            <a:prstDash val="solid"/>
          </a:ln>
        </p:spPr>
      </p:sp>
      <p:sp>
        <p:nvSpPr>
          <p:cNvPr id="4" name="Shape 2"/>
          <p:cNvSpPr/>
          <p:nvPr/>
        </p:nvSpPr>
        <p:spPr>
          <a:xfrm>
            <a:off x="649224" y="1426464"/>
            <a:ext cx="758952" cy="758952"/>
          </a:xfrm>
          <a:prstGeom prst="ellipse">
            <a:avLst/>
          </a:prstGeom>
          <a:ln w="15875">
            <a:solidFill>
              <a:srgbClr val="C9A97E"/>
            </a:solidFill>
            <a:prstDash val="solid"/>
          </a:ln>
        </p:spPr>
      </p:sp>
      <p:sp>
        <p:nvSpPr>
          <p:cNvPr id="5" name="Text 3"/>
          <p:cNvSpPr/>
          <p:nvPr/>
        </p:nvSpPr>
        <p:spPr>
          <a:xfrm>
            <a:off x="731520" y="1508760"/>
            <a:ext cx="594360" cy="59436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1</a:t>
            </a:r>
            <a:endParaRPr lang="en-US" sz="3000" dirty="0"/>
          </a:p>
        </p:txBody>
      </p:sp>
      <p:sp>
        <p:nvSpPr>
          <p:cNvPr id="6" name="Text 4"/>
          <p:cNvSpPr/>
          <p:nvPr/>
        </p:nvSpPr>
        <p:spPr>
          <a:xfrm>
            <a:off x="1554480" y="1463040"/>
            <a:ext cx="4572000" cy="457200"/>
          </a:xfrm>
          <a:prstGeom prst="rect">
            <a:avLst/>
          </a:prstGeom>
          <a:noFill/>
          <a:ln/>
        </p:spPr>
        <p:txBody>
          <a:bodyPr wrap="square" lIns="0" tIns="0" rIns="0" bIns="0" rtlCol="0" anchor="ctr"/>
          <a:lstStyle/>
          <a:p>
            <a:pPr indent="0" marL="0">
              <a:buNone/>
            </a:pPr>
            <a:r>
              <a:rPr lang="en-US" sz="1700" b="1" dirty="0">
                <a:solidFill>
                  <a:srgbClr val="0E3A5F"/>
                </a:solidFill>
                <a:latin typeface="Georgia" pitchFamily="34" charset="0"/>
                <a:ea typeface="Georgia" pitchFamily="34" charset="-122"/>
                <a:cs typeface="Georgia" pitchFamily="34" charset="-120"/>
              </a:rPr>
              <a:t>Open a real business account</a:t>
            </a:r>
            <a:endParaRPr lang="en-US" sz="1700" dirty="0"/>
          </a:p>
        </p:txBody>
      </p:sp>
      <p:sp>
        <p:nvSpPr>
          <p:cNvPr id="7" name="Text 5"/>
          <p:cNvSpPr/>
          <p:nvPr/>
        </p:nvSpPr>
        <p:spPr>
          <a:xfrm>
            <a:off x="1554480" y="1920240"/>
            <a:ext cx="4572000" cy="868680"/>
          </a:xfrm>
          <a:prstGeom prst="rect">
            <a:avLst/>
          </a:prstGeom>
          <a:noFill/>
          <a:ln/>
        </p:spPr>
        <p:txBody>
          <a:bodyPr wrap="square" lIns="0" tIns="0" rIns="0" bIns="0" rtlCol="0" anchor="ctr"/>
          <a:lstStyle/>
          <a:p>
            <a:pPr indent="0" marL="0">
              <a:lnSpc>
                <a:spcPct val="115000"/>
              </a:lnSpc>
              <a:buNone/>
            </a:pPr>
            <a:r>
              <a:rPr lang="en-US" sz="1300" dirty="0">
                <a:solidFill>
                  <a:srgbClr val="5B6670"/>
                </a:solidFill>
                <a:latin typeface="Calibri" pitchFamily="34" charset="0"/>
                <a:ea typeface="Calibri" pitchFamily="34" charset="-122"/>
                <a:cs typeface="Calibri" pitchFamily="34" charset="-120"/>
              </a:rPr>
              <a:t>Every entity, every time — no exceptions for a DBA.</a:t>
            </a:r>
            <a:endParaRPr lang="en-US" sz="1300" dirty="0"/>
          </a:p>
        </p:txBody>
      </p:sp>
      <p:sp>
        <p:nvSpPr>
          <p:cNvPr id="8" name="Shape 6"/>
          <p:cNvSpPr/>
          <p:nvPr/>
        </p:nvSpPr>
        <p:spPr>
          <a:xfrm>
            <a:off x="6217920" y="1508760"/>
            <a:ext cx="594360" cy="594360"/>
          </a:xfrm>
          <a:prstGeom prst="ellipse">
            <a:avLst/>
          </a:prstGeom>
          <a:solidFill>
            <a:srgbClr val="C9A97E"/>
          </a:solidFill>
          <a:ln w="12700">
            <a:solidFill>
              <a:srgbClr val="FFFFFF"/>
            </a:solidFill>
            <a:prstDash val="solid"/>
          </a:ln>
        </p:spPr>
      </p:sp>
      <p:sp>
        <p:nvSpPr>
          <p:cNvPr id="9" name="Shape 7"/>
          <p:cNvSpPr/>
          <p:nvPr/>
        </p:nvSpPr>
        <p:spPr>
          <a:xfrm>
            <a:off x="6135624" y="1426464"/>
            <a:ext cx="758952" cy="758952"/>
          </a:xfrm>
          <a:prstGeom prst="ellipse">
            <a:avLst/>
          </a:prstGeom>
          <a:ln w="15875">
            <a:solidFill>
              <a:srgbClr val="C9A97E"/>
            </a:solidFill>
            <a:prstDash val="solid"/>
          </a:ln>
        </p:spPr>
      </p:sp>
      <p:sp>
        <p:nvSpPr>
          <p:cNvPr id="10" name="Text 8"/>
          <p:cNvSpPr/>
          <p:nvPr/>
        </p:nvSpPr>
        <p:spPr>
          <a:xfrm>
            <a:off x="6217920" y="1508760"/>
            <a:ext cx="594360" cy="59436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2</a:t>
            </a:r>
            <a:endParaRPr lang="en-US" sz="3000" dirty="0"/>
          </a:p>
        </p:txBody>
      </p:sp>
      <p:sp>
        <p:nvSpPr>
          <p:cNvPr id="11" name="Text 9"/>
          <p:cNvSpPr/>
          <p:nvPr/>
        </p:nvSpPr>
        <p:spPr>
          <a:xfrm>
            <a:off x="7040880" y="1463040"/>
            <a:ext cx="4572000" cy="457200"/>
          </a:xfrm>
          <a:prstGeom prst="rect">
            <a:avLst/>
          </a:prstGeom>
          <a:noFill/>
          <a:ln/>
        </p:spPr>
        <p:txBody>
          <a:bodyPr wrap="square" lIns="0" tIns="0" rIns="0" bIns="0" rtlCol="0" anchor="ctr"/>
          <a:lstStyle/>
          <a:p>
            <a:pPr indent="0" marL="0">
              <a:buNone/>
            </a:pPr>
            <a:r>
              <a:rPr lang="en-US" sz="1700" b="1" dirty="0">
                <a:solidFill>
                  <a:srgbClr val="0E3A5F"/>
                </a:solidFill>
                <a:latin typeface="Georgia" pitchFamily="34" charset="0"/>
                <a:ea typeface="Georgia" pitchFamily="34" charset="-122"/>
                <a:cs typeface="Georgia" pitchFamily="34" charset="-120"/>
              </a:rPr>
              <a:t>Pay yourself on purpose</a:t>
            </a:r>
            <a:endParaRPr lang="en-US" sz="1700" dirty="0"/>
          </a:p>
        </p:txBody>
      </p:sp>
      <p:sp>
        <p:nvSpPr>
          <p:cNvPr id="12" name="Text 10"/>
          <p:cNvSpPr/>
          <p:nvPr/>
        </p:nvSpPr>
        <p:spPr>
          <a:xfrm>
            <a:off x="7040880" y="1920240"/>
            <a:ext cx="4572000" cy="868680"/>
          </a:xfrm>
          <a:prstGeom prst="rect">
            <a:avLst/>
          </a:prstGeom>
          <a:noFill/>
          <a:ln/>
        </p:spPr>
        <p:txBody>
          <a:bodyPr wrap="square" lIns="0" tIns="0" rIns="0" bIns="0" rtlCol="0" anchor="ctr"/>
          <a:lstStyle/>
          <a:p>
            <a:pPr indent="0" marL="0">
              <a:lnSpc>
                <a:spcPct val="115000"/>
              </a:lnSpc>
              <a:buNone/>
            </a:pPr>
            <a:r>
              <a:rPr lang="en-US" sz="1300" dirty="0">
                <a:solidFill>
                  <a:srgbClr val="5B6670"/>
                </a:solidFill>
                <a:latin typeface="Calibri" pitchFamily="34" charset="0"/>
                <a:ea typeface="Calibri" pitchFamily="34" charset="-122"/>
                <a:cs typeface="Calibri" pitchFamily="34" charset="-120"/>
              </a:rPr>
              <a:t>A consistent draw or distribution process, not ad hoc withdrawals.</a:t>
            </a:r>
            <a:endParaRPr lang="en-US" sz="1300" dirty="0"/>
          </a:p>
        </p:txBody>
      </p:sp>
      <p:sp>
        <p:nvSpPr>
          <p:cNvPr id="13" name="Shape 11"/>
          <p:cNvSpPr/>
          <p:nvPr/>
        </p:nvSpPr>
        <p:spPr>
          <a:xfrm>
            <a:off x="731520" y="3108960"/>
            <a:ext cx="594360" cy="594360"/>
          </a:xfrm>
          <a:prstGeom prst="ellipse">
            <a:avLst/>
          </a:prstGeom>
          <a:solidFill>
            <a:srgbClr val="C9A97E"/>
          </a:solidFill>
          <a:ln w="12700">
            <a:solidFill>
              <a:srgbClr val="FFFFFF"/>
            </a:solidFill>
            <a:prstDash val="solid"/>
          </a:ln>
        </p:spPr>
      </p:sp>
      <p:sp>
        <p:nvSpPr>
          <p:cNvPr id="14" name="Shape 12"/>
          <p:cNvSpPr/>
          <p:nvPr/>
        </p:nvSpPr>
        <p:spPr>
          <a:xfrm>
            <a:off x="649224" y="3026664"/>
            <a:ext cx="758952" cy="758952"/>
          </a:xfrm>
          <a:prstGeom prst="ellipse">
            <a:avLst/>
          </a:prstGeom>
          <a:ln w="15875">
            <a:solidFill>
              <a:srgbClr val="C9A97E"/>
            </a:solidFill>
            <a:prstDash val="solid"/>
          </a:ln>
        </p:spPr>
      </p:sp>
      <p:sp>
        <p:nvSpPr>
          <p:cNvPr id="15" name="Text 13"/>
          <p:cNvSpPr/>
          <p:nvPr/>
        </p:nvSpPr>
        <p:spPr>
          <a:xfrm>
            <a:off x="731520" y="3108960"/>
            <a:ext cx="594360" cy="59436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3</a:t>
            </a:r>
            <a:endParaRPr lang="en-US" sz="3000" dirty="0"/>
          </a:p>
        </p:txBody>
      </p:sp>
      <p:sp>
        <p:nvSpPr>
          <p:cNvPr id="16" name="Text 14"/>
          <p:cNvSpPr/>
          <p:nvPr/>
        </p:nvSpPr>
        <p:spPr>
          <a:xfrm>
            <a:off x="1554480" y="3063240"/>
            <a:ext cx="4572000" cy="457200"/>
          </a:xfrm>
          <a:prstGeom prst="rect">
            <a:avLst/>
          </a:prstGeom>
          <a:noFill/>
          <a:ln/>
        </p:spPr>
        <p:txBody>
          <a:bodyPr wrap="square" lIns="0" tIns="0" rIns="0" bIns="0" rtlCol="0" anchor="ctr"/>
          <a:lstStyle/>
          <a:p>
            <a:pPr indent="0" marL="0">
              <a:buNone/>
            </a:pPr>
            <a:r>
              <a:rPr lang="en-US" sz="1700" b="1" dirty="0">
                <a:solidFill>
                  <a:srgbClr val="0E3A5F"/>
                </a:solidFill>
                <a:latin typeface="Georgia" pitchFamily="34" charset="0"/>
                <a:ea typeface="Georgia" pitchFamily="34" charset="-122"/>
                <a:cs typeface="Georgia" pitchFamily="34" charset="-120"/>
              </a:rPr>
              <a:t>Track draws against equity</a:t>
            </a:r>
            <a:endParaRPr lang="en-US" sz="1700" dirty="0"/>
          </a:p>
        </p:txBody>
      </p:sp>
      <p:sp>
        <p:nvSpPr>
          <p:cNvPr id="17" name="Text 15"/>
          <p:cNvSpPr/>
          <p:nvPr/>
        </p:nvSpPr>
        <p:spPr>
          <a:xfrm>
            <a:off x="1554480" y="3520440"/>
            <a:ext cx="4572000" cy="868680"/>
          </a:xfrm>
          <a:prstGeom prst="rect">
            <a:avLst/>
          </a:prstGeom>
          <a:noFill/>
          <a:ln/>
        </p:spPr>
        <p:txBody>
          <a:bodyPr wrap="square" lIns="0" tIns="0" rIns="0" bIns="0" rtlCol="0" anchor="ctr"/>
          <a:lstStyle/>
          <a:p>
            <a:pPr indent="0" marL="0">
              <a:lnSpc>
                <a:spcPct val="115000"/>
              </a:lnSpc>
              <a:buNone/>
            </a:pPr>
            <a:r>
              <a:rPr lang="en-US" sz="1300" dirty="0">
                <a:solidFill>
                  <a:srgbClr val="5B6670"/>
                </a:solidFill>
                <a:latin typeface="Calibri" pitchFamily="34" charset="0"/>
                <a:ea typeface="Calibri" pitchFamily="34" charset="-122"/>
                <a:cs typeface="Calibri" pitchFamily="34" charset="-120"/>
              </a:rPr>
              <a:t>Every dollar in or out gets recorded to the right account, not “miscellaneous.”</a:t>
            </a:r>
            <a:endParaRPr lang="en-US" sz="1300" dirty="0"/>
          </a:p>
        </p:txBody>
      </p:sp>
      <p:sp>
        <p:nvSpPr>
          <p:cNvPr id="18" name="Shape 16"/>
          <p:cNvSpPr/>
          <p:nvPr/>
        </p:nvSpPr>
        <p:spPr>
          <a:xfrm>
            <a:off x="6217920" y="3108960"/>
            <a:ext cx="594360" cy="594360"/>
          </a:xfrm>
          <a:prstGeom prst="ellipse">
            <a:avLst/>
          </a:prstGeom>
          <a:solidFill>
            <a:srgbClr val="C9A97E"/>
          </a:solidFill>
          <a:ln w="12700">
            <a:solidFill>
              <a:srgbClr val="FFFFFF"/>
            </a:solidFill>
            <a:prstDash val="solid"/>
          </a:ln>
        </p:spPr>
      </p:sp>
      <p:sp>
        <p:nvSpPr>
          <p:cNvPr id="19" name="Shape 17"/>
          <p:cNvSpPr/>
          <p:nvPr/>
        </p:nvSpPr>
        <p:spPr>
          <a:xfrm>
            <a:off x="6135624" y="3026664"/>
            <a:ext cx="758952" cy="758952"/>
          </a:xfrm>
          <a:prstGeom prst="ellipse">
            <a:avLst/>
          </a:prstGeom>
          <a:ln w="15875">
            <a:solidFill>
              <a:srgbClr val="C9A97E"/>
            </a:solidFill>
            <a:prstDash val="solid"/>
          </a:ln>
        </p:spPr>
      </p:sp>
      <p:sp>
        <p:nvSpPr>
          <p:cNvPr id="20" name="Text 18"/>
          <p:cNvSpPr/>
          <p:nvPr/>
        </p:nvSpPr>
        <p:spPr>
          <a:xfrm>
            <a:off x="6217920" y="3108960"/>
            <a:ext cx="594360" cy="59436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4</a:t>
            </a:r>
            <a:endParaRPr lang="en-US" sz="3000" dirty="0"/>
          </a:p>
        </p:txBody>
      </p:sp>
      <p:sp>
        <p:nvSpPr>
          <p:cNvPr id="21" name="Text 19"/>
          <p:cNvSpPr/>
          <p:nvPr/>
        </p:nvSpPr>
        <p:spPr>
          <a:xfrm>
            <a:off x="7040880" y="3063240"/>
            <a:ext cx="4572000" cy="457200"/>
          </a:xfrm>
          <a:prstGeom prst="rect">
            <a:avLst/>
          </a:prstGeom>
          <a:noFill/>
          <a:ln/>
        </p:spPr>
        <p:txBody>
          <a:bodyPr wrap="square" lIns="0" tIns="0" rIns="0" bIns="0" rtlCol="0" anchor="ctr"/>
          <a:lstStyle/>
          <a:p>
            <a:pPr indent="0" marL="0">
              <a:buNone/>
            </a:pPr>
            <a:r>
              <a:rPr lang="en-US" sz="1700" b="1" dirty="0">
                <a:solidFill>
                  <a:srgbClr val="0E3A5F"/>
                </a:solidFill>
                <a:latin typeface="Georgia" pitchFamily="34" charset="0"/>
                <a:ea typeface="Georgia" pitchFamily="34" charset="-122"/>
                <a:cs typeface="Georgia" pitchFamily="34" charset="-120"/>
              </a:rPr>
              <a:t>Keep receipts separated</a:t>
            </a:r>
            <a:endParaRPr lang="en-US" sz="1700" dirty="0"/>
          </a:p>
        </p:txBody>
      </p:sp>
      <p:sp>
        <p:nvSpPr>
          <p:cNvPr id="22" name="Text 20"/>
          <p:cNvSpPr/>
          <p:nvPr/>
        </p:nvSpPr>
        <p:spPr>
          <a:xfrm>
            <a:off x="7040880" y="3520440"/>
            <a:ext cx="4572000" cy="868680"/>
          </a:xfrm>
          <a:prstGeom prst="rect">
            <a:avLst/>
          </a:prstGeom>
          <a:noFill/>
          <a:ln/>
        </p:spPr>
        <p:txBody>
          <a:bodyPr wrap="square" lIns="0" tIns="0" rIns="0" bIns="0" rtlCol="0" anchor="ctr"/>
          <a:lstStyle/>
          <a:p>
            <a:pPr indent="0" marL="0">
              <a:lnSpc>
                <a:spcPct val="115000"/>
              </a:lnSpc>
              <a:buNone/>
            </a:pPr>
            <a:r>
              <a:rPr lang="en-US" sz="1300" dirty="0">
                <a:solidFill>
                  <a:srgbClr val="5B6670"/>
                </a:solidFill>
                <a:latin typeface="Calibri" pitchFamily="34" charset="0"/>
                <a:ea typeface="Calibri" pitchFamily="34" charset="-122"/>
                <a:cs typeface="Calibri" pitchFamily="34" charset="-120"/>
              </a:rPr>
              <a:t>Personal stays personal, business stays business, no exceptions for convenience.</a:t>
            </a:r>
            <a:endParaRPr lang="en-US" sz="1300" dirty="0"/>
          </a:p>
        </p:txBody>
      </p:sp>
      <p:sp>
        <p:nvSpPr>
          <p:cNvPr id="23" name="Shape 21"/>
          <p:cNvSpPr/>
          <p:nvPr/>
        </p:nvSpPr>
        <p:spPr>
          <a:xfrm>
            <a:off x="731520" y="4709160"/>
            <a:ext cx="594360" cy="594360"/>
          </a:xfrm>
          <a:prstGeom prst="ellipse">
            <a:avLst/>
          </a:prstGeom>
          <a:solidFill>
            <a:srgbClr val="C9A97E"/>
          </a:solidFill>
          <a:ln w="12700">
            <a:solidFill>
              <a:srgbClr val="FFFFFF"/>
            </a:solidFill>
            <a:prstDash val="solid"/>
          </a:ln>
        </p:spPr>
      </p:sp>
      <p:sp>
        <p:nvSpPr>
          <p:cNvPr id="24" name="Shape 22"/>
          <p:cNvSpPr/>
          <p:nvPr/>
        </p:nvSpPr>
        <p:spPr>
          <a:xfrm>
            <a:off x="649224" y="4626864"/>
            <a:ext cx="758952" cy="758952"/>
          </a:xfrm>
          <a:prstGeom prst="ellipse">
            <a:avLst/>
          </a:prstGeom>
          <a:ln w="15875">
            <a:solidFill>
              <a:srgbClr val="C9A97E"/>
            </a:solidFill>
            <a:prstDash val="solid"/>
          </a:ln>
        </p:spPr>
      </p:sp>
      <p:sp>
        <p:nvSpPr>
          <p:cNvPr id="25" name="Text 23"/>
          <p:cNvSpPr/>
          <p:nvPr/>
        </p:nvSpPr>
        <p:spPr>
          <a:xfrm>
            <a:off x="731520" y="4709160"/>
            <a:ext cx="594360" cy="59436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5</a:t>
            </a:r>
            <a:endParaRPr lang="en-US" sz="3000" dirty="0"/>
          </a:p>
        </p:txBody>
      </p:sp>
      <p:sp>
        <p:nvSpPr>
          <p:cNvPr id="26" name="Text 24"/>
          <p:cNvSpPr/>
          <p:nvPr/>
        </p:nvSpPr>
        <p:spPr>
          <a:xfrm>
            <a:off x="1554480" y="4663440"/>
            <a:ext cx="4572000" cy="457200"/>
          </a:xfrm>
          <a:prstGeom prst="rect">
            <a:avLst/>
          </a:prstGeom>
          <a:noFill/>
          <a:ln/>
        </p:spPr>
        <p:txBody>
          <a:bodyPr wrap="square" lIns="0" tIns="0" rIns="0" bIns="0" rtlCol="0" anchor="ctr"/>
          <a:lstStyle/>
          <a:p>
            <a:pPr indent="0" marL="0">
              <a:buNone/>
            </a:pPr>
            <a:r>
              <a:rPr lang="en-US" sz="1700" b="1" dirty="0">
                <a:solidFill>
                  <a:srgbClr val="0E3A5F"/>
                </a:solidFill>
                <a:latin typeface="Georgia" pitchFamily="34" charset="0"/>
                <a:ea typeface="Georgia" pitchFamily="34" charset="-122"/>
                <a:cs typeface="Georgia" pitchFamily="34" charset="-120"/>
              </a:rPr>
              <a:t>Review the account monthly</a:t>
            </a:r>
            <a:endParaRPr lang="en-US" sz="1700" dirty="0"/>
          </a:p>
        </p:txBody>
      </p:sp>
      <p:sp>
        <p:nvSpPr>
          <p:cNvPr id="27" name="Text 25"/>
          <p:cNvSpPr/>
          <p:nvPr/>
        </p:nvSpPr>
        <p:spPr>
          <a:xfrm>
            <a:off x="1554480" y="5120640"/>
            <a:ext cx="4572000" cy="868680"/>
          </a:xfrm>
          <a:prstGeom prst="rect">
            <a:avLst/>
          </a:prstGeom>
          <a:noFill/>
          <a:ln/>
        </p:spPr>
        <p:txBody>
          <a:bodyPr wrap="square" lIns="0" tIns="0" rIns="0" bIns="0" rtlCol="0" anchor="ctr"/>
          <a:lstStyle/>
          <a:p>
            <a:pPr indent="0" marL="0">
              <a:lnSpc>
                <a:spcPct val="115000"/>
              </a:lnSpc>
              <a:buNone/>
            </a:pPr>
            <a:r>
              <a:rPr lang="en-US" sz="1300" dirty="0">
                <a:solidFill>
                  <a:srgbClr val="5B6670"/>
                </a:solidFill>
                <a:latin typeface="Calibri" pitchFamily="34" charset="0"/>
                <a:ea typeface="Calibri" pitchFamily="34" charset="-122"/>
                <a:cs typeface="Calibri" pitchFamily="34" charset="-120"/>
              </a:rPr>
              <a:t>Not just at tax time, when the trail has already gone cold.</a:t>
            </a:r>
            <a:endParaRPr lang="en-US" sz="1300" dirty="0"/>
          </a:p>
        </p:txBody>
      </p:sp>
      <p:sp>
        <p:nvSpPr>
          <p:cNvPr id="28" name="Shape 26"/>
          <p:cNvSpPr/>
          <p:nvPr/>
        </p:nvSpPr>
        <p:spPr>
          <a:xfrm>
            <a:off x="6217920" y="4709160"/>
            <a:ext cx="594360" cy="594360"/>
          </a:xfrm>
          <a:prstGeom prst="ellipse">
            <a:avLst/>
          </a:prstGeom>
          <a:solidFill>
            <a:srgbClr val="C9A97E"/>
          </a:solidFill>
          <a:ln w="12700">
            <a:solidFill>
              <a:srgbClr val="FFFFFF"/>
            </a:solidFill>
            <a:prstDash val="solid"/>
          </a:ln>
        </p:spPr>
      </p:sp>
      <p:sp>
        <p:nvSpPr>
          <p:cNvPr id="29" name="Shape 27"/>
          <p:cNvSpPr/>
          <p:nvPr/>
        </p:nvSpPr>
        <p:spPr>
          <a:xfrm>
            <a:off x="6135624" y="4626864"/>
            <a:ext cx="758952" cy="758952"/>
          </a:xfrm>
          <a:prstGeom prst="ellipse">
            <a:avLst/>
          </a:prstGeom>
          <a:ln w="15875">
            <a:solidFill>
              <a:srgbClr val="C9A97E"/>
            </a:solidFill>
            <a:prstDash val="solid"/>
          </a:ln>
        </p:spPr>
      </p:sp>
      <p:sp>
        <p:nvSpPr>
          <p:cNvPr id="30" name="Text 28"/>
          <p:cNvSpPr/>
          <p:nvPr/>
        </p:nvSpPr>
        <p:spPr>
          <a:xfrm>
            <a:off x="6217920" y="4709160"/>
            <a:ext cx="594360" cy="594360"/>
          </a:xfrm>
          <a:prstGeom prst="rect">
            <a:avLst/>
          </a:prstGeom>
          <a:noFill/>
          <a:ln/>
        </p:spPr>
        <p:txBody>
          <a:bodyPr wrap="square" lIns="0" tIns="0" rIns="0" bIns="0" rtlCol="0" anchor="ctr"/>
          <a:lstStyle/>
          <a:p>
            <a:pPr algn="ctr" indent="0" marL="0">
              <a:buNone/>
            </a:pPr>
            <a:r>
              <a:rPr lang="en-US" sz="3000" b="1" dirty="0">
                <a:solidFill>
                  <a:srgbClr val="0E3A5F"/>
                </a:solidFill>
                <a:latin typeface="Cambria" pitchFamily="34" charset="0"/>
                <a:ea typeface="Cambria" pitchFamily="34" charset="-122"/>
                <a:cs typeface="Cambria" pitchFamily="34" charset="-120"/>
              </a:rPr>
              <a:t>6</a:t>
            </a:r>
            <a:endParaRPr lang="en-US" sz="3000" dirty="0"/>
          </a:p>
        </p:txBody>
      </p:sp>
      <p:sp>
        <p:nvSpPr>
          <p:cNvPr id="31" name="Text 29"/>
          <p:cNvSpPr/>
          <p:nvPr/>
        </p:nvSpPr>
        <p:spPr>
          <a:xfrm>
            <a:off x="7040880" y="4663440"/>
            <a:ext cx="4572000" cy="457200"/>
          </a:xfrm>
          <a:prstGeom prst="rect">
            <a:avLst/>
          </a:prstGeom>
          <a:noFill/>
          <a:ln/>
        </p:spPr>
        <p:txBody>
          <a:bodyPr wrap="square" lIns="0" tIns="0" rIns="0" bIns="0" rtlCol="0" anchor="ctr"/>
          <a:lstStyle/>
          <a:p>
            <a:pPr indent="0" marL="0">
              <a:buNone/>
            </a:pPr>
            <a:r>
              <a:rPr lang="en-US" sz="1700" b="1" dirty="0">
                <a:solidFill>
                  <a:srgbClr val="0E3A5F"/>
                </a:solidFill>
                <a:latin typeface="Georgia" pitchFamily="34" charset="0"/>
                <a:ea typeface="Georgia" pitchFamily="34" charset="-122"/>
                <a:cs typeface="Georgia" pitchFamily="34" charset="-120"/>
              </a:rPr>
              <a:t>Treat it as its own entity</a:t>
            </a:r>
            <a:endParaRPr lang="en-US" sz="1700" dirty="0"/>
          </a:p>
        </p:txBody>
      </p:sp>
      <p:sp>
        <p:nvSpPr>
          <p:cNvPr id="32" name="Text 30"/>
          <p:cNvSpPr/>
          <p:nvPr/>
        </p:nvSpPr>
        <p:spPr>
          <a:xfrm>
            <a:off x="7040880" y="5120640"/>
            <a:ext cx="4572000" cy="868680"/>
          </a:xfrm>
          <a:prstGeom prst="rect">
            <a:avLst/>
          </a:prstGeom>
          <a:noFill/>
          <a:ln/>
        </p:spPr>
        <p:txBody>
          <a:bodyPr wrap="square" lIns="0" tIns="0" rIns="0" bIns="0" rtlCol="0" anchor="ctr"/>
          <a:lstStyle/>
          <a:p>
            <a:pPr indent="0" marL="0">
              <a:lnSpc>
                <a:spcPct val="115000"/>
              </a:lnSpc>
              <a:buNone/>
            </a:pPr>
            <a:r>
              <a:rPr lang="en-US" sz="1300" dirty="0">
                <a:solidFill>
                  <a:srgbClr val="5B6670"/>
                </a:solidFill>
                <a:latin typeface="Calibri" pitchFamily="34" charset="0"/>
                <a:ea typeface="Calibri" pitchFamily="34" charset="-122"/>
                <a:cs typeface="Calibri" pitchFamily="34" charset="-120"/>
              </a:rPr>
              <a:t>Because legally and financially, whether LLC, S-corp, or DBA, it is one.</a:t>
            </a:r>
            <a:endParaRPr lang="en-US" sz="1300" dirty="0"/>
          </a:p>
        </p:txBody>
      </p:sp>
      <p:sp>
        <p:nvSpPr>
          <p:cNvPr id="33" name="Text 31"/>
          <p:cNvSpPr/>
          <p:nvPr/>
        </p:nvSpPr>
        <p:spPr>
          <a:xfrm>
            <a:off x="457200" y="6492240"/>
            <a:ext cx="3657600" cy="274320"/>
          </a:xfrm>
          <a:prstGeom prst="rect">
            <a:avLst/>
          </a:prstGeom>
          <a:noFill/>
          <a:ln/>
        </p:spPr>
        <p:txBody>
          <a:bodyPr wrap="square" lIns="0" tIns="0" rIns="0" bIns="0" rtlCol="0" anchor="ctr"/>
          <a:lstStyle/>
          <a:p>
            <a:pPr indent="0" marL="0">
              <a:buNone/>
            </a:pPr>
            <a:r>
              <a:rPr lang="en-US" sz="1000" spc="200" kern="0" dirty="0">
                <a:solidFill>
                  <a:srgbClr val="5B6670"/>
                </a:solidFill>
                <a:latin typeface="Arial" pitchFamily="34" charset="0"/>
                <a:ea typeface="Arial" pitchFamily="34" charset="-122"/>
                <a:cs typeface="Arial" pitchFamily="34" charset="-120"/>
              </a:rPr>
              <a:t>NÁCAR &amp; LEDGER</a:t>
            </a:r>
            <a:endParaRPr lang="en-US" sz="1000" dirty="0"/>
          </a:p>
        </p:txBody>
      </p:sp>
      <p:sp>
        <p:nvSpPr>
          <p:cNvPr id="34" name="Text 32"/>
          <p:cNvSpPr/>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1F33"/>
        </a:solidFill>
      </p:bgPr>
    </p:bg>
    <p:spTree>
      <p:nvGrpSpPr>
        <p:cNvPr id="1" name=""/>
        <p:cNvGrpSpPr/>
        <p:nvPr/>
      </p:nvGrpSpPr>
      <p:grpSpPr>
        <a:xfrm>
          <a:off x="0" y="0"/>
          <a:ext cx="0" cy="0"/>
          <a:chOff x="0" y="0"/>
          <a:chExt cx="0" cy="0"/>
        </a:xfrm>
      </p:grpSpPr>
      <p:pic>
        <p:nvPicPr>
          <p:cNvPr id="2" name="Image 0" descr="/home/claude/logo_icon_transparent.png">    </p:cNvPr>
          <p:cNvPicPr>
            <a:picLocks noChangeAspect="1"/>
          </p:cNvPicPr>
          <p:nvPr/>
        </p:nvPicPr>
        <p:blipFill>
          <a:blip r:embed="rId1"/>
          <a:stretch>
            <a:fillRect/>
          </a:stretch>
        </p:blipFill>
        <p:spPr>
          <a:xfrm>
            <a:off x="5394960" y="640080"/>
            <a:ext cx="1371600" cy="1289304"/>
          </a:xfrm>
          <a:prstGeom prst="rect">
            <a:avLst/>
          </a:prstGeom>
        </p:spPr>
      </p:pic>
      <p:sp>
        <p:nvSpPr>
          <p:cNvPr id="3" name="Text 0"/>
          <p:cNvSpPr/>
          <p:nvPr/>
        </p:nvSpPr>
        <p:spPr>
          <a:xfrm>
            <a:off x="731520" y="2240280"/>
            <a:ext cx="1069848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Georgia" pitchFamily="34" charset="0"/>
                <a:ea typeface="Georgia" pitchFamily="34" charset="-122"/>
                <a:cs typeface="Georgia" pitchFamily="34" charset="-120"/>
              </a:rPr>
              <a:t>Untangle It Before Someone Else Does</a:t>
            </a:r>
            <a:endParaRPr lang="en-US" sz="3200" dirty="0"/>
          </a:p>
        </p:txBody>
      </p:sp>
      <p:sp>
        <p:nvSpPr>
          <p:cNvPr id="4" name="Text 1"/>
          <p:cNvSpPr/>
          <p:nvPr/>
        </p:nvSpPr>
        <p:spPr>
          <a:xfrm>
            <a:off x="1645920" y="3108960"/>
            <a:ext cx="8869680" cy="822960"/>
          </a:xfrm>
          <a:prstGeom prst="rect">
            <a:avLst/>
          </a:prstGeom>
          <a:noFill/>
          <a:ln/>
        </p:spPr>
        <p:txBody>
          <a:bodyPr wrap="square" lIns="0" tIns="0" rIns="0" bIns="0" rtlCol="0" anchor="ctr"/>
          <a:lstStyle/>
          <a:p>
            <a:pPr algn="ctr" indent="0" marL="0">
              <a:lnSpc>
                <a:spcPct val="130000"/>
              </a:lnSpc>
              <a:buNone/>
            </a:pPr>
            <a:r>
              <a:rPr lang="en-US" sz="1500" i="1" dirty="0">
                <a:solidFill>
                  <a:srgbClr val="D8E0E3"/>
                </a:solidFill>
                <a:latin typeface="Calibri" pitchFamily="34" charset="0"/>
                <a:ea typeface="Calibri" pitchFamily="34" charset="-122"/>
                <a:cs typeface="Calibri" pitchFamily="34" charset="-120"/>
              </a:rPr>
              <a:t>A real line between you and your business is one of the highest-leverage things any owner can set up — no matter what kind of entity is on paper.</a:t>
            </a:r>
            <a:endParaRPr lang="en-US" sz="1500" dirty="0"/>
          </a:p>
        </p:txBody>
      </p:sp>
      <p:sp>
        <p:nvSpPr>
          <p:cNvPr id="5" name="Shape 2"/>
          <p:cNvSpPr/>
          <p:nvPr/>
        </p:nvSpPr>
        <p:spPr>
          <a:xfrm>
            <a:off x="5166360" y="4114800"/>
            <a:ext cx="1828800" cy="0"/>
          </a:xfrm>
          <a:prstGeom prst="line">
            <a:avLst/>
          </a:prstGeom>
          <a:noFill/>
          <a:ln w="19050">
            <a:solidFill>
              <a:srgbClr val="C9A97E"/>
            </a:solidFill>
            <a:prstDash val="solid"/>
          </a:ln>
        </p:spPr>
      </p:sp>
      <p:sp>
        <p:nvSpPr>
          <p:cNvPr id="6" name="Text 3"/>
          <p:cNvSpPr/>
          <p:nvPr/>
        </p:nvSpPr>
        <p:spPr>
          <a:xfrm>
            <a:off x="731520" y="4434840"/>
            <a:ext cx="10698480" cy="457200"/>
          </a:xfrm>
          <a:prstGeom prst="rect">
            <a:avLst/>
          </a:prstGeom>
          <a:noFill/>
          <a:ln/>
        </p:spPr>
        <p:txBody>
          <a:bodyPr wrap="square" lIns="0" tIns="0" rIns="0" bIns="0" rtlCol="0" anchor="ctr"/>
          <a:lstStyle/>
          <a:p>
            <a:pPr algn="ctr" indent="0" marL="0">
              <a:buNone/>
            </a:pPr>
            <a:r>
              <a:rPr lang="en-US" sz="2400" dirty="0">
                <a:solidFill>
                  <a:srgbClr val="C9A97E"/>
                </a:solidFill>
                <a:latin typeface="Georgia" pitchFamily="34" charset="0"/>
                <a:ea typeface="Georgia" pitchFamily="34" charset="-122"/>
                <a:cs typeface="Georgia" pitchFamily="34" charset="-120"/>
              </a:rPr>
              <a:t>NÁCAR &amp; LEDGER</a:t>
            </a:r>
            <a:endParaRPr lang="en-US" sz="2400" dirty="0"/>
          </a:p>
        </p:txBody>
      </p:sp>
      <p:sp>
        <p:nvSpPr>
          <p:cNvPr id="7" name="Text 4"/>
          <p:cNvSpPr/>
          <p:nvPr/>
        </p:nvSpPr>
        <p:spPr>
          <a:xfrm>
            <a:off x="731520" y="4937760"/>
            <a:ext cx="10698480" cy="365760"/>
          </a:xfrm>
          <a:prstGeom prst="rect">
            <a:avLst/>
          </a:prstGeom>
          <a:noFill/>
          <a:ln/>
        </p:spPr>
        <p:txBody>
          <a:bodyPr wrap="square" lIns="0" tIns="0" rIns="0" bIns="0" rtlCol="0" anchor="ctr"/>
          <a:lstStyle/>
          <a:p>
            <a:pPr algn="ctr" indent="0" marL="0">
              <a:buNone/>
            </a:pPr>
            <a:r>
              <a:rPr lang="en-US" sz="1300" i="1" dirty="0">
                <a:solidFill>
                  <a:srgbClr val="9FB0B6"/>
                </a:solidFill>
                <a:latin typeface="Calibri" pitchFamily="34" charset="0"/>
                <a:ea typeface="Calibri" pitchFamily="34" charset="-122"/>
                <a:cs typeface="Calibri" pitchFamily="34" charset="-120"/>
              </a:rPr>
              <a:t>Financial &amp; Operations Consulting for Providence's Small Businesses</a:t>
            </a:r>
            <a:endParaRPr lang="en-US" sz="1300" dirty="0"/>
          </a:p>
        </p:txBody>
      </p:sp>
      <p:sp>
        <p:nvSpPr>
          <p:cNvPr id="8" name="Text 5"/>
          <p:cNvSpPr/>
          <p:nvPr/>
        </p:nvSpPr>
        <p:spPr>
          <a:xfrm>
            <a:off x="731520" y="5486400"/>
            <a:ext cx="10698480" cy="365760"/>
          </a:xfrm>
          <a:prstGeom prst="rect">
            <a:avLst/>
          </a:prstGeom>
          <a:noFill/>
          <a:ln/>
        </p:spPr>
        <p:txBody>
          <a:bodyPr wrap="square" lIns="0" tIns="0" rIns="0" bIns="0" rtlCol="0" anchor="ctr"/>
          <a:lstStyle/>
          <a:p>
            <a:pPr algn="ctr" indent="0" marL="0">
              <a:buNone/>
            </a:pPr>
            <a:r>
              <a:rPr lang="en-US" sz="1300" spc="100" kern="0" dirty="0">
                <a:solidFill>
                  <a:srgbClr val="C7D2D6"/>
                </a:solidFill>
                <a:latin typeface="Arial" pitchFamily="34" charset="0"/>
                <a:ea typeface="Arial" pitchFamily="34" charset="-122"/>
                <a:cs typeface="Arial" pitchFamily="34" charset="-120"/>
              </a:rPr>
              <a:t>nacarledger@outlook.com   |   nacarledger.com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2026-07-14T17:00:57Z</dcterms:created>
  <dcterms:modified xsi:type="dcterms:W3CDTF">2026-07-14T17:00:57Z</dcterms:modified>
</cp:coreProperties>
</file>