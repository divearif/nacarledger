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98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TRANSFERENCIAS ENTRE EMPRESAS Y PRÉSTAMOS A ACCIONISTAS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Negocio Paga Mi Hipoteca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Eso un Problema?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Real de Poner Tu Casa en los Libros de la Empresa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guía de campo para dueños que trasladaron propiedad personal a los libros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2926080" cy="0"/>
          </a:xfrm>
          <a:prstGeom prst="line">
            <a:avLst/>
          </a:prstGeom>
          <a:noFill/>
          <a:ln w="19050">
            <a:solidFill>
              <a:srgbClr val="C9A9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Á C A R   &amp;   L E D G E R     |     Consultoría Financiera y Operativa     |     Providence, RI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B866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NOTA ANTES DE EMPEZAR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10515600" cy="3931920"/>
          </a:xfrm>
          <a:prstGeom prst="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presentación se ofrece únicamente con fines educativos generales y no constituye asesoría fiscal, legal, ni contable para ningún individuo o entidad específica. El tratamiento de la propiedad personal transferida a un negocio, la asunción de hipotecas, y las distribuciones dependen en gran medida de los hechos y circunstancias de cada situación — lo que aplica a un negocio puede no aplicar a otro.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en esta presentación debe usarse en lugar de consultar a un CPA calificado, asesor fiscal, o abogado sobre tu situación específica. Nácar &amp; Ledger con gusto conversa sobre cómo estos temas pueden aplicar directamente a tu negocio.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Á C A R   &amp;   L E D G E 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Existe Esta Lista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tu casa en los libros del negocio parece una formalidad — es tu negocio, es tu casa. Deja de parecer una formalidad el día que un prestamista exige el pago total, o un examinador pregunta quién es realmente el dueño de qué.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3337560" cy="3063240"/>
          </a:xfrm>
          <a:prstGeom prst="rect">
            <a:avLst>
              <a:gd name="adj" fmla="val 2388"/>
            </a:avLst>
          </a:prstGeom>
          <a:solidFill>
            <a:srgbClr val="F7F2EA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2788920"/>
            <a:ext cx="457200" cy="457200"/>
          </a:xfrm>
          <a:prstGeom prst="ellipse">
            <a:avLst/>
          </a:prstGeom>
          <a:solidFill>
            <a:srgbClr val="B8664F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3429000"/>
            <a:ext cx="2825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Ninguna transacción real registrada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4114800"/>
            <a:ext cx="2825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IRS trata un activo agregado sin un asiento correspondiente como si nada legítimo hubiera ocurrido — el rastro documental simplemente no existe.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514600"/>
            <a:ext cx="3337560" cy="3063240"/>
          </a:xfrm>
          <a:prstGeom prst="rect">
            <a:avLst>
              <a:gd name="adj" fmla="val 2388"/>
            </a:avLst>
          </a:prstGeom>
          <a:solidFill>
            <a:srgbClr val="F7F2EA"/>
          </a:solidFill>
          <a:ln/>
        </p:spPr>
      </p:sp>
      <p:sp>
        <p:nvSpPr>
          <p:cNvPr id="10" name="Shape 8"/>
          <p:cNvSpPr/>
          <p:nvPr/>
        </p:nvSpPr>
        <p:spPr>
          <a:xfrm>
            <a:off x="4736592" y="2788920"/>
            <a:ext cx="457200" cy="457200"/>
          </a:xfrm>
          <a:prstGeom prst="ellipse">
            <a:avLst/>
          </a:prstGeom>
          <a:solidFill>
            <a:srgbClr val="8C7A54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36592" y="3429000"/>
            <a:ext cx="2825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de vencimiento anticipado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36592" y="4114800"/>
            <a:ext cx="2825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las hipotecas residenciales tienen una cláusula de vencimiento por venta — transferir la propiedad sin consentimiento puede hacer exigible el saldo completo de inmediato.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2514600"/>
            <a:ext cx="3337560" cy="3063240"/>
          </a:xfrm>
          <a:prstGeom prst="rect">
            <a:avLst>
              <a:gd name="adj" fmla="val 2388"/>
            </a:avLst>
          </a:prstGeom>
          <a:solidFill>
            <a:srgbClr val="F7F2E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4192" y="2788920"/>
            <a:ext cx="457200" cy="457200"/>
          </a:xfrm>
          <a:prstGeom prst="ellipse">
            <a:avLst/>
          </a:prstGeom>
          <a:solidFill>
            <a:srgbClr val="0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94192" y="3429000"/>
            <a:ext cx="2825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Escudo de responsabilidad invertido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4114800"/>
            <a:ext cx="2825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entidad creada para proteger activos personales ahora expone ese mismo activo directamente a los acreedores del negocio — lo opuesto a para qué fue creada.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Á C A R   &amp;   L E D G E 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822960" cy="822960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74520" y="59436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Aportación de Capital Registrada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391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66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ERROR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46120" y="20116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aparece como un activo del negocio, pero no hay nada del otro lado del asiento — sin aportación de capital, sin préstamo, sin ninguna contraprestación.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107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SUCEDE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33832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casa del dueño y el negocio del dueño, así que la transferencia se siente como mover dinero entre dos bolsillos del mismo abrigo.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823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TE CUESTA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47548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asiento correspondiente, no hay una base legítima para el activo en absoluto — todo lo que se construye encima, incluida la depreciación, no tiene sustento.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Á C A R   &amp;   L E D G E 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822960" cy="822960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74520" y="59436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Ignorar la Cláusula de Vencimiento por Venta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391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66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ERROR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46120" y="20116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hipoteca se traslada a los libros del negocio junto con la propiedad, sin avisar al prestamista ni obtener su consentimiento.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107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SUCEDE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33832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préstamo y la casa se sienten como un paquete — a nadie se le ocurre verificar si el prestamista tiene algo que decir al respecto.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823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TE CUESTA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47548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las hipotecas residenciales pueden exigirse en su totalidad en el momento en que cambia el título sin consentimiento.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Á C A R   &amp;   L E D G E 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822960" cy="822960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74520" y="59436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Tratar los Pagos de Hipoteca Como Gasto del Negocio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391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66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ERROR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46120" y="20116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pagos mensuales de la hipoteca se registran como renta, costo de ocupación, o un gasto de negocio normal.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107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SUCEDE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33832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pago sale de la cuenta del negocio, así que se categoriza como cualquier otra factura saliente.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823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TE CUESTA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47548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hipoteca personal pagada por el negocio es una distribución o compensación, no una deducción — registrarla como gasto infla los costos y oculta lo que el dueño realmente retiró.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Á C A R   &amp;   L E D G E 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822960" cy="822960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74520" y="59436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Seguimiento de Base ni Depreciación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391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66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ERROR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46120" y="20116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empieza a depreciar la propiedad como un activo fijo, usando cualquier número disponible en ese momento.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107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SUCEDE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33832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depreciación se siente como un paso estándar para cualquier activo en los libros, sin importar cómo llegó ahí.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823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TE CUESTA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47548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depreciación reclamada sobre una base que nunca se estableció correctamente se revierte, con intereses, en el momento en que alguien pregunta de dónde salió el número.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Á C A R   &amp;   L E D G E 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822960" cy="822960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74520" y="59436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Invertir el Escudo de Responsabilidad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391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66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ERROR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46120" y="20116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activo que la entidad fue creada para proteger ahora está dentro de la entidad, expuesto a sus responsabilidades en lugar de protegido de ellas.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107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SUCEDE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33832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conecta “ponerlo en los libros por motivos fiscales” con “ahora un acreedor del negocio puede alcanzarlo.”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823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TE CUESTA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47548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demanda, una deuda incobrable, o una quiebra del negocio ahora alcanza un activo que se suponía intocable — la protección se pagó y luego se deshizo.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Á C A R   &amp;   L E D G E 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822960" cy="822960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74520" y="59436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Documentación del Valor Justo de Mercado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391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66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ERROR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46120" y="20116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se agrega a los libros con un número redondo, el precio de compra antiguo, o lo que pareciera razonable — sin avalúo, sin valoración formal.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107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SUCEDE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33832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una valoración real se siente como un paso innecesario para una transferencia que ya se siente informal.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1051560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823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TE CUESTA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4754880"/>
            <a:ext cx="6812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evento posterior — una venta, un refinanciamiento, una liquidación patrimonial, una auditoría — necesita un número que nadie puede realmente defender.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Á C A R   &amp;   L E D G E 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Activa Realmente Esta Trampa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transferencia de propiedad no documentada se resuelve de una de dos maneras — y una es mucho más costosa que la otra.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20640" cy="4023360"/>
          </a:xfrm>
          <a:prstGeom prst="rect">
            <a:avLst>
              <a:gd name="adj" fmla="val 1818"/>
            </a:avLst>
          </a:prstGeom>
          <a:solidFill>
            <a:srgbClr val="F7F2E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120640" cy="73152"/>
          </a:xfrm>
          <a:prstGeom prst="rect">
            <a:avLst/>
          </a:prstGeom>
          <a:solidFill>
            <a:srgbClr val="0E3A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23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CAMINO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28346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 Mismo lo Deshaces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43000" y="361188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aportación o distribución se registra correctamente, la base se corrige, y el tema de la hipoteca se resuelve directamente con el prestamista.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corrección ocurre en silencio, en tu propio calendario, antes de que alguien más empiece a hacer preguntas.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120640" cy="4023360"/>
          </a:xfrm>
          <a:prstGeom prst="rect">
            <a:avLst>
              <a:gd name="adj" fmla="val 1818"/>
            </a:avLst>
          </a:prstGeom>
          <a:solidFill>
            <a:srgbClr val="F7F2EA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2103120"/>
            <a:ext cx="5120640" cy="73152"/>
          </a:xfrm>
          <a:prstGeom prst="rect">
            <a:avLst/>
          </a:prstGeom>
          <a:solidFill>
            <a:srgbClr val="B8664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23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CAMINO 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8346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6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Alguien Más lo Descubre Primero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37960" y="361188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prestamista descubre la transferencia durante un refinanciamiento o revisión y exige el pago total, o un examinador cuestiona una depreciación sin base.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es una exigencia de pago inmediato, o ingreso reclasificado con multas e intereses — en el calendario de alguien más, no en el tuyo.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Á C A R   &amp;   L E D G E 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 Es Casi Siempre la Misma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3383280" cy="1783080"/>
          </a:xfrm>
          <a:prstGeom prst="rect">
            <a:avLst>
              <a:gd name="adj" fmla="val 3590"/>
            </a:avLst>
          </a:prstGeom>
          <a:solidFill>
            <a:srgbClr val="F7F2E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7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 una transacción real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aportación de capital o un préstamo documentado — nunca una transferencia silenciosa.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383280" cy="1783080"/>
          </a:xfrm>
          <a:prstGeom prst="rect">
            <a:avLst>
              <a:gd name="adj" fmla="val 3590"/>
            </a:avLst>
          </a:prstGeom>
          <a:solidFill>
            <a:srgbClr val="F7F2EA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7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17720" y="2011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 los términos de la hipoteca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17720" y="25146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las implicaciones de vencimiento por venta con el prestamista antes de mover nada.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383280" cy="1783080"/>
          </a:xfrm>
          <a:prstGeom prst="rect">
            <a:avLst>
              <a:gd name="adj" fmla="val 3590"/>
            </a:avLst>
          </a:prstGeom>
          <a:solidFill>
            <a:srgbClr val="F7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7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0" y="2011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Obtén una valoración real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0" y="25146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avalúo o base documentada al momento de la transferencia, no una suposición.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474720"/>
            <a:ext cx="3383280" cy="1783080"/>
          </a:xfrm>
          <a:prstGeom prst="rect">
            <a:avLst>
              <a:gd name="adj" fmla="val 3590"/>
            </a:avLst>
          </a:prstGeom>
          <a:solidFill>
            <a:srgbClr val="F7F2E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611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7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4069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 bien los pagos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05840" y="4572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o compensación, no un gasto del negocio.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34840" y="3474720"/>
            <a:ext cx="3383280" cy="1783080"/>
          </a:xfrm>
          <a:prstGeom prst="rect">
            <a:avLst>
              <a:gd name="adj" fmla="val 3590"/>
            </a:avLst>
          </a:prstGeom>
          <a:solidFill>
            <a:srgbClr val="F7F2EA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3611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7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17720" y="4069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Lleva base y depreciación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17720" y="4572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que la aportación esté registrada correctamente, de ahí en adelante.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3474720"/>
            <a:ext cx="3383280" cy="1783080"/>
          </a:xfrm>
          <a:prstGeom prst="rect">
            <a:avLst>
              <a:gd name="adj" fmla="val 3590"/>
            </a:avLst>
          </a:prstGeom>
          <a:solidFill>
            <a:srgbClr val="F7F2E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3611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7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229600" y="4069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Cuestiona si pertenece ahí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0" y="4572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veces la solución correcta es sacar el activo, no documentarlo mejor.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7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Á C A R   &amp;   L E D G E 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2011680" cy="0"/>
          </a:xfrm>
          <a:prstGeom prst="line">
            <a:avLst/>
          </a:prstGeom>
          <a:noFill/>
          <a:ln w="19050">
            <a:solidFill>
              <a:srgbClr val="C9A9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Resuélvelo Antes de Que Alguien Más lo Haga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transferencia debidamente documentada — o ninguna transferencia en absoluto — protege tanto el activo como la entidad que se suponía debía protegerlo desde un inicio.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NÁCAR &amp; LEDGER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Financiera y Operativa para los Pequeños Negocios de Providence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nacarledger@outlook.com   |   nacarledger.com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2026-07-31T23:16:29Z</dcterms:created>
  <dcterms:modified xsi:type="dcterms:W3CDTF">2026-07-31T23:16:29Z</dcterms:modified>
</cp:coreProperties>
</file>