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image" Target="../media/image-12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image" Target="../media/image-15-2.png"/><Relationship Id="rId6" Type="http://schemas.openxmlformats.org/officeDocument/2006/relationships/image" Target="../media/image-15-2.png"/><Relationship Id="rId7" Type="http://schemas.openxmlformats.org/officeDocument/2006/relationships/image" Target="../media/image-15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0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0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NÁCAR &amp; LEDGER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Acabamos de Convertir un 1099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W-2. ¿Ahora Qué?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Descubriendo Qué Debes del Año Pasado — Antes de Que Alguien Pregunte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Guía Práctica para Dueños de SMB que Usan QuickBooks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309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nacarledger.com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Cubriremos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81F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4173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convertir proactivamente es diferente a que te atrapen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081F3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945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dónde realmente llega el período retroactivo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081F3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71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Calculando lo que debes — el método estándar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08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490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3509: una opción de alivio de tasa reducida que vale la pena conocer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08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526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declaraciones que necesitas corregir, y en qué orden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081F3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53035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Obligaciones estatales, documentación, y tu lista de acción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Estás en Mejor Posición de lo que Crees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dos formas en que los empleadores llegan aquí — y cuál sea la tuya cambia todo sobre tus opciones.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0E3A5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IRS (o una agencia estatal) reclasifica al trabajador por ti — a través de una auditoría, un reclamo del trabajador, o una declaración de desempleo.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 aplican multas e intereses completos. Menos opciones para reducir la cuenta.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C4E76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331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PROACTIVO  (TÚ)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7889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decidiste convertir el puesto y ahora quieres corregir el año pasado correctamente, antes de que alguien pregunte.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37960" y="4114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FF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alivio de tasa reducida (Sección 3509) y caminos de corrección más limpios generalmente están disponibles para ti.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3" name="Image 0" descr="icon_calend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67512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1: ¿Hasta Dónde Retrocedes?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 es la fecha en que el puesto del trabajador realmente comenzó a funcionar como el de un empleado — no la fecha en que decidiste corregirlo.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7F2E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011680"/>
            <a:ext cx="3017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retroactivo típico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977640" y="2011680"/>
            <a:ext cx="7452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declaraciones de impuestos de empleo generalmente están abiertas para corrección hasta 3 años atrás desde la fecha de vencimiento original — pero la mala clasificación subyacente puede ser más antigua.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7F2E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063240"/>
            <a:ext cx="3017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puesto cambió con el tiempo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977640" y="3063240"/>
            <a:ext cx="7452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debes tratamiento fiscal tipo empleado desde el punto en que la relación se volvió tipo empleado — no necesariamente todo el compromiso.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11480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7F2EA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114800"/>
            <a:ext cx="3017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presentaste 1099s todo el tiempo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977640" y="4114800"/>
            <a:ext cx="7452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Haber presentado formularios 1099-NEC para el trabajador generalmente te pone en una mejor categoría de tasa que si nunca se reportó nada.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516636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7F2EA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166360"/>
            <a:ext cx="3017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Matiz del estatuto de limitaciones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977640" y="5166360"/>
            <a:ext cx="7452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declaración no presentada o sustancialmente subestimada puede dejar el período retroactivo abierto por más tiempo — aquí es donde más importa la lectura de un profesional.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3" name="Image 0" descr="icon_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67512"/>
            <a:ext cx="329184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Ejemplo de Cronología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7F2EA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463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Contratamos a una diseñadora 1099 en marzo del año pasado. Para septiembre, le habíamos dado una laptop de la empresa, fijado sus horarios, y había dejado de tomar otros clientes. Este mes la pasamos a W-2. ¿Qué debemos?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097280" y="3566160"/>
            <a:ext cx="10058400" cy="0"/>
          </a:xfrm>
          <a:prstGeom prst="line">
            <a:avLst/>
          </a:prstGeom>
          <a:noFill/>
          <a:ln w="31750">
            <a:solidFill>
              <a:srgbClr val="081F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4984" y="3483864"/>
            <a:ext cx="164592" cy="164592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3703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" y="4023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Genuinamente independiente—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necesita acción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72584" y="3483864"/>
            <a:ext cx="164592" cy="164592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12" name="Text 9"/>
          <p:cNvSpPr/>
          <p:nvPr/>
        </p:nvSpPr>
        <p:spPr>
          <a:xfrm>
            <a:off x="3931920" y="3703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749040" y="4023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comportamiento cambió—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empieza lo tipo empleado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970264" y="3483864"/>
            <a:ext cx="164592" cy="164592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0" y="3703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mes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46720" y="4023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Convertida a W-2—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la corrección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81F33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2578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probable: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impuestos atrasados se calculan desde septiembre, no marzo — el período donde la relación laboral realmente se volvió tipo empleado. El tramo genuinamente independiente antes de eso típicamente se queda como 1099.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3" name="Image 0" descr="icon_calculat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67512"/>
            <a:ext cx="329184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2: Calculando lo Que Debes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el método estándar (de responsabilidad completa), el empleador se vuelve responsable de ambos lados de la relación fiscal: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7F2E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65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del empleador de FICA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69080" y="1965960"/>
            <a:ext cx="7360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Impuesto de Seguro Social y Medicare que el negocio siempre debió, sin importar la clasificación — esto no desaparece de ninguna forma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9923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7F2E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99923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del empleado de FICA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069080" y="2999232"/>
            <a:ext cx="7360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Normalmente retenido de los cheques de pago — bajo reglas estándar, el empleador se vuelve responsable si no se retuvo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03250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7F2EA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03250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impuesto federal sobre la renta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069080" y="4032504"/>
            <a:ext cx="7360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monto que debió haberse retenido de los salarios, calculado usando el estatus de declaración presunto del trabajador si se desconoce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506577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7F2EA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06577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Multas e intereses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069080" y="5065776"/>
            <a:ext cx="7360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Multas por no retener y no depositar, más intereses acumulados desde la fecha de vencimiento original de cada período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camino costoso. La Sección 3509 (siguiente) a menudo lo reduce significativamente para empleadores que califican.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C9A97E"/>
          </a:solidFill>
          <a:ln/>
        </p:spPr>
      </p:sp>
      <p:pic>
        <p:nvPicPr>
          <p:cNvPr id="3" name="Image 0" descr="icon_scaleslef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21792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Opción de Tasa Reducida: IRC §3509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Congreso creó una válvula de alivio para empleadores que clasificaron mal de buena fe. En lugar de la responsabilidad estándar completa, la Sección 3509 ofrece tasas fijas reducidas — si calificas.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0E3A5F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 disponible cuando: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mala clasificación no fue “desacato intencional” de las reglas de reporte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presentó el Formulario 1099-NEC para el trabajador en los años en cuestión (una posición más fuerte que no presentar nada)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2062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cobrar los montos completos de FICA y retención del lado del empleado, el estatuto aplica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porcentajes fijos reducidos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esas piezas específicas. La parte del empleador de FICA se sigue debiendo en su totalidad de cualquier forma — el 3509 solo reduce la responsabilidad del lado del empleado trasladada al empleador.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C4E76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tasas exactas las establece el estatuto y pueden actualizarse — confirma las cifras actuales con un profesional fiscal o las instrucciones del IRS antes de calcular un número.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Estándar vs. Sección 3509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comparación conceptual — siempre confirma los porcentajes exactos con un profesional.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7F2E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ESTÁNDAR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del empleador de FICA — monto completo, siempre se debe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del empleado de FICA — monto completo trasladado al empleador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impuesto sobre la renta — monto presunto completo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aplicar multas estándar por no presentar/depositar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interés se acumula desde la fecha de vencimiento original de cada período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0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ALIVIO DE SECCIÓN 3509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del empleador de FICA — sigue siendo el monto completo, sin cambio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del empleado de FICA — tasa fija reducida en vez del monto completo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impuesto sobre la renta — tasa fija reducida en vez del monto presunto completo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 un desembolso de efectivo total menor para errores de buena fe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que se hayan presentado los 1099s y que no haya desacato intencional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3" name="Image 0" descr="icon_invoi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67512"/>
            <a:ext cx="329184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Está Incluido en el Número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38728" cy="4206240"/>
          </a:xfrm>
          <a:prstGeom prst="roundRect">
            <a:avLst>
              <a:gd name="adj" fmla="val 2584"/>
            </a:avLst>
          </a:prstGeom>
          <a:solidFill>
            <a:srgbClr val="F7F2EA"/>
          </a:solidFill>
          <a:ln/>
        </p:spPr>
      </p:sp>
      <p:sp>
        <p:nvSpPr>
          <p:cNvPr id="6" name="Shape 3"/>
          <p:cNvSpPr/>
          <p:nvPr/>
        </p:nvSpPr>
        <p:spPr>
          <a:xfrm>
            <a:off x="1906524" y="1874520"/>
            <a:ext cx="822960" cy="82296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7" name="Image 1" descr="icon_scaleslef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972" y="202996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88036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FICA (Seguro Social y Medicare)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41248" y="3840480"/>
            <a:ext cx="2953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Tanto la parte del empleador (siempre se debe) como, potencialmente, una parte de la parte del empleado dependiendo de qué método aplica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43400" y="1600200"/>
            <a:ext cx="3538728" cy="4206240"/>
          </a:xfrm>
          <a:prstGeom prst="roundRect">
            <a:avLst>
              <a:gd name="adj" fmla="val 2584"/>
            </a:avLst>
          </a:prstGeom>
          <a:solidFill>
            <a:srgbClr val="F7F2EA"/>
          </a:solidFill>
          <a:ln/>
        </p:spPr>
      </p:sp>
      <p:sp>
        <p:nvSpPr>
          <p:cNvPr id="11" name="Shape 7"/>
          <p:cNvSpPr/>
          <p:nvPr/>
        </p:nvSpPr>
        <p:spPr>
          <a:xfrm>
            <a:off x="5701284" y="1874520"/>
            <a:ext cx="822960" cy="82296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12" name="Image 2" descr="icon_invoi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2029968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0" y="288036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FUTA (Desempleo Federal)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636008" y="3840480"/>
            <a:ext cx="2953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Impuesto solo del empleador; se debe sobre salarios una vez que el trabajador se reclasifica correctamente, generalmente no afectado por el cálculo de alivio del 3509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138160" y="1600200"/>
            <a:ext cx="3538728" cy="4206240"/>
          </a:xfrm>
          <a:prstGeom prst="roundRect">
            <a:avLst>
              <a:gd name="adj" fmla="val 2584"/>
            </a:avLst>
          </a:prstGeom>
          <a:solidFill>
            <a:srgbClr val="F7F2EA"/>
          </a:solidFill>
          <a:ln/>
        </p:spPr>
      </p:sp>
      <p:sp>
        <p:nvSpPr>
          <p:cNvPr id="16" name="Shape 11"/>
          <p:cNvSpPr/>
          <p:nvPr/>
        </p:nvSpPr>
        <p:spPr>
          <a:xfrm>
            <a:off x="9496044" y="1874520"/>
            <a:ext cx="822960" cy="82296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17" name="Image 3" descr="icon_calculato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492" y="2029968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66760" y="288036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Retención de Impuesto sobre la Renta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430768" y="3840480"/>
            <a:ext cx="2953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monto que debió haber salido de cada cheque de pago — calculado a tasas estándar o reducidas dependiendo de tu elegibilidad para el alivio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C9A97E"/>
          </a:solidFill>
          <a:ln/>
        </p:spPr>
      </p:sp>
      <p:pic>
        <p:nvPicPr>
          <p:cNvPr id="3" name="Image 0" descr="icon_exchang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21792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Corrigiendo Tus Declaraciones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E3A5F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755648"/>
            <a:ext cx="502920" cy="502920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1581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941-X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343400" y="1508760"/>
            <a:ext cx="7086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Enmienda la declaración de impuestos de nómina de cada trimestre afectado para reflejar los salarios reclasificados y los impuestos ahora debidos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624328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E3A5F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2871216"/>
            <a:ext cx="502920" cy="502920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871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0876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W-2 / W-2c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343400" y="2624328"/>
            <a:ext cx="7086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un estado de salario corregido para los períodos afectados para que las propias declaraciones fiscales del trabajador puedan conciliarse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739896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E3A5F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240" y="3986784"/>
            <a:ext cx="502920" cy="502920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08760" y="3813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o anular el 1099-NEC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343400" y="3739896"/>
            <a:ext cx="7086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se presentó un 1099 por los mismos salarios ahora reportados en un W-2, ese traslape necesita resolverse con el IRS y el trabajador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4855464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E3A5F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102352"/>
            <a:ext cx="502920" cy="502920"/>
          </a:xfrm>
          <a:prstGeom prst="ellipse">
            <a:avLst/>
          </a:prstGeom>
          <a:solidFill>
            <a:srgbClr val="C9A97E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5102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508760" y="49286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Declaraciones estatales de nómina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4343400" y="4855464"/>
            <a:ext cx="7086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Enmienda las declaraciones de retención de impuesto estatal para que coincidan — las fechas límite y procesos varían significativamente por estado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3" name="Image 0" descr="icon_mapmark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667512"/>
            <a:ext cx="27432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Obligaciones Estatales No Desaparecen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corrección federal resuelve tu exposición ante el IRS — no resuelve automáticamente esto: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7F2E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65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de desempleo estatal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1965960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deberse contribuciones retroactivas del empleador, calculadas por separado del FUTA federal y a menudo auditadas de forma independiente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9923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7F2E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999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Compensación laboral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51960" y="2999232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aseguradoras pueden reevaluar primas retroactivamente una vez que un trabajador se reclasifica como empleado para el período correspondiente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03250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7F2EA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03250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impuesto estatal sobre la renta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251960" y="4032504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estados requieren sus propias declaraciones de retención enmendadas — seguir solo la corrección federal no es suficiente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506577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7F2EA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06577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de permiso pagado / discapacidad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251960" y="5065776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estados con programas obligatorios de permiso pagado o discapacidad también pueden requerir contribuciones retroactivas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3" name="Image 0" descr="icon_clipboard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67512"/>
            <a:ext cx="329184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 para Reunir Primero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que alguien pueda calcular un número preciso, reúne:</a:t>
            </a:r>
            <a:endParaRPr lang="en-US" sz="1400" dirty="0"/>
          </a:p>
        </p:txBody>
      </p:sp>
      <p:pic>
        <p:nvPicPr>
          <p:cNvPr id="6" name="Image 1" descr="icon_clipboard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9110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pago hecho al trabajador, por fecha, durante todo el período en cuestión</a:t>
            </a:r>
            <a:endParaRPr lang="en-US" sz="1400" dirty="0"/>
          </a:p>
        </p:txBody>
      </p:sp>
      <p:pic>
        <p:nvPicPr>
          <p:cNvPr id="8" name="Image 2" descr="icon_clipboard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24328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56946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Copias de cualquier formulario 1099-NEC ya presentado para ese trabajador</a:t>
            </a:r>
            <a:endParaRPr lang="en-US" sz="1400" dirty="0"/>
          </a:p>
        </p:txBody>
      </p:sp>
      <p:pic>
        <p:nvPicPr>
          <p:cNvPr id="10" name="Image 3" descr="icon_clipboard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82696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32278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en que cambiaron las condiciones de trabajo — horario, equipo, exclusividad</a:t>
            </a:r>
            <a:endParaRPr lang="en-US" sz="1400" dirty="0"/>
          </a:p>
        </p:txBody>
      </p:sp>
      <p:pic>
        <p:nvPicPr>
          <p:cNvPr id="12" name="Image 4" descr="icon_clipboard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41064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38862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W-4 del trabajador (si se recolectó) o la mejor información disponible sobre su estatus de declaración</a:t>
            </a:r>
            <a:endParaRPr lang="en-US" sz="1400" dirty="0"/>
          </a:p>
        </p:txBody>
      </p:sp>
      <p:pic>
        <p:nvPicPr>
          <p:cNvPr id="14" name="Image 5" descr="icon_clipboardche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599432"/>
            <a:ext cx="292608" cy="29260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05840" y="45445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acuerdo de contratista independiente existente y su alcance declarado</a:t>
            </a:r>
            <a:endParaRPr lang="en-US" sz="1400" dirty="0"/>
          </a:p>
        </p:txBody>
      </p:sp>
      <p:sp>
        <p:nvSpPr>
          <p:cNvPr id="16" name="Shape 8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2EA"/>
          </a:solidFill>
          <a:ln/>
        </p:spPr>
      </p:sp>
      <p:sp>
        <p:nvSpPr>
          <p:cNvPr id="17" name="Text 9"/>
          <p:cNvSpPr/>
          <p:nvPr/>
        </p:nvSpPr>
        <p:spPr>
          <a:xfrm>
            <a:off x="822960" y="5532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presentaste 1099s, y exactamente cuándo cambió la relación, afecta directamente qué método de cálculo y opciones de alivio aplican.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Caminos: VCSP vs. Autocorrección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ya convertiste el puesto, estás eligiendo cómo corregir el pasado — no si convertir.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7F2E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Autocorrección (ruta 941-X)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Calculas y pagas directamente lo que se debe para el período específico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alivio de la Sección 3509 puede aplicar si calificas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la corrección proporcional — solo los trimestres afectados, no años futuros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cuando el período de mala clasificación es corto y claramente delimitado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081F33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VCSP (si aún no has convertido)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programa formal del IRS — requiere aplicar antes de reclasificar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aproximadamente el 10% de la responsabilidad de un año, evita intereses/multas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disponible una vez que ya hiciste el cambio por tu cuenta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la pena conocerlo para otros contratistas que aún no has convertido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C9A97E"/>
          </a:solidFill>
          <a:ln/>
        </p:spPr>
      </p:sp>
      <p:pic>
        <p:nvPicPr>
          <p:cNvPr id="3" name="Image 0" descr="icon_excirc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21792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 al Autocorregir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0E3A5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46304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impuestos atrasados desde la fecha de contratación en vez de cuándo el puesto realmente se volvió tipo empleado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0" y="14630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0E3A5F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146304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corregir o anular el 1099-NEC que se traslapa por los mismos salarios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0E3A5F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88036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que las tasas de la Sección 3509 aplican sin confirmar los requisitos de presentación de 1099 y buena fe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28803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0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288036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las declaraciones federales pero omitir la exposición de desempleo estatal y compensación laboral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2976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0E3A5F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29768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documentar el razonamiento detrás de la fecha efectiva que elegiste, en caso de que alguna vez se cuestione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63640" y="42976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0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429768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a la próxima declaración anual en vez de enmendar el trimestre afectado con prontitud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081F33"/>
          </a:solidFill>
          <a:ln/>
        </p:spPr>
      </p:sp>
      <p:pic>
        <p:nvPicPr>
          <p:cNvPr id="3" name="Image 0" descr="icon_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67512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Lista de Acción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7F2EA"/>
          </a:solidFill>
          <a:ln/>
        </p:spPr>
      </p:sp>
      <p:pic>
        <p:nvPicPr>
          <p:cNvPr id="6" name="Image 1" descr="icon_clipboard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82496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50876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la fecha exacta en que el puesto se volvió tipo empleado, con notas de respaldo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48640" y="233172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7F2EA"/>
          </a:solidFill>
          <a:ln/>
        </p:spPr>
      </p:sp>
      <p:pic>
        <p:nvPicPr>
          <p:cNvPr id="9" name="Image 2" descr="icon_clipboard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05456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233172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todos los pagos, cualquier 1099 presentado, y términos de acuerdo previos para ese período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548640" y="315468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7F2EA"/>
          </a:solidFill>
          <a:ln/>
        </p:spPr>
      </p:sp>
      <p:pic>
        <p:nvPicPr>
          <p:cNvPr id="12" name="Image 3" descr="icon_clipboard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28416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1600" y="315468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si se cumplen las condiciones de buena fe y presentación de 1099 de la Sección 3509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548640" y="39776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7F2EA"/>
          </a:solidFill>
          <a:ln/>
        </p:spPr>
      </p:sp>
      <p:pic>
        <p:nvPicPr>
          <p:cNvPr id="15" name="Image 4" descr="icon_clipboard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51376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71600" y="397764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 responsabilidad bajo el método aplicable con un profesional de nómina o impuestos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548640" y="48006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7F2EA"/>
          </a:solidFill>
          <a:ln/>
        </p:spPr>
      </p:sp>
      <p:pic>
        <p:nvPicPr>
          <p:cNvPr id="18" name="Image 5" descr="icon_clipboardche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974336"/>
            <a:ext cx="365760" cy="3657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71600" y="480060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el Formulario 941-X para cada trimestre afectado y emite W-2 corregidos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548640" y="56235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7F2EA"/>
          </a:solidFill>
          <a:ln/>
        </p:spPr>
      </p:sp>
      <p:pic>
        <p:nvPicPr>
          <p:cNvPr id="21" name="Image 6" descr="icon_clipboardcheck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365760" cy="3657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371600" y="562356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por separado las obligaciones de desempleo estatal, compensación laboral, y retención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educación general — confirma los cálculos y elecciones con un profesional fiscal antes de presentar.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0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0E3A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NÁCAR &amp; LEDGER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a dejar el año pasado bien resuelto.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nacarledger.com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material es para fines educativos generales y no constituye asesoría fiscal o legal. Consulta a un profesional calificado para orientación específica sobre tu negocio.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2026-07-26T00:44:45Z</dcterms:created>
  <dcterms:modified xsi:type="dcterms:W3CDTF">2026-07-26T00:44:45Z</dcterms:modified>
</cp:coreProperties>
</file>