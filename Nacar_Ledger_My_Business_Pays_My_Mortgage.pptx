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F33"/>
        </a:solidFill>
      </p:bgPr>
    </p:bg>
    <p:spTree>
      <p:nvGrpSpPr>
        <p:cNvPr id="1" name=""/>
        <p:cNvGrpSpPr/>
        <p:nvPr/>
      </p:nvGrpSpPr>
      <p:grpSpPr>
        <a:xfrm>
          <a:off x="0" y="0"/>
          <a:ext cx="0" cy="0"/>
          <a:chOff x="0" y="0"/>
          <a:chExt cx="0" cy="0"/>
        </a:xfrm>
      </p:grpSpPr>
      <p:sp>
        <p:nvSpPr>
          <p:cNvPr id="2" name="Text 0"/>
          <p:cNvSpPr/>
          <p:nvPr/>
        </p:nvSpPr>
        <p:spPr>
          <a:xfrm>
            <a:off x="822960" y="1417320"/>
            <a:ext cx="10515600" cy="365760"/>
          </a:xfrm>
          <a:prstGeom prst="rect">
            <a:avLst/>
          </a:prstGeom>
          <a:noFill/>
          <a:ln/>
        </p:spPr>
        <p:txBody>
          <a:bodyPr wrap="square" rtlCol="0" anchor="ctr"/>
          <a:lstStyle/>
          <a:p>
            <a:pPr indent="0" marL="0">
              <a:buNone/>
            </a:pPr>
            <a:r>
              <a:rPr lang="en-US" sz="1200" spc="200" kern="0" dirty="0">
                <a:solidFill>
                  <a:srgbClr val="D98C7A"/>
                </a:solidFill>
                <a:latin typeface="Courier New" pitchFamily="34" charset="0"/>
                <a:ea typeface="Courier New" pitchFamily="34" charset="-122"/>
                <a:cs typeface="Courier New" pitchFamily="34" charset="-120"/>
              </a:rPr>
              <a:t>INTERCOMPANY TRANSFERS &amp; SHAREHOLDER LOANS</a:t>
            </a:r>
            <a:endParaRPr lang="en-US" sz="1200" dirty="0"/>
          </a:p>
        </p:txBody>
      </p:sp>
      <p:sp>
        <p:nvSpPr>
          <p:cNvPr id="3" name="Text 1"/>
          <p:cNvSpPr/>
          <p:nvPr/>
        </p:nvSpPr>
        <p:spPr>
          <a:xfrm>
            <a:off x="822960" y="1874520"/>
            <a:ext cx="10515600" cy="12801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My Business Pays My Mortgage</a:t>
            </a:r>
            <a:endParaRPr lang="en-US" sz="4000" dirty="0"/>
          </a:p>
        </p:txBody>
      </p:sp>
      <p:sp>
        <p:nvSpPr>
          <p:cNvPr id="4" name="Text 2"/>
          <p:cNvSpPr/>
          <p:nvPr/>
        </p:nvSpPr>
        <p:spPr>
          <a:xfrm>
            <a:off x="822960" y="2788920"/>
            <a:ext cx="10515600" cy="82296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Is That a Problem?</a:t>
            </a:r>
            <a:endParaRPr lang="en-US" sz="4000" dirty="0"/>
          </a:p>
        </p:txBody>
      </p:sp>
      <p:sp>
        <p:nvSpPr>
          <p:cNvPr id="5" name="Text 3"/>
          <p:cNvSpPr/>
          <p:nvPr/>
        </p:nvSpPr>
        <p:spPr>
          <a:xfrm>
            <a:off x="822960" y="3794760"/>
            <a:ext cx="96012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 Real Cost of Putting Your House on the Company Balance Sheet</a:t>
            </a:r>
            <a:endParaRPr lang="en-US" sz="1600" dirty="0"/>
          </a:p>
        </p:txBody>
      </p:sp>
      <p:sp>
        <p:nvSpPr>
          <p:cNvPr id="6" name="Text 4"/>
          <p:cNvSpPr/>
          <p:nvPr/>
        </p:nvSpPr>
        <p:spPr>
          <a:xfrm>
            <a:off x="822960" y="4297680"/>
            <a:ext cx="9601200" cy="457200"/>
          </a:xfrm>
          <a:prstGeom prst="rect">
            <a:avLst/>
          </a:prstGeom>
          <a:noFill/>
          <a:ln/>
        </p:spPr>
        <p:txBody>
          <a:bodyPr wrap="square" rtlCol="0" anchor="ctr"/>
          <a:lstStyle/>
          <a:p>
            <a:pPr indent="0" marL="0">
              <a:buNone/>
            </a:pPr>
            <a:r>
              <a:rPr lang="en-US" sz="1300" i="1" dirty="0">
                <a:solidFill>
                  <a:srgbClr val="9FB0B8"/>
                </a:solidFill>
                <a:latin typeface="Calibri" pitchFamily="34" charset="0"/>
                <a:ea typeface="Calibri" pitchFamily="34" charset="-122"/>
                <a:cs typeface="Calibri" pitchFamily="34" charset="-120"/>
              </a:rPr>
              <a:t>A field guide for owners who moved personal property onto the books</a:t>
            </a:r>
            <a:endParaRPr lang="en-US" sz="1300" dirty="0"/>
          </a:p>
        </p:txBody>
      </p:sp>
      <p:sp>
        <p:nvSpPr>
          <p:cNvPr id="7" name="Shape 5"/>
          <p:cNvSpPr/>
          <p:nvPr/>
        </p:nvSpPr>
        <p:spPr>
          <a:xfrm>
            <a:off x="822960" y="5806440"/>
            <a:ext cx="2926080" cy="0"/>
          </a:xfrm>
          <a:prstGeom prst="line">
            <a:avLst/>
          </a:prstGeom>
          <a:noFill/>
          <a:ln w="19050">
            <a:solidFill>
              <a:srgbClr val="C9A97E"/>
            </a:solidFill>
            <a:prstDash val="solid"/>
          </a:ln>
        </p:spPr>
      </p:sp>
      <p:sp>
        <p:nvSpPr>
          <p:cNvPr id="8" name="Text 6"/>
          <p:cNvSpPr/>
          <p:nvPr/>
        </p:nvSpPr>
        <p:spPr>
          <a:xfrm>
            <a:off x="822960" y="5989320"/>
            <a:ext cx="10058400" cy="320040"/>
          </a:xfrm>
          <a:prstGeom prst="rect">
            <a:avLst/>
          </a:prstGeom>
          <a:noFill/>
          <a:ln/>
        </p:spPr>
        <p:txBody>
          <a:bodyPr wrap="square" rtlCol="0" anchor="ctr"/>
          <a:lstStyle/>
          <a:p>
            <a:pPr indent="0" marL="0">
              <a:buNone/>
            </a:pPr>
            <a:r>
              <a:rPr lang="en-US" sz="900" spc="100" kern="0" dirty="0">
                <a:solidFill>
                  <a:srgbClr val="8C7A54"/>
                </a:solidFill>
                <a:latin typeface="Courier New" pitchFamily="34" charset="0"/>
                <a:ea typeface="Courier New" pitchFamily="34" charset="-122"/>
                <a:cs typeface="Courier New" pitchFamily="34" charset="-120"/>
              </a:rPr>
              <a:t>N Á C A R   &amp;   L E D G E R     |     Financial &amp; Operations Consulting     |     Providence, RI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A"/>
        </a:solidFill>
      </p:bgPr>
    </p:bg>
    <p:spTree>
      <p:nvGrpSpPr>
        <p:cNvPr id="1" name=""/>
        <p:cNvGrpSpPr/>
        <p:nvPr/>
      </p:nvGrpSpPr>
      <p:grpSpPr>
        <a:xfrm>
          <a:off x="0" y="0"/>
          <a:ext cx="0" cy="0"/>
          <a:chOff x="0" y="0"/>
          <a:chExt cx="0" cy="0"/>
        </a:xfrm>
      </p:grpSpPr>
      <p:sp>
        <p:nvSpPr>
          <p:cNvPr id="2" name="Text 0"/>
          <p:cNvSpPr/>
          <p:nvPr/>
        </p:nvSpPr>
        <p:spPr>
          <a:xfrm>
            <a:off x="822960" y="640080"/>
            <a:ext cx="10515600" cy="365760"/>
          </a:xfrm>
          <a:prstGeom prst="rect">
            <a:avLst/>
          </a:prstGeom>
          <a:noFill/>
          <a:ln/>
        </p:spPr>
        <p:txBody>
          <a:bodyPr wrap="square" rtlCol="0" anchor="ctr"/>
          <a:lstStyle/>
          <a:p>
            <a:pPr indent="0" marL="0">
              <a:buNone/>
            </a:pPr>
            <a:r>
              <a:rPr lang="en-US" sz="1200" spc="200" kern="0" dirty="0">
                <a:solidFill>
                  <a:srgbClr val="B8664F"/>
                </a:solidFill>
                <a:latin typeface="Courier New" pitchFamily="34" charset="0"/>
                <a:ea typeface="Courier New" pitchFamily="34" charset="-122"/>
                <a:cs typeface="Courier New" pitchFamily="34" charset="-120"/>
              </a:rPr>
              <a:t>A NOTE BEFORE WE START</a:t>
            </a:r>
            <a:endParaRPr lang="en-US" sz="1200" dirty="0"/>
          </a:p>
        </p:txBody>
      </p:sp>
      <p:sp>
        <p:nvSpPr>
          <p:cNvPr id="3" name="Shape 1"/>
          <p:cNvSpPr/>
          <p:nvPr/>
        </p:nvSpPr>
        <p:spPr>
          <a:xfrm>
            <a:off x="822960" y="1280160"/>
            <a:ext cx="10515600" cy="3931920"/>
          </a:xfrm>
          <a:prstGeom prst="rect">
            <a:avLst>
              <a:gd name="adj" fmla="val 1860"/>
            </a:avLst>
          </a:prstGeom>
          <a:solidFill>
            <a:srgbClr val="FFFFFF"/>
          </a:solidFill>
          <a:ln w="12700">
            <a:solidFill>
              <a:srgbClr val="E4DCC9"/>
            </a:solidFill>
            <a:prstDash val="solid"/>
          </a:ln>
        </p:spPr>
      </p:sp>
      <p:sp>
        <p:nvSpPr>
          <p:cNvPr id="4" name="Text 2"/>
          <p:cNvSpPr/>
          <p:nvPr/>
        </p:nvSpPr>
        <p:spPr>
          <a:xfrm>
            <a:off x="1188720" y="1645920"/>
            <a:ext cx="9784080" cy="3200400"/>
          </a:xfrm>
          <a:prstGeom prst="rect">
            <a:avLst/>
          </a:prstGeom>
          <a:noFill/>
          <a:ln/>
        </p:spPr>
        <p:txBody>
          <a:bodyPr wrap="square" rtlCol="0" anchor="ctr"/>
          <a:lstStyle/>
          <a:p>
            <a:pPr indent="0" marL="0">
              <a:lnSpc>
                <a:spcPct val="135000"/>
              </a:lnSpc>
              <a:buNone/>
            </a:pPr>
            <a:r>
              <a:rPr lang="en-US" sz="1500" dirty="0">
                <a:solidFill>
                  <a:srgbClr val="24303A"/>
                </a:solidFill>
                <a:latin typeface="Calibri" pitchFamily="34" charset="0"/>
                <a:ea typeface="Calibri" pitchFamily="34" charset="-122"/>
                <a:cs typeface="Calibri" pitchFamily="34" charset="-120"/>
              </a:rPr>
              <a:t>This presentation is provided for general educational purposes only and does not constitute tax, legal, or accounting advice for any specific individual or entity. The treatment of personal property transferred to a business, mortgage assumptions, and distributions depends heavily on the facts and circumstances of each situation — what applies to one business may not apply to another.</a:t>
            </a:r>
            <a:endParaRPr lang="en-US" sz="1500" dirty="0"/>
          </a:p>
          <a:p>
            <a:pPr indent="0" marL="0">
              <a:lnSpc>
                <a:spcPct val="135000"/>
              </a:lnSpc>
              <a:buNone/>
            </a:pPr>
            <a:endParaRPr lang="en-US" sz="1500" dirty="0"/>
          </a:p>
          <a:p>
            <a:pPr indent="0" marL="0">
              <a:lnSpc>
                <a:spcPct val="135000"/>
              </a:lnSpc>
              <a:buNone/>
            </a:pPr>
            <a:r>
              <a:rPr lang="en-US" sz="1500" dirty="0">
                <a:solidFill>
                  <a:srgbClr val="24303A"/>
                </a:solidFill>
                <a:latin typeface="Calibri" pitchFamily="34" charset="0"/>
                <a:ea typeface="Calibri" pitchFamily="34" charset="-122"/>
                <a:cs typeface="Calibri" pitchFamily="34" charset="-120"/>
              </a:rPr>
              <a:t>Nothing in this deck should be relied upon in place of consultation with a qualified CPA, tax advisor, or attorney regarding your specific situation. Nácar &amp; Ledger is glad to discuss how these issues may apply to your business directly.</a:t>
            </a:r>
            <a:endParaRPr lang="en-US" sz="1500" dirty="0"/>
          </a:p>
        </p:txBody>
      </p:sp>
      <p:sp>
        <p:nvSpPr>
          <p:cNvPr id="5" name="Text 3"/>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6" name="Text 4"/>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48640"/>
            <a:ext cx="10515600" cy="640080"/>
          </a:xfrm>
          <a:prstGeom prst="rect">
            <a:avLst/>
          </a:prstGeom>
          <a:noFill/>
          <a:ln/>
        </p:spPr>
        <p:txBody>
          <a:bodyPr wrap="square" rtlCol="0" anchor="ctr"/>
          <a:lstStyle/>
          <a:p>
            <a:pPr indent="0" marL="0">
              <a:buNone/>
            </a:pPr>
            <a:r>
              <a:rPr lang="en-US" sz="2600" b="1" dirty="0">
                <a:solidFill>
                  <a:srgbClr val="0E3A5F"/>
                </a:solidFill>
                <a:latin typeface="Cambria" pitchFamily="34" charset="0"/>
                <a:ea typeface="Cambria" pitchFamily="34" charset="-122"/>
                <a:cs typeface="Cambria" pitchFamily="34" charset="-120"/>
              </a:rPr>
              <a:t>Why This List Exists</a:t>
            </a:r>
            <a:endParaRPr lang="en-US" sz="2600" dirty="0"/>
          </a:p>
        </p:txBody>
      </p:sp>
      <p:sp>
        <p:nvSpPr>
          <p:cNvPr id="3" name="Text 1"/>
          <p:cNvSpPr/>
          <p:nvPr/>
        </p:nvSpPr>
        <p:spPr>
          <a:xfrm>
            <a:off x="822960" y="1280160"/>
            <a:ext cx="10515600" cy="1005840"/>
          </a:xfrm>
          <a:prstGeom prst="rect">
            <a:avLst/>
          </a:prstGeom>
          <a:noFill/>
          <a:ln/>
        </p:spPr>
        <p:txBody>
          <a:bodyPr wrap="square" rtlCol="0" anchor="ctr"/>
          <a:lstStyle/>
          <a:p>
            <a:pPr indent="0" marL="0">
              <a:lnSpc>
                <a:spcPct val="130000"/>
              </a:lnSpc>
              <a:buNone/>
            </a:pPr>
            <a:r>
              <a:rPr lang="en-US" sz="1400" dirty="0">
                <a:solidFill>
                  <a:srgbClr val="5B6670"/>
                </a:solidFill>
                <a:latin typeface="Calibri" pitchFamily="34" charset="0"/>
                <a:ea typeface="Calibri" pitchFamily="34" charset="-122"/>
                <a:cs typeface="Calibri" pitchFamily="34" charset="-120"/>
              </a:rPr>
              <a:t>Putting your house on the business books feels like a formality — it's your business, it's your house. It stops feeling like a formality the day a lender calls the loan due, or an examiner asks who actually owns what.</a:t>
            </a:r>
            <a:endParaRPr lang="en-US" sz="1400" dirty="0"/>
          </a:p>
        </p:txBody>
      </p:sp>
      <p:sp>
        <p:nvSpPr>
          <p:cNvPr id="4" name="Shape 2"/>
          <p:cNvSpPr/>
          <p:nvPr/>
        </p:nvSpPr>
        <p:spPr>
          <a:xfrm>
            <a:off x="822960" y="2514600"/>
            <a:ext cx="3337560" cy="3063240"/>
          </a:xfrm>
          <a:prstGeom prst="rect">
            <a:avLst>
              <a:gd name="adj" fmla="val 2388"/>
            </a:avLst>
          </a:prstGeom>
          <a:solidFill>
            <a:srgbClr val="F7F2EA"/>
          </a:solidFill>
          <a:ln/>
        </p:spPr>
      </p:sp>
      <p:sp>
        <p:nvSpPr>
          <p:cNvPr id="5" name="Shape 3"/>
          <p:cNvSpPr/>
          <p:nvPr/>
        </p:nvSpPr>
        <p:spPr>
          <a:xfrm>
            <a:off x="1078992" y="2788920"/>
            <a:ext cx="457200" cy="457200"/>
          </a:xfrm>
          <a:prstGeom prst="ellipse">
            <a:avLst/>
          </a:prstGeom>
          <a:solidFill>
            <a:srgbClr val="B8664F"/>
          </a:solidFill>
          <a:ln/>
        </p:spPr>
      </p:sp>
      <p:sp>
        <p:nvSpPr>
          <p:cNvPr id="6" name="Text 4"/>
          <p:cNvSpPr/>
          <p:nvPr/>
        </p:nvSpPr>
        <p:spPr>
          <a:xfrm>
            <a:off x="1078992" y="27889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078992" y="3429000"/>
            <a:ext cx="2825496" cy="640080"/>
          </a:xfrm>
          <a:prstGeom prst="rect">
            <a:avLst/>
          </a:prstGeom>
          <a:noFill/>
          <a:ln/>
        </p:spPr>
        <p:txBody>
          <a:bodyPr wrap="square" rtlCol="0" anchor="ctr"/>
          <a:lstStyle/>
          <a:p>
            <a:pPr indent="0" marL="0">
              <a:lnSpc>
                <a:spcPct val="115000"/>
              </a:lnSpc>
              <a:buNone/>
            </a:pPr>
            <a:r>
              <a:rPr lang="en-US" sz="1500" b="1" dirty="0">
                <a:solidFill>
                  <a:srgbClr val="24303A"/>
                </a:solidFill>
                <a:latin typeface="Cambria" pitchFamily="34" charset="0"/>
                <a:ea typeface="Cambria" pitchFamily="34" charset="-122"/>
                <a:cs typeface="Cambria" pitchFamily="34" charset="-120"/>
              </a:rPr>
              <a:t>No real transaction recorded</a:t>
            </a:r>
            <a:endParaRPr lang="en-US" sz="1500" dirty="0"/>
          </a:p>
        </p:txBody>
      </p:sp>
      <p:sp>
        <p:nvSpPr>
          <p:cNvPr id="8" name="Text 6"/>
          <p:cNvSpPr/>
          <p:nvPr/>
        </p:nvSpPr>
        <p:spPr>
          <a:xfrm>
            <a:off x="1078992" y="4114800"/>
            <a:ext cx="2825496" cy="1371600"/>
          </a:xfrm>
          <a:prstGeom prst="rect">
            <a:avLst/>
          </a:prstGeom>
          <a:noFill/>
          <a:ln/>
        </p:spPr>
        <p:txBody>
          <a:bodyPr wrap="square" rtlCol="0" anchor="ctr"/>
          <a:lstStyle/>
          <a:p>
            <a:pPr indent="0" marL="0">
              <a:lnSpc>
                <a:spcPct val="125000"/>
              </a:lnSpc>
              <a:buNone/>
            </a:pPr>
            <a:r>
              <a:rPr lang="en-US" sz="1100" dirty="0">
                <a:solidFill>
                  <a:srgbClr val="5B6670"/>
                </a:solidFill>
                <a:latin typeface="Calibri" pitchFamily="34" charset="0"/>
                <a:ea typeface="Calibri" pitchFamily="34" charset="-122"/>
                <a:cs typeface="Calibri" pitchFamily="34" charset="-120"/>
              </a:rPr>
              <a:t>The IRS treats an asset added with no offsetting entry as if nothing legitimate happened at all — the paper trail simply doesn't exist.</a:t>
            </a:r>
            <a:endParaRPr lang="en-US" sz="1100" dirty="0"/>
          </a:p>
        </p:txBody>
      </p:sp>
      <p:sp>
        <p:nvSpPr>
          <p:cNvPr id="9" name="Shape 7"/>
          <p:cNvSpPr/>
          <p:nvPr/>
        </p:nvSpPr>
        <p:spPr>
          <a:xfrm>
            <a:off x="4480560" y="2514600"/>
            <a:ext cx="3337560" cy="3063240"/>
          </a:xfrm>
          <a:prstGeom prst="rect">
            <a:avLst>
              <a:gd name="adj" fmla="val 2388"/>
            </a:avLst>
          </a:prstGeom>
          <a:solidFill>
            <a:srgbClr val="F7F2EA"/>
          </a:solidFill>
          <a:ln/>
        </p:spPr>
      </p:sp>
      <p:sp>
        <p:nvSpPr>
          <p:cNvPr id="10" name="Shape 8"/>
          <p:cNvSpPr/>
          <p:nvPr/>
        </p:nvSpPr>
        <p:spPr>
          <a:xfrm>
            <a:off x="4736592" y="2788920"/>
            <a:ext cx="457200" cy="457200"/>
          </a:xfrm>
          <a:prstGeom prst="ellipse">
            <a:avLst/>
          </a:prstGeom>
          <a:solidFill>
            <a:srgbClr val="8C7A54"/>
          </a:solidFill>
          <a:ln/>
        </p:spPr>
      </p:sp>
      <p:sp>
        <p:nvSpPr>
          <p:cNvPr id="11" name="Text 9"/>
          <p:cNvSpPr/>
          <p:nvPr/>
        </p:nvSpPr>
        <p:spPr>
          <a:xfrm>
            <a:off x="4736592" y="27889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736592" y="3429000"/>
            <a:ext cx="2825496" cy="640080"/>
          </a:xfrm>
          <a:prstGeom prst="rect">
            <a:avLst/>
          </a:prstGeom>
          <a:noFill/>
          <a:ln/>
        </p:spPr>
        <p:txBody>
          <a:bodyPr wrap="square" rtlCol="0" anchor="ctr"/>
          <a:lstStyle/>
          <a:p>
            <a:pPr indent="0" marL="0">
              <a:lnSpc>
                <a:spcPct val="115000"/>
              </a:lnSpc>
              <a:buNone/>
            </a:pPr>
            <a:r>
              <a:rPr lang="en-US" sz="1500" b="1" dirty="0">
                <a:solidFill>
                  <a:srgbClr val="24303A"/>
                </a:solidFill>
                <a:latin typeface="Cambria" pitchFamily="34" charset="0"/>
                <a:ea typeface="Cambria" pitchFamily="34" charset="-122"/>
                <a:cs typeface="Cambria" pitchFamily="34" charset="-120"/>
              </a:rPr>
              <a:t>Mortgage acceleration risk</a:t>
            </a:r>
            <a:endParaRPr lang="en-US" sz="1500" dirty="0"/>
          </a:p>
        </p:txBody>
      </p:sp>
      <p:sp>
        <p:nvSpPr>
          <p:cNvPr id="13" name="Text 11"/>
          <p:cNvSpPr/>
          <p:nvPr/>
        </p:nvSpPr>
        <p:spPr>
          <a:xfrm>
            <a:off x="4736592" y="4114800"/>
            <a:ext cx="2825496" cy="1371600"/>
          </a:xfrm>
          <a:prstGeom prst="rect">
            <a:avLst/>
          </a:prstGeom>
          <a:noFill/>
          <a:ln/>
        </p:spPr>
        <p:txBody>
          <a:bodyPr wrap="square" rtlCol="0" anchor="ctr"/>
          <a:lstStyle/>
          <a:p>
            <a:pPr indent="0" marL="0">
              <a:lnSpc>
                <a:spcPct val="125000"/>
              </a:lnSpc>
              <a:buNone/>
            </a:pPr>
            <a:r>
              <a:rPr lang="en-US" sz="1100" dirty="0">
                <a:solidFill>
                  <a:srgbClr val="5B6670"/>
                </a:solidFill>
                <a:latin typeface="Calibri" pitchFamily="34" charset="0"/>
                <a:ea typeface="Calibri" pitchFamily="34" charset="-122"/>
                <a:cs typeface="Calibri" pitchFamily="34" charset="-120"/>
              </a:rPr>
              <a:t>Most residential mortgages have a due-on-sale clause — transferring the property without lender consent can make the entire balance due immediately.</a:t>
            </a:r>
            <a:endParaRPr lang="en-US" sz="1100" dirty="0"/>
          </a:p>
        </p:txBody>
      </p:sp>
      <p:sp>
        <p:nvSpPr>
          <p:cNvPr id="14" name="Shape 12"/>
          <p:cNvSpPr/>
          <p:nvPr/>
        </p:nvSpPr>
        <p:spPr>
          <a:xfrm>
            <a:off x="8138160" y="2514600"/>
            <a:ext cx="3337560" cy="3063240"/>
          </a:xfrm>
          <a:prstGeom prst="rect">
            <a:avLst>
              <a:gd name="adj" fmla="val 2388"/>
            </a:avLst>
          </a:prstGeom>
          <a:solidFill>
            <a:srgbClr val="F7F2EA"/>
          </a:solidFill>
          <a:ln/>
        </p:spPr>
      </p:sp>
      <p:sp>
        <p:nvSpPr>
          <p:cNvPr id="15" name="Shape 13"/>
          <p:cNvSpPr/>
          <p:nvPr/>
        </p:nvSpPr>
        <p:spPr>
          <a:xfrm>
            <a:off x="8394192" y="2788920"/>
            <a:ext cx="457200" cy="457200"/>
          </a:xfrm>
          <a:prstGeom prst="ellipse">
            <a:avLst/>
          </a:prstGeom>
          <a:solidFill>
            <a:srgbClr val="0E3A5F"/>
          </a:solidFill>
          <a:ln/>
        </p:spPr>
      </p:sp>
      <p:sp>
        <p:nvSpPr>
          <p:cNvPr id="16" name="Text 14"/>
          <p:cNvSpPr/>
          <p:nvPr/>
        </p:nvSpPr>
        <p:spPr>
          <a:xfrm>
            <a:off x="8394192" y="27889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394192" y="3429000"/>
            <a:ext cx="2825496" cy="640080"/>
          </a:xfrm>
          <a:prstGeom prst="rect">
            <a:avLst/>
          </a:prstGeom>
          <a:noFill/>
          <a:ln/>
        </p:spPr>
        <p:txBody>
          <a:bodyPr wrap="square" rtlCol="0" anchor="ctr"/>
          <a:lstStyle/>
          <a:p>
            <a:pPr indent="0" marL="0">
              <a:lnSpc>
                <a:spcPct val="115000"/>
              </a:lnSpc>
              <a:buNone/>
            </a:pPr>
            <a:r>
              <a:rPr lang="en-US" sz="1500" b="1" dirty="0">
                <a:solidFill>
                  <a:srgbClr val="24303A"/>
                </a:solidFill>
                <a:latin typeface="Cambria" pitchFamily="34" charset="0"/>
                <a:ea typeface="Cambria" pitchFamily="34" charset="-122"/>
                <a:cs typeface="Cambria" pitchFamily="34" charset="-120"/>
              </a:rPr>
              <a:t>Liability shield reversed</a:t>
            </a:r>
            <a:endParaRPr lang="en-US" sz="1500" dirty="0"/>
          </a:p>
        </p:txBody>
      </p:sp>
      <p:sp>
        <p:nvSpPr>
          <p:cNvPr id="18" name="Text 16"/>
          <p:cNvSpPr/>
          <p:nvPr/>
        </p:nvSpPr>
        <p:spPr>
          <a:xfrm>
            <a:off x="8394192" y="4114800"/>
            <a:ext cx="2825496" cy="1371600"/>
          </a:xfrm>
          <a:prstGeom prst="rect">
            <a:avLst/>
          </a:prstGeom>
          <a:noFill/>
          <a:ln/>
        </p:spPr>
        <p:txBody>
          <a:bodyPr wrap="square" rtlCol="0" anchor="ctr"/>
          <a:lstStyle/>
          <a:p>
            <a:pPr indent="0" marL="0">
              <a:lnSpc>
                <a:spcPct val="125000"/>
              </a:lnSpc>
              <a:buNone/>
            </a:pPr>
            <a:r>
              <a:rPr lang="en-US" sz="1100" dirty="0">
                <a:solidFill>
                  <a:srgbClr val="5B6670"/>
                </a:solidFill>
                <a:latin typeface="Calibri" pitchFamily="34" charset="0"/>
                <a:ea typeface="Calibri" pitchFamily="34" charset="-122"/>
                <a:cs typeface="Calibri" pitchFamily="34" charset="-120"/>
              </a:rPr>
              <a:t>An entity formed to protect personal assets now exposes that same asset directly to business creditors — the opposite of what it was built to do.</a:t>
            </a:r>
            <a:endParaRPr lang="en-US" sz="1100" dirty="0"/>
          </a:p>
        </p:txBody>
      </p:sp>
      <p:sp>
        <p:nvSpPr>
          <p:cNvPr id="19" name="Text 17"/>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20" name="Text 18"/>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94360"/>
            <a:ext cx="822960" cy="822960"/>
          </a:xfrm>
          <a:prstGeom prst="ellipse">
            <a:avLst/>
          </a:prstGeom>
          <a:solidFill>
            <a:srgbClr val="C9A97E"/>
          </a:solidFill>
          <a:ln/>
        </p:spPr>
      </p:sp>
      <p:sp>
        <p:nvSpPr>
          <p:cNvPr id="3" name="Text 1"/>
          <p:cNvSpPr/>
          <p:nvPr/>
        </p:nvSpPr>
        <p:spPr>
          <a:xfrm>
            <a:off x="822960" y="594360"/>
            <a:ext cx="822960" cy="822960"/>
          </a:xfrm>
          <a:prstGeom prst="rect">
            <a:avLst/>
          </a:prstGeom>
          <a:noFill/>
          <a:ln/>
        </p:spPr>
        <p:txBody>
          <a:bodyPr wrap="square" rtlCol="0" anchor="ctr"/>
          <a:lstStyle/>
          <a:p>
            <a:pPr algn="ctr" indent="0" marL="0">
              <a:buNone/>
            </a:pPr>
            <a:r>
              <a:rPr lang="en-US" sz="3000" b="1" dirty="0">
                <a:solidFill>
                  <a:srgbClr val="081F33"/>
                </a:solidFill>
                <a:latin typeface="Cambria" pitchFamily="34" charset="0"/>
                <a:ea typeface="Cambria" pitchFamily="34" charset="-122"/>
                <a:cs typeface="Cambria" pitchFamily="34" charset="-120"/>
              </a:rPr>
              <a:t>1</a:t>
            </a:r>
            <a:endParaRPr lang="en-US" sz="3000" dirty="0"/>
          </a:p>
        </p:txBody>
      </p:sp>
      <p:sp>
        <p:nvSpPr>
          <p:cNvPr id="4" name="Text 2"/>
          <p:cNvSpPr/>
          <p:nvPr/>
        </p:nvSpPr>
        <p:spPr>
          <a:xfrm>
            <a:off x="1874520" y="594360"/>
            <a:ext cx="9418320" cy="868680"/>
          </a:xfrm>
          <a:prstGeom prst="rect">
            <a:avLst/>
          </a:prstGeom>
          <a:noFill/>
          <a:ln/>
        </p:spPr>
        <p:txBody>
          <a:bodyPr wrap="square" rtlCol="0" anchor="ctr"/>
          <a:lstStyle/>
          <a:p>
            <a:pPr indent="0" marL="0">
              <a:buNone/>
            </a:pPr>
            <a:r>
              <a:rPr lang="en-US" sz="2400" b="1" dirty="0">
                <a:solidFill>
                  <a:srgbClr val="0E3A5F"/>
                </a:solidFill>
                <a:latin typeface="Cambria" pitchFamily="34" charset="0"/>
                <a:ea typeface="Cambria" pitchFamily="34" charset="-122"/>
                <a:cs typeface="Cambria" pitchFamily="34" charset="-120"/>
              </a:rPr>
              <a:t>No Capital Contribution Recorded</a:t>
            </a:r>
            <a:endParaRPr lang="en-US" sz="2400" dirty="0"/>
          </a:p>
        </p:txBody>
      </p:sp>
      <p:sp>
        <p:nvSpPr>
          <p:cNvPr id="5" name="Shape 3"/>
          <p:cNvSpPr/>
          <p:nvPr/>
        </p:nvSpPr>
        <p:spPr>
          <a:xfrm>
            <a:off x="822960" y="1874520"/>
            <a:ext cx="10515600" cy="0"/>
          </a:xfrm>
          <a:prstGeom prst="line">
            <a:avLst/>
          </a:prstGeom>
          <a:noFill/>
          <a:ln w="12700">
            <a:solidFill>
              <a:srgbClr val="E4DCC9"/>
            </a:solidFill>
            <a:prstDash val="solid"/>
          </a:ln>
        </p:spPr>
      </p:sp>
      <p:sp>
        <p:nvSpPr>
          <p:cNvPr id="6" name="Text 4"/>
          <p:cNvSpPr/>
          <p:nvPr/>
        </p:nvSpPr>
        <p:spPr>
          <a:xfrm>
            <a:off x="822960" y="2039112"/>
            <a:ext cx="2103120" cy="457200"/>
          </a:xfrm>
          <a:prstGeom prst="rect">
            <a:avLst/>
          </a:prstGeom>
          <a:noFill/>
          <a:ln/>
        </p:spPr>
        <p:txBody>
          <a:bodyPr wrap="square" rtlCol="0" anchor="ctr"/>
          <a:lstStyle/>
          <a:p>
            <a:pPr indent="0" marL="0">
              <a:buNone/>
            </a:pPr>
            <a:r>
              <a:rPr lang="en-US" sz="1000" b="1" spc="100" kern="0" dirty="0">
                <a:solidFill>
                  <a:srgbClr val="B8664F"/>
                </a:solidFill>
                <a:latin typeface="Courier New" pitchFamily="34" charset="0"/>
                <a:ea typeface="Courier New" pitchFamily="34" charset="-122"/>
                <a:cs typeface="Courier New" pitchFamily="34" charset="-120"/>
              </a:rPr>
              <a:t>THE MISTAKE</a:t>
            </a:r>
            <a:endParaRPr lang="en-US" sz="1000" dirty="0"/>
          </a:p>
        </p:txBody>
      </p:sp>
      <p:sp>
        <p:nvSpPr>
          <p:cNvPr id="7" name="Text 5"/>
          <p:cNvSpPr/>
          <p:nvPr/>
        </p:nvSpPr>
        <p:spPr>
          <a:xfrm>
            <a:off x="3246120" y="20116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property shows up as a business asset, but nothing on the other side of the entry — no equity contribution, no loan, no consideration of any kind.</a:t>
            </a:r>
            <a:endParaRPr lang="en-US" sz="1300" dirty="0"/>
          </a:p>
        </p:txBody>
      </p:sp>
      <p:sp>
        <p:nvSpPr>
          <p:cNvPr id="8" name="Shape 6"/>
          <p:cNvSpPr/>
          <p:nvPr/>
        </p:nvSpPr>
        <p:spPr>
          <a:xfrm>
            <a:off x="822960" y="3246120"/>
            <a:ext cx="10515600" cy="0"/>
          </a:xfrm>
          <a:prstGeom prst="line">
            <a:avLst/>
          </a:prstGeom>
          <a:noFill/>
          <a:ln w="12700">
            <a:solidFill>
              <a:srgbClr val="E4DCC9"/>
            </a:solidFill>
            <a:prstDash val="solid"/>
          </a:ln>
        </p:spPr>
      </p:sp>
      <p:sp>
        <p:nvSpPr>
          <p:cNvPr id="9" name="Text 7"/>
          <p:cNvSpPr/>
          <p:nvPr/>
        </p:nvSpPr>
        <p:spPr>
          <a:xfrm>
            <a:off x="822960" y="3410712"/>
            <a:ext cx="2103120" cy="457200"/>
          </a:xfrm>
          <a:prstGeom prst="rect">
            <a:avLst/>
          </a:prstGeom>
          <a:noFill/>
          <a:ln/>
        </p:spPr>
        <p:txBody>
          <a:bodyPr wrap="square" rtlCol="0" anchor="ctr"/>
          <a:lstStyle/>
          <a:p>
            <a:pPr indent="0" marL="0">
              <a:buNone/>
            </a:pPr>
            <a:r>
              <a:rPr lang="en-US" sz="1000" b="1" spc="100" kern="0" dirty="0">
                <a:solidFill>
                  <a:srgbClr val="8C7A54"/>
                </a:solidFill>
                <a:latin typeface="Courier New" pitchFamily="34" charset="0"/>
                <a:ea typeface="Courier New" pitchFamily="34" charset="-122"/>
                <a:cs typeface="Courier New" pitchFamily="34" charset="-120"/>
              </a:rPr>
              <a:t>WHY IT HAPPENS</a:t>
            </a:r>
            <a:endParaRPr lang="en-US" sz="1000" dirty="0"/>
          </a:p>
        </p:txBody>
      </p:sp>
      <p:sp>
        <p:nvSpPr>
          <p:cNvPr id="10" name="Text 8"/>
          <p:cNvSpPr/>
          <p:nvPr/>
        </p:nvSpPr>
        <p:spPr>
          <a:xfrm>
            <a:off x="3246120" y="33832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It's the owner's house and the owner's business, so the transfer feels like moving money between two pockets of the same coat.</a:t>
            </a:r>
            <a:endParaRPr lang="en-US" sz="1300" dirty="0"/>
          </a:p>
        </p:txBody>
      </p:sp>
      <p:sp>
        <p:nvSpPr>
          <p:cNvPr id="11" name="Shape 9"/>
          <p:cNvSpPr/>
          <p:nvPr/>
        </p:nvSpPr>
        <p:spPr>
          <a:xfrm>
            <a:off x="822960" y="4617720"/>
            <a:ext cx="10515600" cy="0"/>
          </a:xfrm>
          <a:prstGeom prst="line">
            <a:avLst/>
          </a:prstGeom>
          <a:noFill/>
          <a:ln w="12700">
            <a:solidFill>
              <a:srgbClr val="E4DCC9"/>
            </a:solidFill>
            <a:prstDash val="solid"/>
          </a:ln>
        </p:spPr>
      </p:sp>
      <p:sp>
        <p:nvSpPr>
          <p:cNvPr id="12" name="Text 10"/>
          <p:cNvSpPr/>
          <p:nvPr/>
        </p:nvSpPr>
        <p:spPr>
          <a:xfrm>
            <a:off x="822960" y="4782312"/>
            <a:ext cx="2103120" cy="457200"/>
          </a:xfrm>
          <a:prstGeom prst="rect">
            <a:avLst/>
          </a:prstGeom>
          <a:noFill/>
          <a:ln/>
        </p:spPr>
        <p:txBody>
          <a:bodyPr wrap="square" rtlCol="0" anchor="ctr"/>
          <a:lstStyle/>
          <a:p>
            <a:pPr indent="0" marL="0">
              <a:buNone/>
            </a:pPr>
            <a:r>
              <a:rPr lang="en-US" sz="1000" b="1" spc="100" kern="0" dirty="0">
                <a:solidFill>
                  <a:srgbClr val="0E3A5F"/>
                </a:solidFill>
                <a:latin typeface="Courier New" pitchFamily="34" charset="0"/>
                <a:ea typeface="Courier New" pitchFamily="34" charset="-122"/>
                <a:cs typeface="Courier New" pitchFamily="34" charset="-120"/>
              </a:rPr>
              <a:t>WHAT IT COSTS YOU</a:t>
            </a:r>
            <a:endParaRPr lang="en-US" sz="1000" dirty="0"/>
          </a:p>
        </p:txBody>
      </p:sp>
      <p:sp>
        <p:nvSpPr>
          <p:cNvPr id="13" name="Text 11"/>
          <p:cNvSpPr/>
          <p:nvPr/>
        </p:nvSpPr>
        <p:spPr>
          <a:xfrm>
            <a:off x="3246120" y="47548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Without an offsetting entry, there's no legitimate basis for the asset at all — everything built on top of it, including depreciation, stands on nothing.</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94360"/>
            <a:ext cx="822960" cy="822960"/>
          </a:xfrm>
          <a:prstGeom prst="ellipse">
            <a:avLst/>
          </a:prstGeom>
          <a:solidFill>
            <a:srgbClr val="C9A97E"/>
          </a:solidFill>
          <a:ln/>
        </p:spPr>
      </p:sp>
      <p:sp>
        <p:nvSpPr>
          <p:cNvPr id="3" name="Text 1"/>
          <p:cNvSpPr/>
          <p:nvPr/>
        </p:nvSpPr>
        <p:spPr>
          <a:xfrm>
            <a:off x="822960" y="594360"/>
            <a:ext cx="822960" cy="822960"/>
          </a:xfrm>
          <a:prstGeom prst="rect">
            <a:avLst/>
          </a:prstGeom>
          <a:noFill/>
          <a:ln/>
        </p:spPr>
        <p:txBody>
          <a:bodyPr wrap="square" rtlCol="0" anchor="ctr"/>
          <a:lstStyle/>
          <a:p>
            <a:pPr algn="ctr" indent="0" marL="0">
              <a:buNone/>
            </a:pPr>
            <a:r>
              <a:rPr lang="en-US" sz="3000" b="1" dirty="0">
                <a:solidFill>
                  <a:srgbClr val="081F33"/>
                </a:solidFill>
                <a:latin typeface="Cambria" pitchFamily="34" charset="0"/>
                <a:ea typeface="Cambria" pitchFamily="34" charset="-122"/>
                <a:cs typeface="Cambria" pitchFamily="34" charset="-120"/>
              </a:rPr>
              <a:t>2</a:t>
            </a:r>
            <a:endParaRPr lang="en-US" sz="3000" dirty="0"/>
          </a:p>
        </p:txBody>
      </p:sp>
      <p:sp>
        <p:nvSpPr>
          <p:cNvPr id="4" name="Text 2"/>
          <p:cNvSpPr/>
          <p:nvPr/>
        </p:nvSpPr>
        <p:spPr>
          <a:xfrm>
            <a:off x="1874520" y="594360"/>
            <a:ext cx="9418320" cy="868680"/>
          </a:xfrm>
          <a:prstGeom prst="rect">
            <a:avLst/>
          </a:prstGeom>
          <a:noFill/>
          <a:ln/>
        </p:spPr>
        <p:txBody>
          <a:bodyPr wrap="square" rtlCol="0" anchor="ctr"/>
          <a:lstStyle/>
          <a:p>
            <a:pPr indent="0" marL="0">
              <a:buNone/>
            </a:pPr>
            <a:r>
              <a:rPr lang="en-US" sz="2400" b="1" dirty="0">
                <a:solidFill>
                  <a:srgbClr val="0E3A5F"/>
                </a:solidFill>
                <a:latin typeface="Cambria" pitchFamily="34" charset="0"/>
                <a:ea typeface="Cambria" pitchFamily="34" charset="-122"/>
                <a:cs typeface="Cambria" pitchFamily="34" charset="-120"/>
              </a:rPr>
              <a:t>Ignoring the Due-on-Sale Clause</a:t>
            </a:r>
            <a:endParaRPr lang="en-US" sz="2400" dirty="0"/>
          </a:p>
        </p:txBody>
      </p:sp>
      <p:sp>
        <p:nvSpPr>
          <p:cNvPr id="5" name="Shape 3"/>
          <p:cNvSpPr/>
          <p:nvPr/>
        </p:nvSpPr>
        <p:spPr>
          <a:xfrm>
            <a:off x="822960" y="1874520"/>
            <a:ext cx="10515600" cy="0"/>
          </a:xfrm>
          <a:prstGeom prst="line">
            <a:avLst/>
          </a:prstGeom>
          <a:noFill/>
          <a:ln w="12700">
            <a:solidFill>
              <a:srgbClr val="E4DCC9"/>
            </a:solidFill>
            <a:prstDash val="solid"/>
          </a:ln>
        </p:spPr>
      </p:sp>
      <p:sp>
        <p:nvSpPr>
          <p:cNvPr id="6" name="Text 4"/>
          <p:cNvSpPr/>
          <p:nvPr/>
        </p:nvSpPr>
        <p:spPr>
          <a:xfrm>
            <a:off x="822960" y="2039112"/>
            <a:ext cx="2103120" cy="457200"/>
          </a:xfrm>
          <a:prstGeom prst="rect">
            <a:avLst/>
          </a:prstGeom>
          <a:noFill/>
          <a:ln/>
        </p:spPr>
        <p:txBody>
          <a:bodyPr wrap="square" rtlCol="0" anchor="ctr"/>
          <a:lstStyle/>
          <a:p>
            <a:pPr indent="0" marL="0">
              <a:buNone/>
            </a:pPr>
            <a:r>
              <a:rPr lang="en-US" sz="1000" b="1" spc="100" kern="0" dirty="0">
                <a:solidFill>
                  <a:srgbClr val="B8664F"/>
                </a:solidFill>
                <a:latin typeface="Courier New" pitchFamily="34" charset="0"/>
                <a:ea typeface="Courier New" pitchFamily="34" charset="-122"/>
                <a:cs typeface="Courier New" pitchFamily="34" charset="-120"/>
              </a:rPr>
              <a:t>THE MISTAKE</a:t>
            </a:r>
            <a:endParaRPr lang="en-US" sz="1000" dirty="0"/>
          </a:p>
        </p:txBody>
      </p:sp>
      <p:sp>
        <p:nvSpPr>
          <p:cNvPr id="7" name="Text 5"/>
          <p:cNvSpPr/>
          <p:nvPr/>
        </p:nvSpPr>
        <p:spPr>
          <a:xfrm>
            <a:off x="3246120" y="20116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mortgage moves onto the business books along with the property, with no call to the lender and no consent obtained.</a:t>
            </a:r>
            <a:endParaRPr lang="en-US" sz="1300" dirty="0"/>
          </a:p>
        </p:txBody>
      </p:sp>
      <p:sp>
        <p:nvSpPr>
          <p:cNvPr id="8" name="Shape 6"/>
          <p:cNvSpPr/>
          <p:nvPr/>
        </p:nvSpPr>
        <p:spPr>
          <a:xfrm>
            <a:off x="822960" y="3246120"/>
            <a:ext cx="10515600" cy="0"/>
          </a:xfrm>
          <a:prstGeom prst="line">
            <a:avLst/>
          </a:prstGeom>
          <a:noFill/>
          <a:ln w="12700">
            <a:solidFill>
              <a:srgbClr val="E4DCC9"/>
            </a:solidFill>
            <a:prstDash val="solid"/>
          </a:ln>
        </p:spPr>
      </p:sp>
      <p:sp>
        <p:nvSpPr>
          <p:cNvPr id="9" name="Text 7"/>
          <p:cNvSpPr/>
          <p:nvPr/>
        </p:nvSpPr>
        <p:spPr>
          <a:xfrm>
            <a:off x="822960" y="3410712"/>
            <a:ext cx="2103120" cy="457200"/>
          </a:xfrm>
          <a:prstGeom prst="rect">
            <a:avLst/>
          </a:prstGeom>
          <a:noFill/>
          <a:ln/>
        </p:spPr>
        <p:txBody>
          <a:bodyPr wrap="square" rtlCol="0" anchor="ctr"/>
          <a:lstStyle/>
          <a:p>
            <a:pPr indent="0" marL="0">
              <a:buNone/>
            </a:pPr>
            <a:r>
              <a:rPr lang="en-US" sz="1000" b="1" spc="100" kern="0" dirty="0">
                <a:solidFill>
                  <a:srgbClr val="8C7A54"/>
                </a:solidFill>
                <a:latin typeface="Courier New" pitchFamily="34" charset="0"/>
                <a:ea typeface="Courier New" pitchFamily="34" charset="-122"/>
                <a:cs typeface="Courier New" pitchFamily="34" charset="-120"/>
              </a:rPr>
              <a:t>WHY IT HAPPENS</a:t>
            </a:r>
            <a:endParaRPr lang="en-US" sz="1000" dirty="0"/>
          </a:p>
        </p:txBody>
      </p:sp>
      <p:sp>
        <p:nvSpPr>
          <p:cNvPr id="10" name="Text 8"/>
          <p:cNvSpPr/>
          <p:nvPr/>
        </p:nvSpPr>
        <p:spPr>
          <a:xfrm>
            <a:off x="3246120" y="33832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loan and the house feel like a package deal — nobody thinks to check whether the lender has a say in it.</a:t>
            </a:r>
            <a:endParaRPr lang="en-US" sz="1300" dirty="0"/>
          </a:p>
        </p:txBody>
      </p:sp>
      <p:sp>
        <p:nvSpPr>
          <p:cNvPr id="11" name="Shape 9"/>
          <p:cNvSpPr/>
          <p:nvPr/>
        </p:nvSpPr>
        <p:spPr>
          <a:xfrm>
            <a:off x="822960" y="4617720"/>
            <a:ext cx="10515600" cy="0"/>
          </a:xfrm>
          <a:prstGeom prst="line">
            <a:avLst/>
          </a:prstGeom>
          <a:noFill/>
          <a:ln w="12700">
            <a:solidFill>
              <a:srgbClr val="E4DCC9"/>
            </a:solidFill>
            <a:prstDash val="solid"/>
          </a:ln>
        </p:spPr>
      </p:sp>
      <p:sp>
        <p:nvSpPr>
          <p:cNvPr id="12" name="Text 10"/>
          <p:cNvSpPr/>
          <p:nvPr/>
        </p:nvSpPr>
        <p:spPr>
          <a:xfrm>
            <a:off x="822960" y="4782312"/>
            <a:ext cx="2103120" cy="457200"/>
          </a:xfrm>
          <a:prstGeom prst="rect">
            <a:avLst/>
          </a:prstGeom>
          <a:noFill/>
          <a:ln/>
        </p:spPr>
        <p:txBody>
          <a:bodyPr wrap="square" rtlCol="0" anchor="ctr"/>
          <a:lstStyle/>
          <a:p>
            <a:pPr indent="0" marL="0">
              <a:buNone/>
            </a:pPr>
            <a:r>
              <a:rPr lang="en-US" sz="1000" b="1" spc="100" kern="0" dirty="0">
                <a:solidFill>
                  <a:srgbClr val="0E3A5F"/>
                </a:solidFill>
                <a:latin typeface="Courier New" pitchFamily="34" charset="0"/>
                <a:ea typeface="Courier New" pitchFamily="34" charset="-122"/>
                <a:cs typeface="Courier New" pitchFamily="34" charset="-120"/>
              </a:rPr>
              <a:t>WHAT IT COSTS YOU</a:t>
            </a:r>
            <a:endParaRPr lang="en-US" sz="1000" dirty="0"/>
          </a:p>
        </p:txBody>
      </p:sp>
      <p:sp>
        <p:nvSpPr>
          <p:cNvPr id="13" name="Text 11"/>
          <p:cNvSpPr/>
          <p:nvPr/>
        </p:nvSpPr>
        <p:spPr>
          <a:xfrm>
            <a:off x="3246120" y="47548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Most residential mortgages can be called due in full the moment title changes without consent — a technicality that only matters until the lender notices.</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94360"/>
            <a:ext cx="822960" cy="822960"/>
          </a:xfrm>
          <a:prstGeom prst="ellipse">
            <a:avLst/>
          </a:prstGeom>
          <a:solidFill>
            <a:srgbClr val="C9A97E"/>
          </a:solidFill>
          <a:ln/>
        </p:spPr>
      </p:sp>
      <p:sp>
        <p:nvSpPr>
          <p:cNvPr id="3" name="Text 1"/>
          <p:cNvSpPr/>
          <p:nvPr/>
        </p:nvSpPr>
        <p:spPr>
          <a:xfrm>
            <a:off x="822960" y="594360"/>
            <a:ext cx="822960" cy="822960"/>
          </a:xfrm>
          <a:prstGeom prst="rect">
            <a:avLst/>
          </a:prstGeom>
          <a:noFill/>
          <a:ln/>
        </p:spPr>
        <p:txBody>
          <a:bodyPr wrap="square" rtlCol="0" anchor="ctr"/>
          <a:lstStyle/>
          <a:p>
            <a:pPr algn="ctr" indent="0" marL="0">
              <a:buNone/>
            </a:pPr>
            <a:r>
              <a:rPr lang="en-US" sz="3000" b="1" dirty="0">
                <a:solidFill>
                  <a:srgbClr val="081F33"/>
                </a:solidFill>
                <a:latin typeface="Cambria" pitchFamily="34" charset="0"/>
                <a:ea typeface="Cambria" pitchFamily="34" charset="-122"/>
                <a:cs typeface="Cambria" pitchFamily="34" charset="-120"/>
              </a:rPr>
              <a:t>3</a:t>
            </a:r>
            <a:endParaRPr lang="en-US" sz="3000" dirty="0"/>
          </a:p>
        </p:txBody>
      </p:sp>
      <p:sp>
        <p:nvSpPr>
          <p:cNvPr id="4" name="Text 2"/>
          <p:cNvSpPr/>
          <p:nvPr/>
        </p:nvSpPr>
        <p:spPr>
          <a:xfrm>
            <a:off x="1874520" y="594360"/>
            <a:ext cx="9418320" cy="868680"/>
          </a:xfrm>
          <a:prstGeom prst="rect">
            <a:avLst/>
          </a:prstGeom>
          <a:noFill/>
          <a:ln/>
        </p:spPr>
        <p:txBody>
          <a:bodyPr wrap="square" rtlCol="0" anchor="ctr"/>
          <a:lstStyle/>
          <a:p>
            <a:pPr indent="0" marL="0">
              <a:buNone/>
            </a:pPr>
            <a:r>
              <a:rPr lang="en-US" sz="2400" b="1" dirty="0">
                <a:solidFill>
                  <a:srgbClr val="0E3A5F"/>
                </a:solidFill>
                <a:latin typeface="Cambria" pitchFamily="34" charset="0"/>
                <a:ea typeface="Cambria" pitchFamily="34" charset="-122"/>
                <a:cs typeface="Cambria" pitchFamily="34" charset="-120"/>
              </a:rPr>
              <a:t>Treating Mortgage Payments as a Business Expense</a:t>
            </a:r>
            <a:endParaRPr lang="en-US" sz="2400" dirty="0"/>
          </a:p>
        </p:txBody>
      </p:sp>
      <p:sp>
        <p:nvSpPr>
          <p:cNvPr id="5" name="Shape 3"/>
          <p:cNvSpPr/>
          <p:nvPr/>
        </p:nvSpPr>
        <p:spPr>
          <a:xfrm>
            <a:off x="822960" y="1874520"/>
            <a:ext cx="10515600" cy="0"/>
          </a:xfrm>
          <a:prstGeom prst="line">
            <a:avLst/>
          </a:prstGeom>
          <a:noFill/>
          <a:ln w="12700">
            <a:solidFill>
              <a:srgbClr val="E4DCC9"/>
            </a:solidFill>
            <a:prstDash val="solid"/>
          </a:ln>
        </p:spPr>
      </p:sp>
      <p:sp>
        <p:nvSpPr>
          <p:cNvPr id="6" name="Text 4"/>
          <p:cNvSpPr/>
          <p:nvPr/>
        </p:nvSpPr>
        <p:spPr>
          <a:xfrm>
            <a:off x="822960" y="2039112"/>
            <a:ext cx="2103120" cy="457200"/>
          </a:xfrm>
          <a:prstGeom prst="rect">
            <a:avLst/>
          </a:prstGeom>
          <a:noFill/>
          <a:ln/>
        </p:spPr>
        <p:txBody>
          <a:bodyPr wrap="square" rtlCol="0" anchor="ctr"/>
          <a:lstStyle/>
          <a:p>
            <a:pPr indent="0" marL="0">
              <a:buNone/>
            </a:pPr>
            <a:r>
              <a:rPr lang="en-US" sz="1000" b="1" spc="100" kern="0" dirty="0">
                <a:solidFill>
                  <a:srgbClr val="B8664F"/>
                </a:solidFill>
                <a:latin typeface="Courier New" pitchFamily="34" charset="0"/>
                <a:ea typeface="Courier New" pitchFamily="34" charset="-122"/>
                <a:cs typeface="Courier New" pitchFamily="34" charset="-120"/>
              </a:rPr>
              <a:t>THE MISTAKE</a:t>
            </a:r>
            <a:endParaRPr lang="en-US" sz="1000" dirty="0"/>
          </a:p>
        </p:txBody>
      </p:sp>
      <p:sp>
        <p:nvSpPr>
          <p:cNvPr id="7" name="Text 5"/>
          <p:cNvSpPr/>
          <p:nvPr/>
        </p:nvSpPr>
        <p:spPr>
          <a:xfrm>
            <a:off x="3246120" y="20116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Monthly mortgage payments get booked as rent, occupancy cost, or a straightforward business expense, because the payment comes out of the business account.</a:t>
            </a:r>
            <a:endParaRPr lang="en-US" sz="1300" dirty="0"/>
          </a:p>
        </p:txBody>
      </p:sp>
      <p:sp>
        <p:nvSpPr>
          <p:cNvPr id="8" name="Shape 6"/>
          <p:cNvSpPr/>
          <p:nvPr/>
        </p:nvSpPr>
        <p:spPr>
          <a:xfrm>
            <a:off x="822960" y="3246120"/>
            <a:ext cx="10515600" cy="0"/>
          </a:xfrm>
          <a:prstGeom prst="line">
            <a:avLst/>
          </a:prstGeom>
          <a:noFill/>
          <a:ln w="12700">
            <a:solidFill>
              <a:srgbClr val="E4DCC9"/>
            </a:solidFill>
            <a:prstDash val="solid"/>
          </a:ln>
        </p:spPr>
      </p:sp>
      <p:sp>
        <p:nvSpPr>
          <p:cNvPr id="9" name="Text 7"/>
          <p:cNvSpPr/>
          <p:nvPr/>
        </p:nvSpPr>
        <p:spPr>
          <a:xfrm>
            <a:off x="822960" y="3410712"/>
            <a:ext cx="2103120" cy="457200"/>
          </a:xfrm>
          <a:prstGeom prst="rect">
            <a:avLst/>
          </a:prstGeom>
          <a:noFill/>
          <a:ln/>
        </p:spPr>
        <p:txBody>
          <a:bodyPr wrap="square" rtlCol="0" anchor="ctr"/>
          <a:lstStyle/>
          <a:p>
            <a:pPr indent="0" marL="0">
              <a:buNone/>
            </a:pPr>
            <a:r>
              <a:rPr lang="en-US" sz="1000" b="1" spc="100" kern="0" dirty="0">
                <a:solidFill>
                  <a:srgbClr val="8C7A54"/>
                </a:solidFill>
                <a:latin typeface="Courier New" pitchFamily="34" charset="0"/>
                <a:ea typeface="Courier New" pitchFamily="34" charset="-122"/>
                <a:cs typeface="Courier New" pitchFamily="34" charset="-120"/>
              </a:rPr>
              <a:t>WHY IT HAPPENS</a:t>
            </a:r>
            <a:endParaRPr lang="en-US" sz="1000" dirty="0"/>
          </a:p>
        </p:txBody>
      </p:sp>
      <p:sp>
        <p:nvSpPr>
          <p:cNvPr id="10" name="Text 8"/>
          <p:cNvSpPr/>
          <p:nvPr/>
        </p:nvSpPr>
        <p:spPr>
          <a:xfrm>
            <a:off x="3246120" y="33832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payment comes out of the business account, so it gets categorized like any other outgoing bill.</a:t>
            </a:r>
            <a:endParaRPr lang="en-US" sz="1300" dirty="0"/>
          </a:p>
        </p:txBody>
      </p:sp>
      <p:sp>
        <p:nvSpPr>
          <p:cNvPr id="11" name="Shape 9"/>
          <p:cNvSpPr/>
          <p:nvPr/>
        </p:nvSpPr>
        <p:spPr>
          <a:xfrm>
            <a:off x="822960" y="4617720"/>
            <a:ext cx="10515600" cy="0"/>
          </a:xfrm>
          <a:prstGeom prst="line">
            <a:avLst/>
          </a:prstGeom>
          <a:noFill/>
          <a:ln w="12700">
            <a:solidFill>
              <a:srgbClr val="E4DCC9"/>
            </a:solidFill>
            <a:prstDash val="solid"/>
          </a:ln>
        </p:spPr>
      </p:sp>
      <p:sp>
        <p:nvSpPr>
          <p:cNvPr id="12" name="Text 10"/>
          <p:cNvSpPr/>
          <p:nvPr/>
        </p:nvSpPr>
        <p:spPr>
          <a:xfrm>
            <a:off x="822960" y="4782312"/>
            <a:ext cx="2103120" cy="457200"/>
          </a:xfrm>
          <a:prstGeom prst="rect">
            <a:avLst/>
          </a:prstGeom>
          <a:noFill/>
          <a:ln/>
        </p:spPr>
        <p:txBody>
          <a:bodyPr wrap="square" rtlCol="0" anchor="ctr"/>
          <a:lstStyle/>
          <a:p>
            <a:pPr indent="0" marL="0">
              <a:buNone/>
            </a:pPr>
            <a:r>
              <a:rPr lang="en-US" sz="1000" b="1" spc="100" kern="0" dirty="0">
                <a:solidFill>
                  <a:srgbClr val="0E3A5F"/>
                </a:solidFill>
                <a:latin typeface="Courier New" pitchFamily="34" charset="0"/>
                <a:ea typeface="Courier New" pitchFamily="34" charset="-122"/>
                <a:cs typeface="Courier New" pitchFamily="34" charset="-120"/>
              </a:rPr>
              <a:t>WHAT IT COSTS YOU</a:t>
            </a:r>
            <a:endParaRPr lang="en-US" sz="1000" dirty="0"/>
          </a:p>
        </p:txBody>
      </p:sp>
      <p:sp>
        <p:nvSpPr>
          <p:cNvPr id="13" name="Text 11"/>
          <p:cNvSpPr/>
          <p:nvPr/>
        </p:nvSpPr>
        <p:spPr>
          <a:xfrm>
            <a:off x="3246120" y="47548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A personal mortgage paid by the business is a distribution or compensation, not a deduction — booking it as an expense overstates costs and understates what the owner actually took out.</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94360"/>
            <a:ext cx="822960" cy="822960"/>
          </a:xfrm>
          <a:prstGeom prst="ellipse">
            <a:avLst/>
          </a:prstGeom>
          <a:solidFill>
            <a:srgbClr val="C9A97E"/>
          </a:solidFill>
          <a:ln/>
        </p:spPr>
      </p:sp>
      <p:sp>
        <p:nvSpPr>
          <p:cNvPr id="3" name="Text 1"/>
          <p:cNvSpPr/>
          <p:nvPr/>
        </p:nvSpPr>
        <p:spPr>
          <a:xfrm>
            <a:off x="822960" y="594360"/>
            <a:ext cx="822960" cy="822960"/>
          </a:xfrm>
          <a:prstGeom prst="rect">
            <a:avLst/>
          </a:prstGeom>
          <a:noFill/>
          <a:ln/>
        </p:spPr>
        <p:txBody>
          <a:bodyPr wrap="square" rtlCol="0" anchor="ctr"/>
          <a:lstStyle/>
          <a:p>
            <a:pPr algn="ctr" indent="0" marL="0">
              <a:buNone/>
            </a:pPr>
            <a:r>
              <a:rPr lang="en-US" sz="3000" b="1" dirty="0">
                <a:solidFill>
                  <a:srgbClr val="081F33"/>
                </a:solidFill>
                <a:latin typeface="Cambria" pitchFamily="34" charset="0"/>
                <a:ea typeface="Cambria" pitchFamily="34" charset="-122"/>
                <a:cs typeface="Cambria" pitchFamily="34" charset="-120"/>
              </a:rPr>
              <a:t>4</a:t>
            </a:r>
            <a:endParaRPr lang="en-US" sz="3000" dirty="0"/>
          </a:p>
        </p:txBody>
      </p:sp>
      <p:sp>
        <p:nvSpPr>
          <p:cNvPr id="4" name="Text 2"/>
          <p:cNvSpPr/>
          <p:nvPr/>
        </p:nvSpPr>
        <p:spPr>
          <a:xfrm>
            <a:off x="1874520" y="594360"/>
            <a:ext cx="9418320" cy="868680"/>
          </a:xfrm>
          <a:prstGeom prst="rect">
            <a:avLst/>
          </a:prstGeom>
          <a:noFill/>
          <a:ln/>
        </p:spPr>
        <p:txBody>
          <a:bodyPr wrap="square" rtlCol="0" anchor="ctr"/>
          <a:lstStyle/>
          <a:p>
            <a:pPr indent="0" marL="0">
              <a:buNone/>
            </a:pPr>
            <a:r>
              <a:rPr lang="en-US" sz="2400" b="1" dirty="0">
                <a:solidFill>
                  <a:srgbClr val="0E3A5F"/>
                </a:solidFill>
                <a:latin typeface="Cambria" pitchFamily="34" charset="0"/>
                <a:ea typeface="Cambria" pitchFamily="34" charset="-122"/>
                <a:cs typeface="Cambria" pitchFamily="34" charset="-120"/>
              </a:rPr>
              <a:t>No Basis or Depreciation Tracking</a:t>
            </a:r>
            <a:endParaRPr lang="en-US" sz="2400" dirty="0"/>
          </a:p>
        </p:txBody>
      </p:sp>
      <p:sp>
        <p:nvSpPr>
          <p:cNvPr id="5" name="Shape 3"/>
          <p:cNvSpPr/>
          <p:nvPr/>
        </p:nvSpPr>
        <p:spPr>
          <a:xfrm>
            <a:off x="822960" y="1874520"/>
            <a:ext cx="10515600" cy="0"/>
          </a:xfrm>
          <a:prstGeom prst="line">
            <a:avLst/>
          </a:prstGeom>
          <a:noFill/>
          <a:ln w="12700">
            <a:solidFill>
              <a:srgbClr val="E4DCC9"/>
            </a:solidFill>
            <a:prstDash val="solid"/>
          </a:ln>
        </p:spPr>
      </p:sp>
      <p:sp>
        <p:nvSpPr>
          <p:cNvPr id="6" name="Text 4"/>
          <p:cNvSpPr/>
          <p:nvPr/>
        </p:nvSpPr>
        <p:spPr>
          <a:xfrm>
            <a:off x="822960" y="2039112"/>
            <a:ext cx="2103120" cy="457200"/>
          </a:xfrm>
          <a:prstGeom prst="rect">
            <a:avLst/>
          </a:prstGeom>
          <a:noFill/>
          <a:ln/>
        </p:spPr>
        <p:txBody>
          <a:bodyPr wrap="square" rtlCol="0" anchor="ctr"/>
          <a:lstStyle/>
          <a:p>
            <a:pPr indent="0" marL="0">
              <a:buNone/>
            </a:pPr>
            <a:r>
              <a:rPr lang="en-US" sz="1000" b="1" spc="100" kern="0" dirty="0">
                <a:solidFill>
                  <a:srgbClr val="B8664F"/>
                </a:solidFill>
                <a:latin typeface="Courier New" pitchFamily="34" charset="0"/>
                <a:ea typeface="Courier New" pitchFamily="34" charset="-122"/>
                <a:cs typeface="Courier New" pitchFamily="34" charset="-120"/>
              </a:rPr>
              <a:t>THE MISTAKE</a:t>
            </a:r>
            <a:endParaRPr lang="en-US" sz="1000" dirty="0"/>
          </a:p>
        </p:txBody>
      </p:sp>
      <p:sp>
        <p:nvSpPr>
          <p:cNvPr id="7" name="Text 5"/>
          <p:cNvSpPr/>
          <p:nvPr/>
        </p:nvSpPr>
        <p:spPr>
          <a:xfrm>
            <a:off x="3246120" y="20116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business starts depreciating the property as a fixed asset, using whatever number was on hand at the time.</a:t>
            </a:r>
            <a:endParaRPr lang="en-US" sz="1300" dirty="0"/>
          </a:p>
        </p:txBody>
      </p:sp>
      <p:sp>
        <p:nvSpPr>
          <p:cNvPr id="8" name="Shape 6"/>
          <p:cNvSpPr/>
          <p:nvPr/>
        </p:nvSpPr>
        <p:spPr>
          <a:xfrm>
            <a:off x="822960" y="3246120"/>
            <a:ext cx="10515600" cy="0"/>
          </a:xfrm>
          <a:prstGeom prst="line">
            <a:avLst/>
          </a:prstGeom>
          <a:noFill/>
          <a:ln w="12700">
            <a:solidFill>
              <a:srgbClr val="E4DCC9"/>
            </a:solidFill>
            <a:prstDash val="solid"/>
          </a:ln>
        </p:spPr>
      </p:sp>
      <p:sp>
        <p:nvSpPr>
          <p:cNvPr id="9" name="Text 7"/>
          <p:cNvSpPr/>
          <p:nvPr/>
        </p:nvSpPr>
        <p:spPr>
          <a:xfrm>
            <a:off x="822960" y="3410712"/>
            <a:ext cx="2103120" cy="457200"/>
          </a:xfrm>
          <a:prstGeom prst="rect">
            <a:avLst/>
          </a:prstGeom>
          <a:noFill/>
          <a:ln/>
        </p:spPr>
        <p:txBody>
          <a:bodyPr wrap="square" rtlCol="0" anchor="ctr"/>
          <a:lstStyle/>
          <a:p>
            <a:pPr indent="0" marL="0">
              <a:buNone/>
            </a:pPr>
            <a:r>
              <a:rPr lang="en-US" sz="1000" b="1" spc="100" kern="0" dirty="0">
                <a:solidFill>
                  <a:srgbClr val="8C7A54"/>
                </a:solidFill>
                <a:latin typeface="Courier New" pitchFamily="34" charset="0"/>
                <a:ea typeface="Courier New" pitchFamily="34" charset="-122"/>
                <a:cs typeface="Courier New" pitchFamily="34" charset="-120"/>
              </a:rPr>
              <a:t>WHY IT HAPPENS</a:t>
            </a:r>
            <a:endParaRPr lang="en-US" sz="1000" dirty="0"/>
          </a:p>
        </p:txBody>
      </p:sp>
      <p:sp>
        <p:nvSpPr>
          <p:cNvPr id="10" name="Text 8"/>
          <p:cNvSpPr/>
          <p:nvPr/>
        </p:nvSpPr>
        <p:spPr>
          <a:xfrm>
            <a:off x="3246120" y="33832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Depreciation feels like a standard step for any asset on the books, regardless of how it got there.</a:t>
            </a:r>
            <a:endParaRPr lang="en-US" sz="1300" dirty="0"/>
          </a:p>
        </p:txBody>
      </p:sp>
      <p:sp>
        <p:nvSpPr>
          <p:cNvPr id="11" name="Shape 9"/>
          <p:cNvSpPr/>
          <p:nvPr/>
        </p:nvSpPr>
        <p:spPr>
          <a:xfrm>
            <a:off x="822960" y="4617720"/>
            <a:ext cx="10515600" cy="0"/>
          </a:xfrm>
          <a:prstGeom prst="line">
            <a:avLst/>
          </a:prstGeom>
          <a:noFill/>
          <a:ln w="12700">
            <a:solidFill>
              <a:srgbClr val="E4DCC9"/>
            </a:solidFill>
            <a:prstDash val="solid"/>
          </a:ln>
        </p:spPr>
      </p:sp>
      <p:sp>
        <p:nvSpPr>
          <p:cNvPr id="12" name="Text 10"/>
          <p:cNvSpPr/>
          <p:nvPr/>
        </p:nvSpPr>
        <p:spPr>
          <a:xfrm>
            <a:off x="822960" y="4782312"/>
            <a:ext cx="2103120" cy="457200"/>
          </a:xfrm>
          <a:prstGeom prst="rect">
            <a:avLst/>
          </a:prstGeom>
          <a:noFill/>
          <a:ln/>
        </p:spPr>
        <p:txBody>
          <a:bodyPr wrap="square" rtlCol="0" anchor="ctr"/>
          <a:lstStyle/>
          <a:p>
            <a:pPr indent="0" marL="0">
              <a:buNone/>
            </a:pPr>
            <a:r>
              <a:rPr lang="en-US" sz="1000" b="1" spc="100" kern="0" dirty="0">
                <a:solidFill>
                  <a:srgbClr val="0E3A5F"/>
                </a:solidFill>
                <a:latin typeface="Courier New" pitchFamily="34" charset="0"/>
                <a:ea typeface="Courier New" pitchFamily="34" charset="-122"/>
                <a:cs typeface="Courier New" pitchFamily="34" charset="-120"/>
              </a:rPr>
              <a:t>WHAT IT COSTS YOU</a:t>
            </a:r>
            <a:endParaRPr lang="en-US" sz="1000" dirty="0"/>
          </a:p>
        </p:txBody>
      </p:sp>
      <p:sp>
        <p:nvSpPr>
          <p:cNvPr id="13" name="Text 11"/>
          <p:cNvSpPr/>
          <p:nvPr/>
        </p:nvSpPr>
        <p:spPr>
          <a:xfrm>
            <a:off x="3246120" y="47548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Depreciation claimed against basis that was never properly established gets unwound — with interest — the moment anyone looks closely enough to ask where the number came from.</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94360"/>
            <a:ext cx="822960" cy="822960"/>
          </a:xfrm>
          <a:prstGeom prst="ellipse">
            <a:avLst/>
          </a:prstGeom>
          <a:solidFill>
            <a:srgbClr val="C9A97E"/>
          </a:solidFill>
          <a:ln/>
        </p:spPr>
      </p:sp>
      <p:sp>
        <p:nvSpPr>
          <p:cNvPr id="3" name="Text 1"/>
          <p:cNvSpPr/>
          <p:nvPr/>
        </p:nvSpPr>
        <p:spPr>
          <a:xfrm>
            <a:off x="822960" y="594360"/>
            <a:ext cx="822960" cy="822960"/>
          </a:xfrm>
          <a:prstGeom prst="rect">
            <a:avLst/>
          </a:prstGeom>
          <a:noFill/>
          <a:ln/>
        </p:spPr>
        <p:txBody>
          <a:bodyPr wrap="square" rtlCol="0" anchor="ctr"/>
          <a:lstStyle/>
          <a:p>
            <a:pPr algn="ctr" indent="0" marL="0">
              <a:buNone/>
            </a:pPr>
            <a:r>
              <a:rPr lang="en-US" sz="3000" b="1" dirty="0">
                <a:solidFill>
                  <a:srgbClr val="081F33"/>
                </a:solidFill>
                <a:latin typeface="Cambria" pitchFamily="34" charset="0"/>
                <a:ea typeface="Cambria" pitchFamily="34" charset="-122"/>
                <a:cs typeface="Cambria" pitchFamily="34" charset="-120"/>
              </a:rPr>
              <a:t>5</a:t>
            </a:r>
            <a:endParaRPr lang="en-US" sz="3000" dirty="0"/>
          </a:p>
        </p:txBody>
      </p:sp>
      <p:sp>
        <p:nvSpPr>
          <p:cNvPr id="4" name="Text 2"/>
          <p:cNvSpPr/>
          <p:nvPr/>
        </p:nvSpPr>
        <p:spPr>
          <a:xfrm>
            <a:off x="1874520" y="594360"/>
            <a:ext cx="9418320" cy="868680"/>
          </a:xfrm>
          <a:prstGeom prst="rect">
            <a:avLst/>
          </a:prstGeom>
          <a:noFill/>
          <a:ln/>
        </p:spPr>
        <p:txBody>
          <a:bodyPr wrap="square" rtlCol="0" anchor="ctr"/>
          <a:lstStyle/>
          <a:p>
            <a:pPr indent="0" marL="0">
              <a:buNone/>
            </a:pPr>
            <a:r>
              <a:rPr lang="en-US" sz="2400" b="1" dirty="0">
                <a:solidFill>
                  <a:srgbClr val="0E3A5F"/>
                </a:solidFill>
                <a:latin typeface="Cambria" pitchFamily="34" charset="0"/>
                <a:ea typeface="Cambria" pitchFamily="34" charset="-122"/>
                <a:cs typeface="Cambria" pitchFamily="34" charset="-120"/>
              </a:rPr>
              <a:t>Inverting the Liability Shield</a:t>
            </a:r>
            <a:endParaRPr lang="en-US" sz="2400" dirty="0"/>
          </a:p>
        </p:txBody>
      </p:sp>
      <p:sp>
        <p:nvSpPr>
          <p:cNvPr id="5" name="Shape 3"/>
          <p:cNvSpPr/>
          <p:nvPr/>
        </p:nvSpPr>
        <p:spPr>
          <a:xfrm>
            <a:off x="822960" y="1874520"/>
            <a:ext cx="10515600" cy="0"/>
          </a:xfrm>
          <a:prstGeom prst="line">
            <a:avLst/>
          </a:prstGeom>
          <a:noFill/>
          <a:ln w="12700">
            <a:solidFill>
              <a:srgbClr val="E4DCC9"/>
            </a:solidFill>
            <a:prstDash val="solid"/>
          </a:ln>
        </p:spPr>
      </p:sp>
      <p:sp>
        <p:nvSpPr>
          <p:cNvPr id="6" name="Text 4"/>
          <p:cNvSpPr/>
          <p:nvPr/>
        </p:nvSpPr>
        <p:spPr>
          <a:xfrm>
            <a:off x="822960" y="2039112"/>
            <a:ext cx="2103120" cy="457200"/>
          </a:xfrm>
          <a:prstGeom prst="rect">
            <a:avLst/>
          </a:prstGeom>
          <a:noFill/>
          <a:ln/>
        </p:spPr>
        <p:txBody>
          <a:bodyPr wrap="square" rtlCol="0" anchor="ctr"/>
          <a:lstStyle/>
          <a:p>
            <a:pPr indent="0" marL="0">
              <a:buNone/>
            </a:pPr>
            <a:r>
              <a:rPr lang="en-US" sz="1000" b="1" spc="100" kern="0" dirty="0">
                <a:solidFill>
                  <a:srgbClr val="B8664F"/>
                </a:solidFill>
                <a:latin typeface="Courier New" pitchFamily="34" charset="0"/>
                <a:ea typeface="Courier New" pitchFamily="34" charset="-122"/>
                <a:cs typeface="Courier New" pitchFamily="34" charset="-120"/>
              </a:rPr>
              <a:t>THE MISTAKE</a:t>
            </a:r>
            <a:endParaRPr lang="en-US" sz="1000" dirty="0"/>
          </a:p>
        </p:txBody>
      </p:sp>
      <p:sp>
        <p:nvSpPr>
          <p:cNvPr id="7" name="Text 5"/>
          <p:cNvSpPr/>
          <p:nvPr/>
        </p:nvSpPr>
        <p:spPr>
          <a:xfrm>
            <a:off x="3246120" y="20116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very asset the entity was formed to protect is now sitting inside the entity, exposed to its liabilities instead of shielded from them.</a:t>
            </a:r>
            <a:endParaRPr lang="en-US" sz="1300" dirty="0"/>
          </a:p>
        </p:txBody>
      </p:sp>
      <p:sp>
        <p:nvSpPr>
          <p:cNvPr id="8" name="Shape 6"/>
          <p:cNvSpPr/>
          <p:nvPr/>
        </p:nvSpPr>
        <p:spPr>
          <a:xfrm>
            <a:off x="822960" y="3246120"/>
            <a:ext cx="10515600" cy="0"/>
          </a:xfrm>
          <a:prstGeom prst="line">
            <a:avLst/>
          </a:prstGeom>
          <a:noFill/>
          <a:ln w="12700">
            <a:solidFill>
              <a:srgbClr val="E4DCC9"/>
            </a:solidFill>
            <a:prstDash val="solid"/>
          </a:ln>
        </p:spPr>
      </p:sp>
      <p:sp>
        <p:nvSpPr>
          <p:cNvPr id="9" name="Text 7"/>
          <p:cNvSpPr/>
          <p:nvPr/>
        </p:nvSpPr>
        <p:spPr>
          <a:xfrm>
            <a:off x="822960" y="3410712"/>
            <a:ext cx="2103120" cy="457200"/>
          </a:xfrm>
          <a:prstGeom prst="rect">
            <a:avLst/>
          </a:prstGeom>
          <a:noFill/>
          <a:ln/>
        </p:spPr>
        <p:txBody>
          <a:bodyPr wrap="square" rtlCol="0" anchor="ctr"/>
          <a:lstStyle/>
          <a:p>
            <a:pPr indent="0" marL="0">
              <a:buNone/>
            </a:pPr>
            <a:r>
              <a:rPr lang="en-US" sz="1000" b="1" spc="100" kern="0" dirty="0">
                <a:solidFill>
                  <a:srgbClr val="8C7A54"/>
                </a:solidFill>
                <a:latin typeface="Courier New" pitchFamily="34" charset="0"/>
                <a:ea typeface="Courier New" pitchFamily="34" charset="-122"/>
                <a:cs typeface="Courier New" pitchFamily="34" charset="-120"/>
              </a:rPr>
              <a:t>WHY IT HAPPENS</a:t>
            </a:r>
            <a:endParaRPr lang="en-US" sz="1000" dirty="0"/>
          </a:p>
        </p:txBody>
      </p:sp>
      <p:sp>
        <p:nvSpPr>
          <p:cNvPr id="10" name="Text 8"/>
          <p:cNvSpPr/>
          <p:nvPr/>
        </p:nvSpPr>
        <p:spPr>
          <a:xfrm>
            <a:off x="3246120" y="33832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Nobody connects “put it on the books for tax purposes” with “now a business creditor can reach it.”</a:t>
            </a:r>
            <a:endParaRPr lang="en-US" sz="1300" dirty="0"/>
          </a:p>
        </p:txBody>
      </p:sp>
      <p:sp>
        <p:nvSpPr>
          <p:cNvPr id="11" name="Shape 9"/>
          <p:cNvSpPr/>
          <p:nvPr/>
        </p:nvSpPr>
        <p:spPr>
          <a:xfrm>
            <a:off x="822960" y="4617720"/>
            <a:ext cx="10515600" cy="0"/>
          </a:xfrm>
          <a:prstGeom prst="line">
            <a:avLst/>
          </a:prstGeom>
          <a:noFill/>
          <a:ln w="12700">
            <a:solidFill>
              <a:srgbClr val="E4DCC9"/>
            </a:solidFill>
            <a:prstDash val="solid"/>
          </a:ln>
        </p:spPr>
      </p:sp>
      <p:sp>
        <p:nvSpPr>
          <p:cNvPr id="12" name="Text 10"/>
          <p:cNvSpPr/>
          <p:nvPr/>
        </p:nvSpPr>
        <p:spPr>
          <a:xfrm>
            <a:off x="822960" y="4782312"/>
            <a:ext cx="2103120" cy="457200"/>
          </a:xfrm>
          <a:prstGeom prst="rect">
            <a:avLst/>
          </a:prstGeom>
          <a:noFill/>
          <a:ln/>
        </p:spPr>
        <p:txBody>
          <a:bodyPr wrap="square" rtlCol="0" anchor="ctr"/>
          <a:lstStyle/>
          <a:p>
            <a:pPr indent="0" marL="0">
              <a:buNone/>
            </a:pPr>
            <a:r>
              <a:rPr lang="en-US" sz="1000" b="1" spc="100" kern="0" dirty="0">
                <a:solidFill>
                  <a:srgbClr val="0E3A5F"/>
                </a:solidFill>
                <a:latin typeface="Courier New" pitchFamily="34" charset="0"/>
                <a:ea typeface="Courier New" pitchFamily="34" charset="-122"/>
                <a:cs typeface="Courier New" pitchFamily="34" charset="-120"/>
              </a:rPr>
              <a:t>WHAT IT COSTS YOU</a:t>
            </a:r>
            <a:endParaRPr lang="en-US" sz="1000" dirty="0"/>
          </a:p>
        </p:txBody>
      </p:sp>
      <p:sp>
        <p:nvSpPr>
          <p:cNvPr id="13" name="Text 11"/>
          <p:cNvSpPr/>
          <p:nvPr/>
        </p:nvSpPr>
        <p:spPr>
          <a:xfrm>
            <a:off x="3246120" y="47548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A lawsuit, a bad debt, or a business bankruptcy now reaches an asset that was supposed to be untouchable — the protection was paid for and then undone.</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94360"/>
            <a:ext cx="822960" cy="822960"/>
          </a:xfrm>
          <a:prstGeom prst="ellipse">
            <a:avLst/>
          </a:prstGeom>
          <a:solidFill>
            <a:srgbClr val="C9A97E"/>
          </a:solidFill>
          <a:ln/>
        </p:spPr>
      </p:sp>
      <p:sp>
        <p:nvSpPr>
          <p:cNvPr id="3" name="Text 1"/>
          <p:cNvSpPr/>
          <p:nvPr/>
        </p:nvSpPr>
        <p:spPr>
          <a:xfrm>
            <a:off x="822960" y="594360"/>
            <a:ext cx="822960" cy="822960"/>
          </a:xfrm>
          <a:prstGeom prst="rect">
            <a:avLst/>
          </a:prstGeom>
          <a:noFill/>
          <a:ln/>
        </p:spPr>
        <p:txBody>
          <a:bodyPr wrap="square" rtlCol="0" anchor="ctr"/>
          <a:lstStyle/>
          <a:p>
            <a:pPr algn="ctr" indent="0" marL="0">
              <a:buNone/>
            </a:pPr>
            <a:r>
              <a:rPr lang="en-US" sz="3000" b="1" dirty="0">
                <a:solidFill>
                  <a:srgbClr val="081F33"/>
                </a:solidFill>
                <a:latin typeface="Cambria" pitchFamily="34" charset="0"/>
                <a:ea typeface="Cambria" pitchFamily="34" charset="-122"/>
                <a:cs typeface="Cambria" pitchFamily="34" charset="-120"/>
              </a:rPr>
              <a:t>6</a:t>
            </a:r>
            <a:endParaRPr lang="en-US" sz="3000" dirty="0"/>
          </a:p>
        </p:txBody>
      </p:sp>
      <p:sp>
        <p:nvSpPr>
          <p:cNvPr id="4" name="Text 2"/>
          <p:cNvSpPr/>
          <p:nvPr/>
        </p:nvSpPr>
        <p:spPr>
          <a:xfrm>
            <a:off x="1874520" y="594360"/>
            <a:ext cx="9418320" cy="868680"/>
          </a:xfrm>
          <a:prstGeom prst="rect">
            <a:avLst/>
          </a:prstGeom>
          <a:noFill/>
          <a:ln/>
        </p:spPr>
        <p:txBody>
          <a:bodyPr wrap="square" rtlCol="0" anchor="ctr"/>
          <a:lstStyle/>
          <a:p>
            <a:pPr indent="0" marL="0">
              <a:buNone/>
            </a:pPr>
            <a:r>
              <a:rPr lang="en-US" sz="2400" b="1" dirty="0">
                <a:solidFill>
                  <a:srgbClr val="0E3A5F"/>
                </a:solidFill>
                <a:latin typeface="Cambria" pitchFamily="34" charset="0"/>
                <a:ea typeface="Cambria" pitchFamily="34" charset="-122"/>
                <a:cs typeface="Cambria" pitchFamily="34" charset="-120"/>
              </a:rPr>
              <a:t>No Fair Market Value Documentation</a:t>
            </a:r>
            <a:endParaRPr lang="en-US" sz="2400" dirty="0"/>
          </a:p>
        </p:txBody>
      </p:sp>
      <p:sp>
        <p:nvSpPr>
          <p:cNvPr id="5" name="Shape 3"/>
          <p:cNvSpPr/>
          <p:nvPr/>
        </p:nvSpPr>
        <p:spPr>
          <a:xfrm>
            <a:off x="822960" y="1874520"/>
            <a:ext cx="10515600" cy="0"/>
          </a:xfrm>
          <a:prstGeom prst="line">
            <a:avLst/>
          </a:prstGeom>
          <a:noFill/>
          <a:ln w="12700">
            <a:solidFill>
              <a:srgbClr val="E4DCC9"/>
            </a:solidFill>
            <a:prstDash val="solid"/>
          </a:ln>
        </p:spPr>
      </p:sp>
      <p:sp>
        <p:nvSpPr>
          <p:cNvPr id="6" name="Text 4"/>
          <p:cNvSpPr/>
          <p:nvPr/>
        </p:nvSpPr>
        <p:spPr>
          <a:xfrm>
            <a:off x="822960" y="2039112"/>
            <a:ext cx="2103120" cy="457200"/>
          </a:xfrm>
          <a:prstGeom prst="rect">
            <a:avLst/>
          </a:prstGeom>
          <a:noFill/>
          <a:ln/>
        </p:spPr>
        <p:txBody>
          <a:bodyPr wrap="square" rtlCol="0" anchor="ctr"/>
          <a:lstStyle/>
          <a:p>
            <a:pPr indent="0" marL="0">
              <a:buNone/>
            </a:pPr>
            <a:r>
              <a:rPr lang="en-US" sz="1000" b="1" spc="100" kern="0" dirty="0">
                <a:solidFill>
                  <a:srgbClr val="B8664F"/>
                </a:solidFill>
                <a:latin typeface="Courier New" pitchFamily="34" charset="0"/>
                <a:ea typeface="Courier New" pitchFamily="34" charset="-122"/>
                <a:cs typeface="Courier New" pitchFamily="34" charset="-120"/>
              </a:rPr>
              <a:t>THE MISTAKE</a:t>
            </a:r>
            <a:endParaRPr lang="en-US" sz="1000" dirty="0"/>
          </a:p>
        </p:txBody>
      </p:sp>
      <p:sp>
        <p:nvSpPr>
          <p:cNvPr id="7" name="Text 5"/>
          <p:cNvSpPr/>
          <p:nvPr/>
        </p:nvSpPr>
        <p:spPr>
          <a:xfrm>
            <a:off x="3246120" y="20116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The property is added to the books at a round number, an old purchase price, or whatever felt reasonable — no appraisal, no formal valuation.</a:t>
            </a:r>
            <a:endParaRPr lang="en-US" sz="1300" dirty="0"/>
          </a:p>
        </p:txBody>
      </p:sp>
      <p:sp>
        <p:nvSpPr>
          <p:cNvPr id="8" name="Shape 6"/>
          <p:cNvSpPr/>
          <p:nvPr/>
        </p:nvSpPr>
        <p:spPr>
          <a:xfrm>
            <a:off x="822960" y="3246120"/>
            <a:ext cx="10515600" cy="0"/>
          </a:xfrm>
          <a:prstGeom prst="line">
            <a:avLst/>
          </a:prstGeom>
          <a:noFill/>
          <a:ln w="12700">
            <a:solidFill>
              <a:srgbClr val="E4DCC9"/>
            </a:solidFill>
            <a:prstDash val="solid"/>
          </a:ln>
        </p:spPr>
      </p:sp>
      <p:sp>
        <p:nvSpPr>
          <p:cNvPr id="9" name="Text 7"/>
          <p:cNvSpPr/>
          <p:nvPr/>
        </p:nvSpPr>
        <p:spPr>
          <a:xfrm>
            <a:off x="822960" y="3410712"/>
            <a:ext cx="2103120" cy="457200"/>
          </a:xfrm>
          <a:prstGeom prst="rect">
            <a:avLst/>
          </a:prstGeom>
          <a:noFill/>
          <a:ln/>
        </p:spPr>
        <p:txBody>
          <a:bodyPr wrap="square" rtlCol="0" anchor="ctr"/>
          <a:lstStyle/>
          <a:p>
            <a:pPr indent="0" marL="0">
              <a:buNone/>
            </a:pPr>
            <a:r>
              <a:rPr lang="en-US" sz="1000" b="1" spc="100" kern="0" dirty="0">
                <a:solidFill>
                  <a:srgbClr val="8C7A54"/>
                </a:solidFill>
                <a:latin typeface="Courier New" pitchFamily="34" charset="0"/>
                <a:ea typeface="Courier New" pitchFamily="34" charset="-122"/>
                <a:cs typeface="Courier New" pitchFamily="34" charset="-120"/>
              </a:rPr>
              <a:t>WHY IT HAPPENS</a:t>
            </a:r>
            <a:endParaRPr lang="en-US" sz="1000" dirty="0"/>
          </a:p>
        </p:txBody>
      </p:sp>
      <p:sp>
        <p:nvSpPr>
          <p:cNvPr id="10" name="Text 8"/>
          <p:cNvSpPr/>
          <p:nvPr/>
        </p:nvSpPr>
        <p:spPr>
          <a:xfrm>
            <a:off x="3246120" y="33832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Getting a real valuation feels like an unnecessary step for a transfer that already feels informal.</a:t>
            </a:r>
            <a:endParaRPr lang="en-US" sz="1300" dirty="0"/>
          </a:p>
        </p:txBody>
      </p:sp>
      <p:sp>
        <p:nvSpPr>
          <p:cNvPr id="11" name="Shape 9"/>
          <p:cNvSpPr/>
          <p:nvPr/>
        </p:nvSpPr>
        <p:spPr>
          <a:xfrm>
            <a:off x="822960" y="4617720"/>
            <a:ext cx="10515600" cy="0"/>
          </a:xfrm>
          <a:prstGeom prst="line">
            <a:avLst/>
          </a:prstGeom>
          <a:noFill/>
          <a:ln w="12700">
            <a:solidFill>
              <a:srgbClr val="E4DCC9"/>
            </a:solidFill>
            <a:prstDash val="solid"/>
          </a:ln>
        </p:spPr>
      </p:sp>
      <p:sp>
        <p:nvSpPr>
          <p:cNvPr id="12" name="Text 10"/>
          <p:cNvSpPr/>
          <p:nvPr/>
        </p:nvSpPr>
        <p:spPr>
          <a:xfrm>
            <a:off x="822960" y="4782312"/>
            <a:ext cx="2103120" cy="457200"/>
          </a:xfrm>
          <a:prstGeom prst="rect">
            <a:avLst/>
          </a:prstGeom>
          <a:noFill/>
          <a:ln/>
        </p:spPr>
        <p:txBody>
          <a:bodyPr wrap="square" rtlCol="0" anchor="ctr"/>
          <a:lstStyle/>
          <a:p>
            <a:pPr indent="0" marL="0">
              <a:buNone/>
            </a:pPr>
            <a:r>
              <a:rPr lang="en-US" sz="1000" b="1" spc="100" kern="0" dirty="0">
                <a:solidFill>
                  <a:srgbClr val="0E3A5F"/>
                </a:solidFill>
                <a:latin typeface="Courier New" pitchFamily="34" charset="0"/>
                <a:ea typeface="Courier New" pitchFamily="34" charset="-122"/>
                <a:cs typeface="Courier New" pitchFamily="34" charset="-120"/>
              </a:rPr>
              <a:t>WHAT IT COSTS YOU</a:t>
            </a:r>
            <a:endParaRPr lang="en-US" sz="1000" dirty="0"/>
          </a:p>
        </p:txBody>
      </p:sp>
      <p:sp>
        <p:nvSpPr>
          <p:cNvPr id="13" name="Text 11"/>
          <p:cNvSpPr/>
          <p:nvPr/>
        </p:nvSpPr>
        <p:spPr>
          <a:xfrm>
            <a:off x="3246120" y="4754880"/>
            <a:ext cx="6812280" cy="1097280"/>
          </a:xfrm>
          <a:prstGeom prst="rect">
            <a:avLst/>
          </a:prstGeom>
          <a:noFill/>
          <a:ln/>
        </p:spPr>
        <p:txBody>
          <a:bodyPr wrap="square" rtlCol="0" anchor="t"/>
          <a:lstStyle/>
          <a:p>
            <a:pPr indent="0" marL="0">
              <a:lnSpc>
                <a:spcPct val="130000"/>
              </a:lnSpc>
              <a:buNone/>
            </a:pPr>
            <a:r>
              <a:rPr lang="en-US" sz="1300" dirty="0">
                <a:solidFill>
                  <a:srgbClr val="24303A"/>
                </a:solidFill>
                <a:latin typeface="Calibri" pitchFamily="34" charset="0"/>
                <a:ea typeface="Calibri" pitchFamily="34" charset="-122"/>
                <a:cs typeface="Calibri" pitchFamily="34" charset="-120"/>
              </a:rPr>
              <a:t>Every later event — a sale, a refinance, an estate settlement, an audit — needs a number nobody can actually defend.</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48640"/>
            <a:ext cx="10515600" cy="640080"/>
          </a:xfrm>
          <a:prstGeom prst="rect">
            <a:avLst/>
          </a:prstGeom>
          <a:noFill/>
          <a:ln/>
        </p:spPr>
        <p:txBody>
          <a:bodyPr wrap="square" rtlCol="0" anchor="ctr"/>
          <a:lstStyle/>
          <a:p>
            <a:pPr indent="0" marL="0">
              <a:buNone/>
            </a:pPr>
            <a:r>
              <a:rPr lang="en-US" sz="2600" b="1" dirty="0">
                <a:solidFill>
                  <a:srgbClr val="0E3A5F"/>
                </a:solidFill>
                <a:latin typeface="Cambria" pitchFamily="34" charset="0"/>
                <a:ea typeface="Cambria" pitchFamily="34" charset="-122"/>
                <a:cs typeface="Cambria" pitchFamily="34" charset="-120"/>
              </a:rPr>
              <a:t>How This Actually Catches Up With You</a:t>
            </a:r>
            <a:endParaRPr lang="en-US" sz="2600" dirty="0"/>
          </a:p>
        </p:txBody>
      </p:sp>
      <p:sp>
        <p:nvSpPr>
          <p:cNvPr id="3" name="Text 1"/>
          <p:cNvSpPr/>
          <p:nvPr/>
        </p:nvSpPr>
        <p:spPr>
          <a:xfrm>
            <a:off x="822960" y="1234440"/>
            <a:ext cx="10515600" cy="640080"/>
          </a:xfrm>
          <a:prstGeom prst="rect">
            <a:avLst/>
          </a:prstGeom>
          <a:noFill/>
          <a:ln/>
        </p:spPr>
        <p:txBody>
          <a:bodyPr wrap="square" rtlCol="0" anchor="ctr"/>
          <a:lstStyle/>
          <a:p>
            <a:pPr indent="0" marL="0">
              <a:lnSpc>
                <a:spcPct val="130000"/>
              </a:lnSpc>
              <a:buNone/>
            </a:pPr>
            <a:r>
              <a:rPr lang="en-US" sz="1400" dirty="0">
                <a:solidFill>
                  <a:srgbClr val="5B6670"/>
                </a:solidFill>
                <a:latin typeface="Calibri" pitchFamily="34" charset="0"/>
                <a:ea typeface="Calibri" pitchFamily="34" charset="-122"/>
                <a:cs typeface="Calibri" pitchFamily="34" charset="-120"/>
              </a:rPr>
              <a:t>An undocumented property transfer resolves itself one of two ways — and one is a lot more expensive than the other.</a:t>
            </a:r>
            <a:endParaRPr lang="en-US" sz="1400" dirty="0"/>
          </a:p>
        </p:txBody>
      </p:sp>
      <p:sp>
        <p:nvSpPr>
          <p:cNvPr id="4" name="Shape 2"/>
          <p:cNvSpPr/>
          <p:nvPr/>
        </p:nvSpPr>
        <p:spPr>
          <a:xfrm>
            <a:off x="822960" y="2103120"/>
            <a:ext cx="5120640" cy="4023360"/>
          </a:xfrm>
          <a:prstGeom prst="rect">
            <a:avLst>
              <a:gd name="adj" fmla="val 1818"/>
            </a:avLst>
          </a:prstGeom>
          <a:solidFill>
            <a:srgbClr val="F7F2EA"/>
          </a:solidFill>
          <a:ln/>
        </p:spPr>
      </p:sp>
      <p:sp>
        <p:nvSpPr>
          <p:cNvPr id="5" name="Shape 3"/>
          <p:cNvSpPr/>
          <p:nvPr/>
        </p:nvSpPr>
        <p:spPr>
          <a:xfrm>
            <a:off x="822960" y="2103120"/>
            <a:ext cx="5120640" cy="73152"/>
          </a:xfrm>
          <a:prstGeom prst="rect">
            <a:avLst/>
          </a:prstGeom>
          <a:solidFill>
            <a:srgbClr val="0E3A5F"/>
          </a:solidFill>
          <a:ln/>
        </p:spPr>
      </p:sp>
      <p:sp>
        <p:nvSpPr>
          <p:cNvPr id="6" name="Text 4"/>
          <p:cNvSpPr/>
          <p:nvPr/>
        </p:nvSpPr>
        <p:spPr>
          <a:xfrm>
            <a:off x="1143000" y="2423160"/>
            <a:ext cx="4480560" cy="365760"/>
          </a:xfrm>
          <a:prstGeom prst="rect">
            <a:avLst/>
          </a:prstGeom>
          <a:noFill/>
          <a:ln/>
        </p:spPr>
        <p:txBody>
          <a:bodyPr wrap="square" rtlCol="0" anchor="ctr"/>
          <a:lstStyle/>
          <a:p>
            <a:pPr indent="0" marL="0">
              <a:buNone/>
            </a:pPr>
            <a:r>
              <a:rPr lang="en-US" sz="1100" b="1" spc="100" kern="0" dirty="0">
                <a:solidFill>
                  <a:srgbClr val="5B6670"/>
                </a:solidFill>
                <a:latin typeface="Courier New" pitchFamily="34" charset="0"/>
                <a:ea typeface="Courier New" pitchFamily="34" charset="-122"/>
                <a:cs typeface="Courier New" pitchFamily="34" charset="-120"/>
              </a:rPr>
              <a:t>PATH A</a:t>
            </a:r>
            <a:endParaRPr lang="en-US" sz="1100" dirty="0"/>
          </a:p>
        </p:txBody>
      </p:sp>
      <p:sp>
        <p:nvSpPr>
          <p:cNvPr id="7" name="Text 5"/>
          <p:cNvSpPr/>
          <p:nvPr/>
        </p:nvSpPr>
        <p:spPr>
          <a:xfrm>
            <a:off x="1143000" y="2834640"/>
            <a:ext cx="4480560" cy="640080"/>
          </a:xfrm>
          <a:prstGeom prst="rect">
            <a:avLst/>
          </a:prstGeom>
          <a:noFill/>
          <a:ln/>
        </p:spPr>
        <p:txBody>
          <a:bodyPr wrap="square" rtlCol="0" anchor="ctr"/>
          <a:lstStyle/>
          <a:p>
            <a:pPr indent="0" marL="0">
              <a:buNone/>
            </a:pPr>
            <a:r>
              <a:rPr lang="en-US" sz="1900" b="1" dirty="0">
                <a:solidFill>
                  <a:srgbClr val="0E3A5F"/>
                </a:solidFill>
                <a:latin typeface="Cambria" pitchFamily="34" charset="0"/>
                <a:ea typeface="Cambria" pitchFamily="34" charset="-122"/>
                <a:cs typeface="Cambria" pitchFamily="34" charset="-120"/>
              </a:rPr>
              <a:t>You Unwind It Yourself</a:t>
            </a:r>
            <a:endParaRPr lang="en-US" sz="1900" dirty="0"/>
          </a:p>
        </p:txBody>
      </p:sp>
      <p:sp>
        <p:nvSpPr>
          <p:cNvPr id="8" name="Text 6"/>
          <p:cNvSpPr/>
          <p:nvPr/>
        </p:nvSpPr>
        <p:spPr>
          <a:xfrm>
            <a:off x="1143000" y="3611880"/>
            <a:ext cx="4480560" cy="2286000"/>
          </a:xfrm>
          <a:prstGeom prst="rect">
            <a:avLst/>
          </a:prstGeom>
          <a:noFill/>
          <a:ln/>
        </p:spPr>
        <p:txBody>
          <a:bodyPr wrap="square" rtlCol="0" anchor="ctr"/>
          <a:lstStyle/>
          <a:p>
            <a:pPr indent="0" marL="0">
              <a:lnSpc>
                <a:spcPct val="135000"/>
              </a:lnSpc>
              <a:buNone/>
            </a:pPr>
            <a:r>
              <a:rPr lang="en-US" sz="1300" dirty="0">
                <a:solidFill>
                  <a:srgbClr val="24303A"/>
                </a:solidFill>
                <a:latin typeface="Calibri" pitchFamily="34" charset="0"/>
                <a:ea typeface="Calibri" pitchFamily="34" charset="-122"/>
                <a:cs typeface="Calibri" pitchFamily="34" charset="-120"/>
              </a:rPr>
              <a:t>The contribution or distribution gets recorded properly, basis gets corrected, and the mortgage question gets addressed with the lender directly.</a:t>
            </a:r>
            <a:endParaRPr lang="en-US" sz="1300" dirty="0"/>
          </a:p>
          <a:p>
            <a:pPr indent="0" marL="0">
              <a:lnSpc>
                <a:spcPct val="135000"/>
              </a:lnSpc>
              <a:buNone/>
            </a:pPr>
            <a:endParaRPr lang="en-US" sz="1300" dirty="0"/>
          </a:p>
          <a:p>
            <a:pPr indent="0" marL="0">
              <a:lnSpc>
                <a:spcPct val="135000"/>
              </a:lnSpc>
              <a:buNone/>
            </a:pPr>
            <a:r>
              <a:rPr lang="en-US" sz="1300" dirty="0">
                <a:solidFill>
                  <a:srgbClr val="24303A"/>
                </a:solidFill>
                <a:latin typeface="Calibri" pitchFamily="34" charset="0"/>
                <a:ea typeface="Calibri" pitchFamily="34" charset="-122"/>
                <a:cs typeface="Calibri" pitchFamily="34" charset="-120"/>
              </a:rPr>
              <a:t>The fix happens quietly, on your own timeline, before anyone else is asking questions.</a:t>
            </a:r>
            <a:endParaRPr lang="en-US" sz="1300" dirty="0"/>
          </a:p>
        </p:txBody>
      </p:sp>
      <p:sp>
        <p:nvSpPr>
          <p:cNvPr id="9" name="Shape 7"/>
          <p:cNvSpPr/>
          <p:nvPr/>
        </p:nvSpPr>
        <p:spPr>
          <a:xfrm>
            <a:off x="6217920" y="2103120"/>
            <a:ext cx="5120640" cy="4023360"/>
          </a:xfrm>
          <a:prstGeom prst="rect">
            <a:avLst>
              <a:gd name="adj" fmla="val 1818"/>
            </a:avLst>
          </a:prstGeom>
          <a:solidFill>
            <a:srgbClr val="F7F2EA"/>
          </a:solidFill>
          <a:ln/>
        </p:spPr>
      </p:sp>
      <p:sp>
        <p:nvSpPr>
          <p:cNvPr id="10" name="Shape 8"/>
          <p:cNvSpPr/>
          <p:nvPr/>
        </p:nvSpPr>
        <p:spPr>
          <a:xfrm>
            <a:off x="6217920" y="2103120"/>
            <a:ext cx="5120640" cy="73152"/>
          </a:xfrm>
          <a:prstGeom prst="rect">
            <a:avLst/>
          </a:prstGeom>
          <a:solidFill>
            <a:srgbClr val="B8664F"/>
          </a:solidFill>
          <a:ln/>
        </p:spPr>
      </p:sp>
      <p:sp>
        <p:nvSpPr>
          <p:cNvPr id="11" name="Text 9"/>
          <p:cNvSpPr/>
          <p:nvPr/>
        </p:nvSpPr>
        <p:spPr>
          <a:xfrm>
            <a:off x="6537960" y="2423160"/>
            <a:ext cx="4480560" cy="365760"/>
          </a:xfrm>
          <a:prstGeom prst="rect">
            <a:avLst/>
          </a:prstGeom>
          <a:noFill/>
          <a:ln/>
        </p:spPr>
        <p:txBody>
          <a:bodyPr wrap="square" rtlCol="0" anchor="ctr"/>
          <a:lstStyle/>
          <a:p>
            <a:pPr indent="0" marL="0">
              <a:buNone/>
            </a:pPr>
            <a:r>
              <a:rPr lang="en-US" sz="1100" b="1" spc="100" kern="0" dirty="0">
                <a:solidFill>
                  <a:srgbClr val="5B6670"/>
                </a:solidFill>
                <a:latin typeface="Courier New" pitchFamily="34" charset="0"/>
                <a:ea typeface="Courier New" pitchFamily="34" charset="-122"/>
                <a:cs typeface="Courier New" pitchFamily="34" charset="-120"/>
              </a:rPr>
              <a:t>PATH B</a:t>
            </a:r>
            <a:endParaRPr lang="en-US" sz="1100" dirty="0"/>
          </a:p>
        </p:txBody>
      </p:sp>
      <p:sp>
        <p:nvSpPr>
          <p:cNvPr id="12" name="Text 10"/>
          <p:cNvSpPr/>
          <p:nvPr/>
        </p:nvSpPr>
        <p:spPr>
          <a:xfrm>
            <a:off x="6537960" y="2834640"/>
            <a:ext cx="4480560" cy="640080"/>
          </a:xfrm>
          <a:prstGeom prst="rect">
            <a:avLst/>
          </a:prstGeom>
          <a:noFill/>
          <a:ln/>
        </p:spPr>
        <p:txBody>
          <a:bodyPr wrap="square" rtlCol="0" anchor="ctr"/>
          <a:lstStyle/>
          <a:p>
            <a:pPr indent="0" marL="0">
              <a:buNone/>
            </a:pPr>
            <a:r>
              <a:rPr lang="en-US" sz="1900" b="1" dirty="0">
                <a:solidFill>
                  <a:srgbClr val="B8664F"/>
                </a:solidFill>
                <a:latin typeface="Cambria" pitchFamily="34" charset="0"/>
                <a:ea typeface="Cambria" pitchFamily="34" charset="-122"/>
                <a:cs typeface="Cambria" pitchFamily="34" charset="-120"/>
              </a:rPr>
              <a:t>Someone Else Catches It First</a:t>
            </a:r>
            <a:endParaRPr lang="en-US" sz="1900" dirty="0"/>
          </a:p>
        </p:txBody>
      </p:sp>
      <p:sp>
        <p:nvSpPr>
          <p:cNvPr id="13" name="Text 11"/>
          <p:cNvSpPr/>
          <p:nvPr/>
        </p:nvSpPr>
        <p:spPr>
          <a:xfrm>
            <a:off x="6537960" y="3611880"/>
            <a:ext cx="4480560" cy="2286000"/>
          </a:xfrm>
          <a:prstGeom prst="rect">
            <a:avLst/>
          </a:prstGeom>
          <a:noFill/>
          <a:ln/>
        </p:spPr>
        <p:txBody>
          <a:bodyPr wrap="square" rtlCol="0" anchor="ctr"/>
          <a:lstStyle/>
          <a:p>
            <a:pPr indent="0" marL="0">
              <a:lnSpc>
                <a:spcPct val="135000"/>
              </a:lnSpc>
              <a:buNone/>
            </a:pPr>
            <a:r>
              <a:rPr lang="en-US" sz="1300" dirty="0">
                <a:solidFill>
                  <a:srgbClr val="24303A"/>
                </a:solidFill>
                <a:latin typeface="Calibri" pitchFamily="34" charset="0"/>
                <a:ea typeface="Calibri" pitchFamily="34" charset="-122"/>
                <a:cs typeface="Calibri" pitchFamily="34" charset="-120"/>
              </a:rPr>
              <a:t>A lender discovers the transfer during a refinance or review and calls the loan due, or an examiner questions depreciation with no basis behind it.</a:t>
            </a:r>
            <a:endParaRPr lang="en-US" sz="1300" dirty="0"/>
          </a:p>
          <a:p>
            <a:pPr indent="0" marL="0">
              <a:lnSpc>
                <a:spcPct val="135000"/>
              </a:lnSpc>
              <a:buNone/>
            </a:pPr>
            <a:endParaRPr lang="en-US" sz="1300" dirty="0"/>
          </a:p>
          <a:p>
            <a:pPr indent="0" marL="0">
              <a:lnSpc>
                <a:spcPct val="135000"/>
              </a:lnSpc>
              <a:buNone/>
            </a:pPr>
            <a:r>
              <a:rPr lang="en-US" sz="1300" dirty="0">
                <a:solidFill>
                  <a:srgbClr val="24303A"/>
                </a:solidFill>
                <a:latin typeface="Calibri" pitchFamily="34" charset="0"/>
                <a:ea typeface="Calibri" pitchFamily="34" charset="-122"/>
                <a:cs typeface="Calibri" pitchFamily="34" charset="-120"/>
              </a:rPr>
              <a:t>Now it's a demand for immediate payoff, or reclassified income with penalties and interest — on someone else's timeline, not yours.</a:t>
            </a:r>
            <a:endParaRPr lang="en-US" sz="1300" dirty="0"/>
          </a:p>
        </p:txBody>
      </p:sp>
      <p:sp>
        <p:nvSpPr>
          <p:cNvPr id="14" name="Text 12"/>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15" name="Text 13"/>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rtlCol="0" anchor="ctr"/>
          <a:lstStyle/>
          <a:p>
            <a:pPr indent="0" marL="0">
              <a:buNone/>
            </a:pPr>
            <a:r>
              <a:rPr lang="en-US" sz="2600" b="1" dirty="0">
                <a:solidFill>
                  <a:srgbClr val="0E3A5F"/>
                </a:solidFill>
                <a:latin typeface="Cambria" pitchFamily="34" charset="0"/>
                <a:ea typeface="Cambria" pitchFamily="34" charset="-122"/>
                <a:cs typeface="Cambria" pitchFamily="34" charset="-120"/>
              </a:rPr>
              <a:t>The Fix Is Almost Always the Same</a:t>
            </a:r>
            <a:endParaRPr lang="en-US" sz="2600" dirty="0"/>
          </a:p>
        </p:txBody>
      </p:sp>
      <p:sp>
        <p:nvSpPr>
          <p:cNvPr id="3" name="Shape 1"/>
          <p:cNvSpPr/>
          <p:nvPr/>
        </p:nvSpPr>
        <p:spPr>
          <a:xfrm>
            <a:off x="822960" y="1417320"/>
            <a:ext cx="3383280" cy="1783080"/>
          </a:xfrm>
          <a:prstGeom prst="rect">
            <a:avLst>
              <a:gd name="adj" fmla="val 3590"/>
            </a:avLst>
          </a:prstGeom>
          <a:solidFill>
            <a:srgbClr val="F7F2EA"/>
          </a:solidFill>
          <a:ln/>
        </p:spPr>
      </p:sp>
      <p:sp>
        <p:nvSpPr>
          <p:cNvPr id="4" name="Text 2"/>
          <p:cNvSpPr/>
          <p:nvPr/>
        </p:nvSpPr>
        <p:spPr>
          <a:xfrm>
            <a:off x="1005840" y="1554480"/>
            <a:ext cx="548640" cy="457200"/>
          </a:xfrm>
          <a:prstGeom prst="rect">
            <a:avLst/>
          </a:prstGeom>
          <a:noFill/>
          <a:ln/>
        </p:spPr>
        <p:txBody>
          <a:bodyPr wrap="square" rtlCol="0" anchor="ctr"/>
          <a:lstStyle/>
          <a:p>
            <a:pPr indent="0" marL="0">
              <a:buNone/>
            </a:pPr>
            <a:r>
              <a:rPr lang="en-US" sz="2200" b="1" dirty="0">
                <a:solidFill>
                  <a:srgbClr val="8C7A54"/>
                </a:solidFill>
                <a:latin typeface="Cambria" pitchFamily="34" charset="0"/>
                <a:ea typeface="Cambria" pitchFamily="34" charset="-122"/>
                <a:cs typeface="Cambria" pitchFamily="34" charset="-120"/>
              </a:rPr>
              <a:t>1</a:t>
            </a:r>
            <a:endParaRPr lang="en-US" sz="2200" dirty="0"/>
          </a:p>
        </p:txBody>
      </p:sp>
      <p:sp>
        <p:nvSpPr>
          <p:cNvPr id="5" name="Text 3"/>
          <p:cNvSpPr/>
          <p:nvPr/>
        </p:nvSpPr>
        <p:spPr>
          <a:xfrm>
            <a:off x="1005840" y="2011680"/>
            <a:ext cx="3017520" cy="502920"/>
          </a:xfrm>
          <a:prstGeom prst="rect">
            <a:avLst/>
          </a:prstGeom>
          <a:noFill/>
          <a:ln/>
        </p:spPr>
        <p:txBody>
          <a:bodyPr wrap="square" rtlCol="0" anchor="ctr"/>
          <a:lstStyle/>
          <a:p>
            <a:pPr indent="0" marL="0">
              <a:lnSpc>
                <a:spcPct val="110000"/>
              </a:lnSpc>
              <a:buNone/>
            </a:pPr>
            <a:r>
              <a:rPr lang="en-US" sz="1350" b="1" dirty="0">
                <a:solidFill>
                  <a:srgbClr val="24303A"/>
                </a:solidFill>
                <a:latin typeface="Cambria" pitchFamily="34" charset="0"/>
                <a:ea typeface="Cambria" pitchFamily="34" charset="-122"/>
                <a:cs typeface="Cambria" pitchFamily="34" charset="-120"/>
              </a:rPr>
              <a:t>Record a real transaction</a:t>
            </a:r>
            <a:endParaRPr lang="en-US" sz="1350" dirty="0"/>
          </a:p>
        </p:txBody>
      </p:sp>
      <p:sp>
        <p:nvSpPr>
          <p:cNvPr id="6" name="Text 4"/>
          <p:cNvSpPr/>
          <p:nvPr/>
        </p:nvSpPr>
        <p:spPr>
          <a:xfrm>
            <a:off x="1005840" y="2514600"/>
            <a:ext cx="3017520" cy="594360"/>
          </a:xfrm>
          <a:prstGeom prst="rect">
            <a:avLst/>
          </a:prstGeom>
          <a:noFill/>
          <a:ln/>
        </p:spPr>
        <p:txBody>
          <a:bodyPr wrap="square" rtlCol="0" anchor="ctr"/>
          <a:lstStyle/>
          <a:p>
            <a:pPr indent="0" marL="0">
              <a:lnSpc>
                <a:spcPct val="120000"/>
              </a:lnSpc>
              <a:buNone/>
            </a:pPr>
            <a:r>
              <a:rPr lang="en-US" sz="1050" dirty="0">
                <a:solidFill>
                  <a:srgbClr val="5B6670"/>
                </a:solidFill>
                <a:latin typeface="Calibri" pitchFamily="34" charset="0"/>
                <a:ea typeface="Calibri" pitchFamily="34" charset="-122"/>
                <a:cs typeface="Calibri" pitchFamily="34" charset="-120"/>
              </a:rPr>
              <a:t>A capital contribution or a documented loan — never a silent transfer.</a:t>
            </a:r>
            <a:endParaRPr lang="en-US" sz="1050" dirty="0"/>
          </a:p>
        </p:txBody>
      </p:sp>
      <p:sp>
        <p:nvSpPr>
          <p:cNvPr id="7" name="Shape 5"/>
          <p:cNvSpPr/>
          <p:nvPr/>
        </p:nvSpPr>
        <p:spPr>
          <a:xfrm>
            <a:off x="4434840" y="1417320"/>
            <a:ext cx="3383280" cy="1783080"/>
          </a:xfrm>
          <a:prstGeom prst="rect">
            <a:avLst>
              <a:gd name="adj" fmla="val 3590"/>
            </a:avLst>
          </a:prstGeom>
          <a:solidFill>
            <a:srgbClr val="F7F2EA"/>
          </a:solidFill>
          <a:ln/>
        </p:spPr>
      </p:sp>
      <p:sp>
        <p:nvSpPr>
          <p:cNvPr id="8" name="Text 6"/>
          <p:cNvSpPr/>
          <p:nvPr/>
        </p:nvSpPr>
        <p:spPr>
          <a:xfrm>
            <a:off x="4617720" y="1554480"/>
            <a:ext cx="548640" cy="457200"/>
          </a:xfrm>
          <a:prstGeom prst="rect">
            <a:avLst/>
          </a:prstGeom>
          <a:noFill/>
          <a:ln/>
        </p:spPr>
        <p:txBody>
          <a:bodyPr wrap="square" rtlCol="0" anchor="ctr"/>
          <a:lstStyle/>
          <a:p>
            <a:pPr indent="0" marL="0">
              <a:buNone/>
            </a:pPr>
            <a:r>
              <a:rPr lang="en-US" sz="2200" b="1" dirty="0">
                <a:solidFill>
                  <a:srgbClr val="8C7A54"/>
                </a:solidFill>
                <a:latin typeface="Cambria" pitchFamily="34" charset="0"/>
                <a:ea typeface="Cambria" pitchFamily="34" charset="-122"/>
                <a:cs typeface="Cambria" pitchFamily="34" charset="-120"/>
              </a:rPr>
              <a:t>2</a:t>
            </a:r>
            <a:endParaRPr lang="en-US" sz="2200" dirty="0"/>
          </a:p>
        </p:txBody>
      </p:sp>
      <p:sp>
        <p:nvSpPr>
          <p:cNvPr id="9" name="Text 7"/>
          <p:cNvSpPr/>
          <p:nvPr/>
        </p:nvSpPr>
        <p:spPr>
          <a:xfrm>
            <a:off x="4617720" y="2011680"/>
            <a:ext cx="3017520" cy="502920"/>
          </a:xfrm>
          <a:prstGeom prst="rect">
            <a:avLst/>
          </a:prstGeom>
          <a:noFill/>
          <a:ln/>
        </p:spPr>
        <p:txBody>
          <a:bodyPr wrap="square" rtlCol="0" anchor="ctr"/>
          <a:lstStyle/>
          <a:p>
            <a:pPr indent="0" marL="0">
              <a:lnSpc>
                <a:spcPct val="110000"/>
              </a:lnSpc>
              <a:buNone/>
            </a:pPr>
            <a:r>
              <a:rPr lang="en-US" sz="1350" b="1" dirty="0">
                <a:solidFill>
                  <a:srgbClr val="24303A"/>
                </a:solidFill>
                <a:latin typeface="Cambria" pitchFamily="34" charset="0"/>
                <a:ea typeface="Cambria" pitchFamily="34" charset="-122"/>
                <a:cs typeface="Cambria" pitchFamily="34" charset="-120"/>
              </a:rPr>
              <a:t>Check the mortgage terms</a:t>
            </a:r>
            <a:endParaRPr lang="en-US" sz="1350" dirty="0"/>
          </a:p>
        </p:txBody>
      </p:sp>
      <p:sp>
        <p:nvSpPr>
          <p:cNvPr id="10" name="Text 8"/>
          <p:cNvSpPr/>
          <p:nvPr/>
        </p:nvSpPr>
        <p:spPr>
          <a:xfrm>
            <a:off x="4617720" y="2514600"/>
            <a:ext cx="3017520" cy="594360"/>
          </a:xfrm>
          <a:prstGeom prst="rect">
            <a:avLst/>
          </a:prstGeom>
          <a:noFill/>
          <a:ln/>
        </p:spPr>
        <p:txBody>
          <a:bodyPr wrap="square" rtlCol="0" anchor="ctr"/>
          <a:lstStyle/>
          <a:p>
            <a:pPr indent="0" marL="0">
              <a:lnSpc>
                <a:spcPct val="120000"/>
              </a:lnSpc>
              <a:buNone/>
            </a:pPr>
            <a:r>
              <a:rPr lang="en-US" sz="1050" dirty="0">
                <a:solidFill>
                  <a:srgbClr val="5B6670"/>
                </a:solidFill>
                <a:latin typeface="Calibri" pitchFamily="34" charset="0"/>
                <a:ea typeface="Calibri" pitchFamily="34" charset="-122"/>
                <a:cs typeface="Calibri" pitchFamily="34" charset="-120"/>
              </a:rPr>
              <a:t>Confirm due-on-sale implications with the lender before anything moves.</a:t>
            </a:r>
            <a:endParaRPr lang="en-US" sz="1050" dirty="0"/>
          </a:p>
        </p:txBody>
      </p:sp>
      <p:sp>
        <p:nvSpPr>
          <p:cNvPr id="11" name="Shape 9"/>
          <p:cNvSpPr/>
          <p:nvPr/>
        </p:nvSpPr>
        <p:spPr>
          <a:xfrm>
            <a:off x="8046720" y="1417320"/>
            <a:ext cx="3383280" cy="1783080"/>
          </a:xfrm>
          <a:prstGeom prst="rect">
            <a:avLst>
              <a:gd name="adj" fmla="val 3590"/>
            </a:avLst>
          </a:prstGeom>
          <a:solidFill>
            <a:srgbClr val="F7F2EA"/>
          </a:solidFill>
          <a:ln/>
        </p:spPr>
      </p:sp>
      <p:sp>
        <p:nvSpPr>
          <p:cNvPr id="12" name="Text 10"/>
          <p:cNvSpPr/>
          <p:nvPr/>
        </p:nvSpPr>
        <p:spPr>
          <a:xfrm>
            <a:off x="8229600" y="1554480"/>
            <a:ext cx="548640" cy="457200"/>
          </a:xfrm>
          <a:prstGeom prst="rect">
            <a:avLst/>
          </a:prstGeom>
          <a:noFill/>
          <a:ln/>
        </p:spPr>
        <p:txBody>
          <a:bodyPr wrap="square" rtlCol="0" anchor="ctr"/>
          <a:lstStyle/>
          <a:p>
            <a:pPr indent="0" marL="0">
              <a:buNone/>
            </a:pPr>
            <a:r>
              <a:rPr lang="en-US" sz="2200" b="1" dirty="0">
                <a:solidFill>
                  <a:srgbClr val="8C7A54"/>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8229600" y="2011680"/>
            <a:ext cx="3017520" cy="502920"/>
          </a:xfrm>
          <a:prstGeom prst="rect">
            <a:avLst/>
          </a:prstGeom>
          <a:noFill/>
          <a:ln/>
        </p:spPr>
        <p:txBody>
          <a:bodyPr wrap="square" rtlCol="0" anchor="ctr"/>
          <a:lstStyle/>
          <a:p>
            <a:pPr indent="0" marL="0">
              <a:lnSpc>
                <a:spcPct val="110000"/>
              </a:lnSpc>
              <a:buNone/>
            </a:pPr>
            <a:r>
              <a:rPr lang="en-US" sz="1350" b="1" dirty="0">
                <a:solidFill>
                  <a:srgbClr val="24303A"/>
                </a:solidFill>
                <a:latin typeface="Cambria" pitchFamily="34" charset="0"/>
                <a:ea typeface="Cambria" pitchFamily="34" charset="-122"/>
                <a:cs typeface="Cambria" pitchFamily="34" charset="-120"/>
              </a:rPr>
              <a:t>Get a real valuation</a:t>
            </a:r>
            <a:endParaRPr lang="en-US" sz="1350" dirty="0"/>
          </a:p>
        </p:txBody>
      </p:sp>
      <p:sp>
        <p:nvSpPr>
          <p:cNvPr id="14" name="Text 12"/>
          <p:cNvSpPr/>
          <p:nvPr/>
        </p:nvSpPr>
        <p:spPr>
          <a:xfrm>
            <a:off x="8229600" y="2514600"/>
            <a:ext cx="3017520" cy="594360"/>
          </a:xfrm>
          <a:prstGeom prst="rect">
            <a:avLst/>
          </a:prstGeom>
          <a:noFill/>
          <a:ln/>
        </p:spPr>
        <p:txBody>
          <a:bodyPr wrap="square" rtlCol="0" anchor="ctr"/>
          <a:lstStyle/>
          <a:p>
            <a:pPr indent="0" marL="0">
              <a:lnSpc>
                <a:spcPct val="120000"/>
              </a:lnSpc>
              <a:buNone/>
            </a:pPr>
            <a:r>
              <a:rPr lang="en-US" sz="1050" dirty="0">
                <a:solidFill>
                  <a:srgbClr val="5B6670"/>
                </a:solidFill>
                <a:latin typeface="Calibri" pitchFamily="34" charset="0"/>
                <a:ea typeface="Calibri" pitchFamily="34" charset="-122"/>
                <a:cs typeface="Calibri" pitchFamily="34" charset="-120"/>
              </a:rPr>
              <a:t>An appraisal or documented basis at the time of transfer, not a guess.</a:t>
            </a:r>
            <a:endParaRPr lang="en-US" sz="1050" dirty="0"/>
          </a:p>
        </p:txBody>
      </p:sp>
      <p:sp>
        <p:nvSpPr>
          <p:cNvPr id="15" name="Shape 13"/>
          <p:cNvSpPr/>
          <p:nvPr/>
        </p:nvSpPr>
        <p:spPr>
          <a:xfrm>
            <a:off x="822960" y="3474720"/>
            <a:ext cx="3383280" cy="1783080"/>
          </a:xfrm>
          <a:prstGeom prst="rect">
            <a:avLst>
              <a:gd name="adj" fmla="val 3590"/>
            </a:avLst>
          </a:prstGeom>
          <a:solidFill>
            <a:srgbClr val="F7F2EA"/>
          </a:solidFill>
          <a:ln/>
        </p:spPr>
      </p:sp>
      <p:sp>
        <p:nvSpPr>
          <p:cNvPr id="16" name="Text 14"/>
          <p:cNvSpPr/>
          <p:nvPr/>
        </p:nvSpPr>
        <p:spPr>
          <a:xfrm>
            <a:off x="1005840" y="3611880"/>
            <a:ext cx="548640" cy="457200"/>
          </a:xfrm>
          <a:prstGeom prst="rect">
            <a:avLst/>
          </a:prstGeom>
          <a:noFill/>
          <a:ln/>
        </p:spPr>
        <p:txBody>
          <a:bodyPr wrap="square" rtlCol="0" anchor="ctr"/>
          <a:lstStyle/>
          <a:p>
            <a:pPr indent="0" marL="0">
              <a:buNone/>
            </a:pPr>
            <a:r>
              <a:rPr lang="en-US" sz="2200" b="1" dirty="0">
                <a:solidFill>
                  <a:srgbClr val="8C7A54"/>
                </a:solidFill>
                <a:latin typeface="Cambria" pitchFamily="34" charset="0"/>
                <a:ea typeface="Cambria" pitchFamily="34" charset="-122"/>
                <a:cs typeface="Cambria" pitchFamily="34" charset="-120"/>
              </a:rPr>
              <a:t>4</a:t>
            </a:r>
            <a:endParaRPr lang="en-US" sz="2200" dirty="0"/>
          </a:p>
        </p:txBody>
      </p:sp>
      <p:sp>
        <p:nvSpPr>
          <p:cNvPr id="17" name="Text 15"/>
          <p:cNvSpPr/>
          <p:nvPr/>
        </p:nvSpPr>
        <p:spPr>
          <a:xfrm>
            <a:off x="1005840" y="4069080"/>
            <a:ext cx="3017520" cy="502920"/>
          </a:xfrm>
          <a:prstGeom prst="rect">
            <a:avLst/>
          </a:prstGeom>
          <a:noFill/>
          <a:ln/>
        </p:spPr>
        <p:txBody>
          <a:bodyPr wrap="square" rtlCol="0" anchor="ctr"/>
          <a:lstStyle/>
          <a:p>
            <a:pPr indent="0" marL="0">
              <a:lnSpc>
                <a:spcPct val="110000"/>
              </a:lnSpc>
              <a:buNone/>
            </a:pPr>
            <a:r>
              <a:rPr lang="en-US" sz="1350" b="1" dirty="0">
                <a:solidFill>
                  <a:srgbClr val="24303A"/>
                </a:solidFill>
                <a:latin typeface="Cambria" pitchFamily="34" charset="0"/>
                <a:ea typeface="Cambria" pitchFamily="34" charset="-122"/>
                <a:cs typeface="Cambria" pitchFamily="34" charset="-120"/>
              </a:rPr>
              <a:t>Book payments correctly</a:t>
            </a:r>
            <a:endParaRPr lang="en-US" sz="1350" dirty="0"/>
          </a:p>
        </p:txBody>
      </p:sp>
      <p:sp>
        <p:nvSpPr>
          <p:cNvPr id="18" name="Text 16"/>
          <p:cNvSpPr/>
          <p:nvPr/>
        </p:nvSpPr>
        <p:spPr>
          <a:xfrm>
            <a:off x="1005840" y="4572000"/>
            <a:ext cx="3017520" cy="594360"/>
          </a:xfrm>
          <a:prstGeom prst="rect">
            <a:avLst/>
          </a:prstGeom>
          <a:noFill/>
          <a:ln/>
        </p:spPr>
        <p:txBody>
          <a:bodyPr wrap="square" rtlCol="0" anchor="ctr"/>
          <a:lstStyle/>
          <a:p>
            <a:pPr indent="0" marL="0">
              <a:lnSpc>
                <a:spcPct val="120000"/>
              </a:lnSpc>
              <a:buNone/>
            </a:pPr>
            <a:r>
              <a:rPr lang="en-US" sz="1050" dirty="0">
                <a:solidFill>
                  <a:srgbClr val="5B6670"/>
                </a:solidFill>
                <a:latin typeface="Calibri" pitchFamily="34" charset="0"/>
                <a:ea typeface="Calibri" pitchFamily="34" charset="-122"/>
                <a:cs typeface="Calibri" pitchFamily="34" charset="-120"/>
              </a:rPr>
              <a:t>Distributions or compensation, not a business expense.</a:t>
            </a:r>
            <a:endParaRPr lang="en-US" sz="1050" dirty="0"/>
          </a:p>
        </p:txBody>
      </p:sp>
      <p:sp>
        <p:nvSpPr>
          <p:cNvPr id="19" name="Shape 17"/>
          <p:cNvSpPr/>
          <p:nvPr/>
        </p:nvSpPr>
        <p:spPr>
          <a:xfrm>
            <a:off x="4434840" y="3474720"/>
            <a:ext cx="3383280" cy="1783080"/>
          </a:xfrm>
          <a:prstGeom prst="rect">
            <a:avLst>
              <a:gd name="adj" fmla="val 3590"/>
            </a:avLst>
          </a:prstGeom>
          <a:solidFill>
            <a:srgbClr val="F7F2EA"/>
          </a:solidFill>
          <a:ln/>
        </p:spPr>
      </p:sp>
      <p:sp>
        <p:nvSpPr>
          <p:cNvPr id="20" name="Text 18"/>
          <p:cNvSpPr/>
          <p:nvPr/>
        </p:nvSpPr>
        <p:spPr>
          <a:xfrm>
            <a:off x="4617720" y="3611880"/>
            <a:ext cx="548640" cy="457200"/>
          </a:xfrm>
          <a:prstGeom prst="rect">
            <a:avLst/>
          </a:prstGeom>
          <a:noFill/>
          <a:ln/>
        </p:spPr>
        <p:txBody>
          <a:bodyPr wrap="square" rtlCol="0" anchor="ctr"/>
          <a:lstStyle/>
          <a:p>
            <a:pPr indent="0" marL="0">
              <a:buNone/>
            </a:pPr>
            <a:r>
              <a:rPr lang="en-US" sz="2200" b="1" dirty="0">
                <a:solidFill>
                  <a:srgbClr val="8C7A54"/>
                </a:solidFill>
                <a:latin typeface="Cambria" pitchFamily="34" charset="0"/>
                <a:ea typeface="Cambria" pitchFamily="34" charset="-122"/>
                <a:cs typeface="Cambria" pitchFamily="34" charset="-120"/>
              </a:rPr>
              <a:t>5</a:t>
            </a:r>
            <a:endParaRPr lang="en-US" sz="2200" dirty="0"/>
          </a:p>
        </p:txBody>
      </p:sp>
      <p:sp>
        <p:nvSpPr>
          <p:cNvPr id="21" name="Text 19"/>
          <p:cNvSpPr/>
          <p:nvPr/>
        </p:nvSpPr>
        <p:spPr>
          <a:xfrm>
            <a:off x="4617720" y="4069080"/>
            <a:ext cx="3017520" cy="502920"/>
          </a:xfrm>
          <a:prstGeom prst="rect">
            <a:avLst/>
          </a:prstGeom>
          <a:noFill/>
          <a:ln/>
        </p:spPr>
        <p:txBody>
          <a:bodyPr wrap="square" rtlCol="0" anchor="ctr"/>
          <a:lstStyle/>
          <a:p>
            <a:pPr indent="0" marL="0">
              <a:lnSpc>
                <a:spcPct val="110000"/>
              </a:lnSpc>
              <a:buNone/>
            </a:pPr>
            <a:r>
              <a:rPr lang="en-US" sz="1350" b="1" dirty="0">
                <a:solidFill>
                  <a:srgbClr val="24303A"/>
                </a:solidFill>
                <a:latin typeface="Cambria" pitchFamily="34" charset="0"/>
                <a:ea typeface="Cambria" pitchFamily="34" charset="-122"/>
                <a:cs typeface="Cambria" pitchFamily="34" charset="-120"/>
              </a:rPr>
              <a:t>Track basis and depreciation</a:t>
            </a:r>
            <a:endParaRPr lang="en-US" sz="1350" dirty="0"/>
          </a:p>
        </p:txBody>
      </p:sp>
      <p:sp>
        <p:nvSpPr>
          <p:cNvPr id="22" name="Text 20"/>
          <p:cNvSpPr/>
          <p:nvPr/>
        </p:nvSpPr>
        <p:spPr>
          <a:xfrm>
            <a:off x="4617720" y="4572000"/>
            <a:ext cx="3017520" cy="594360"/>
          </a:xfrm>
          <a:prstGeom prst="rect">
            <a:avLst/>
          </a:prstGeom>
          <a:noFill/>
          <a:ln/>
        </p:spPr>
        <p:txBody>
          <a:bodyPr wrap="square" rtlCol="0" anchor="ctr"/>
          <a:lstStyle/>
          <a:p>
            <a:pPr indent="0" marL="0">
              <a:lnSpc>
                <a:spcPct val="120000"/>
              </a:lnSpc>
              <a:buNone/>
            </a:pPr>
            <a:r>
              <a:rPr lang="en-US" sz="1050" dirty="0">
                <a:solidFill>
                  <a:srgbClr val="5B6670"/>
                </a:solidFill>
                <a:latin typeface="Calibri" pitchFamily="34" charset="0"/>
                <a:ea typeface="Calibri" pitchFamily="34" charset="-122"/>
                <a:cs typeface="Calibri" pitchFamily="34" charset="-120"/>
              </a:rPr>
              <a:t>Once the contribution is properly recorded, from that point forward.</a:t>
            </a:r>
            <a:endParaRPr lang="en-US" sz="1050" dirty="0"/>
          </a:p>
        </p:txBody>
      </p:sp>
      <p:sp>
        <p:nvSpPr>
          <p:cNvPr id="23" name="Shape 21"/>
          <p:cNvSpPr/>
          <p:nvPr/>
        </p:nvSpPr>
        <p:spPr>
          <a:xfrm>
            <a:off x="8046720" y="3474720"/>
            <a:ext cx="3383280" cy="1783080"/>
          </a:xfrm>
          <a:prstGeom prst="rect">
            <a:avLst>
              <a:gd name="adj" fmla="val 3590"/>
            </a:avLst>
          </a:prstGeom>
          <a:solidFill>
            <a:srgbClr val="F7F2EA"/>
          </a:solidFill>
          <a:ln/>
        </p:spPr>
      </p:sp>
      <p:sp>
        <p:nvSpPr>
          <p:cNvPr id="24" name="Text 22"/>
          <p:cNvSpPr/>
          <p:nvPr/>
        </p:nvSpPr>
        <p:spPr>
          <a:xfrm>
            <a:off x="8229600" y="3611880"/>
            <a:ext cx="548640" cy="457200"/>
          </a:xfrm>
          <a:prstGeom prst="rect">
            <a:avLst/>
          </a:prstGeom>
          <a:noFill/>
          <a:ln/>
        </p:spPr>
        <p:txBody>
          <a:bodyPr wrap="square" rtlCol="0" anchor="ctr"/>
          <a:lstStyle/>
          <a:p>
            <a:pPr indent="0" marL="0">
              <a:buNone/>
            </a:pPr>
            <a:r>
              <a:rPr lang="en-US" sz="2200" b="1" dirty="0">
                <a:solidFill>
                  <a:srgbClr val="8C7A54"/>
                </a:solidFill>
                <a:latin typeface="Cambria" pitchFamily="34" charset="0"/>
                <a:ea typeface="Cambria" pitchFamily="34" charset="-122"/>
                <a:cs typeface="Cambria" pitchFamily="34" charset="-120"/>
              </a:rPr>
              <a:t>6</a:t>
            </a:r>
            <a:endParaRPr lang="en-US" sz="2200" dirty="0"/>
          </a:p>
        </p:txBody>
      </p:sp>
      <p:sp>
        <p:nvSpPr>
          <p:cNvPr id="25" name="Text 23"/>
          <p:cNvSpPr/>
          <p:nvPr/>
        </p:nvSpPr>
        <p:spPr>
          <a:xfrm>
            <a:off x="8229600" y="4069080"/>
            <a:ext cx="3017520" cy="502920"/>
          </a:xfrm>
          <a:prstGeom prst="rect">
            <a:avLst/>
          </a:prstGeom>
          <a:noFill/>
          <a:ln/>
        </p:spPr>
        <p:txBody>
          <a:bodyPr wrap="square" rtlCol="0" anchor="ctr"/>
          <a:lstStyle/>
          <a:p>
            <a:pPr indent="0" marL="0">
              <a:lnSpc>
                <a:spcPct val="110000"/>
              </a:lnSpc>
              <a:buNone/>
            </a:pPr>
            <a:r>
              <a:rPr lang="en-US" sz="1350" b="1" dirty="0">
                <a:solidFill>
                  <a:srgbClr val="24303A"/>
                </a:solidFill>
                <a:latin typeface="Cambria" pitchFamily="34" charset="0"/>
                <a:ea typeface="Cambria" pitchFamily="34" charset="-122"/>
                <a:cs typeface="Cambria" pitchFamily="34" charset="-120"/>
              </a:rPr>
              <a:t>Question if it belongs there</a:t>
            </a:r>
            <a:endParaRPr lang="en-US" sz="1350" dirty="0"/>
          </a:p>
        </p:txBody>
      </p:sp>
      <p:sp>
        <p:nvSpPr>
          <p:cNvPr id="26" name="Text 24"/>
          <p:cNvSpPr/>
          <p:nvPr/>
        </p:nvSpPr>
        <p:spPr>
          <a:xfrm>
            <a:off x="8229600" y="4572000"/>
            <a:ext cx="3017520" cy="594360"/>
          </a:xfrm>
          <a:prstGeom prst="rect">
            <a:avLst/>
          </a:prstGeom>
          <a:noFill/>
          <a:ln/>
        </p:spPr>
        <p:txBody>
          <a:bodyPr wrap="square" rtlCol="0" anchor="ctr"/>
          <a:lstStyle/>
          <a:p>
            <a:pPr indent="0" marL="0">
              <a:lnSpc>
                <a:spcPct val="120000"/>
              </a:lnSpc>
              <a:buNone/>
            </a:pPr>
            <a:r>
              <a:rPr lang="en-US" sz="1050" dirty="0">
                <a:solidFill>
                  <a:srgbClr val="5B6670"/>
                </a:solidFill>
                <a:latin typeface="Calibri" pitchFamily="34" charset="0"/>
                <a:ea typeface="Calibri" pitchFamily="34" charset="-122"/>
                <a:cs typeface="Calibri" pitchFamily="34" charset="-120"/>
              </a:rPr>
              <a:t>Sometimes the right fix is taking the asset back out, not documenting it better.</a:t>
            </a:r>
            <a:endParaRPr lang="en-US" sz="1050" dirty="0"/>
          </a:p>
        </p:txBody>
      </p:sp>
      <p:sp>
        <p:nvSpPr>
          <p:cNvPr id="27" name="Text 25"/>
          <p:cNvSpPr/>
          <p:nvPr/>
        </p:nvSpPr>
        <p:spPr>
          <a:xfrm>
            <a:off x="548640" y="6355080"/>
            <a:ext cx="5486400" cy="274320"/>
          </a:xfrm>
          <a:prstGeom prst="rect">
            <a:avLst/>
          </a:prstGeom>
          <a:noFill/>
          <a:ln/>
        </p:spPr>
        <p:txBody>
          <a:bodyPr wrap="square" rtlCol="0" anchor="ctr"/>
          <a:lstStyle/>
          <a:p>
            <a:pPr indent="0" marL="0">
              <a:buNone/>
            </a:pPr>
            <a:r>
              <a:rPr lang="en-US" sz="800" spc="100" kern="0" dirty="0">
                <a:solidFill>
                  <a:srgbClr val="8C7A54"/>
                </a:solidFill>
                <a:latin typeface="Courier New" pitchFamily="34" charset="0"/>
                <a:ea typeface="Courier New" pitchFamily="34" charset="-122"/>
                <a:cs typeface="Courier New" pitchFamily="34" charset="-120"/>
              </a:rPr>
              <a:t>N Á C A R   &amp;   L E D G E R</a:t>
            </a:r>
            <a:endParaRPr lang="en-US" sz="800" dirty="0"/>
          </a:p>
        </p:txBody>
      </p:sp>
      <p:sp>
        <p:nvSpPr>
          <p:cNvPr id="28" name="Text 26"/>
          <p:cNvSpPr/>
          <p:nvPr/>
        </p:nvSpPr>
        <p:spPr>
          <a:xfrm>
            <a:off x="11185855" y="6355080"/>
            <a:ext cx="457200" cy="274320"/>
          </a:xfrm>
          <a:prstGeom prst="rect">
            <a:avLst/>
          </a:prstGeom>
          <a:noFill/>
          <a:ln/>
        </p:spPr>
        <p:txBody>
          <a:bodyPr wrap="square" rtlCol="0" anchor="ctr"/>
          <a:lstStyle/>
          <a:p>
            <a:pPr algn="r" indent="0" marL="0">
              <a:buNone/>
            </a:pPr>
            <a:r>
              <a:rPr lang="en-US" sz="800" dirty="0">
                <a:solidFill>
                  <a:srgbClr val="5B6670"/>
                </a:solidFill>
                <a:latin typeface="Courier New" pitchFamily="34" charset="0"/>
                <a:ea typeface="Courier New" pitchFamily="34" charset="-122"/>
                <a:cs typeface="Courier New"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822960" y="2286000"/>
            <a:ext cx="2011680" cy="0"/>
          </a:xfrm>
          <a:prstGeom prst="line">
            <a:avLst/>
          </a:prstGeom>
          <a:noFill/>
          <a:ln w="19050">
            <a:solidFill>
              <a:srgbClr val="C9A97E"/>
            </a:solidFill>
            <a:prstDash val="solid"/>
          </a:ln>
        </p:spPr>
      </p:sp>
      <p:sp>
        <p:nvSpPr>
          <p:cNvPr id="3" name="Text 1"/>
          <p:cNvSpPr/>
          <p:nvPr/>
        </p:nvSpPr>
        <p:spPr>
          <a:xfrm>
            <a:off x="822960" y="2514600"/>
            <a:ext cx="10515600" cy="11887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Untangle It Before Someone Else Does</a:t>
            </a:r>
            <a:endParaRPr lang="en-US" sz="3000" dirty="0"/>
          </a:p>
        </p:txBody>
      </p:sp>
      <p:sp>
        <p:nvSpPr>
          <p:cNvPr id="4" name="Text 2"/>
          <p:cNvSpPr/>
          <p:nvPr/>
        </p:nvSpPr>
        <p:spPr>
          <a:xfrm>
            <a:off x="822960" y="3703320"/>
            <a:ext cx="9144000" cy="822960"/>
          </a:xfrm>
          <a:prstGeom prst="rect">
            <a:avLst/>
          </a:prstGeom>
          <a:noFill/>
          <a:ln/>
        </p:spPr>
        <p:txBody>
          <a:bodyPr wrap="square" rtlCol="0" anchor="ctr"/>
          <a:lstStyle/>
          <a:p>
            <a:pPr indent="0" marL="0">
              <a:lnSpc>
                <a:spcPct val="135000"/>
              </a:lnSpc>
              <a:buNone/>
            </a:pPr>
            <a:r>
              <a:rPr lang="en-US" sz="1400" dirty="0">
                <a:solidFill>
                  <a:srgbClr val="CADCFC"/>
                </a:solidFill>
                <a:latin typeface="Calibri" pitchFamily="34" charset="0"/>
                <a:ea typeface="Calibri" pitchFamily="34" charset="-122"/>
                <a:cs typeface="Calibri" pitchFamily="34" charset="-120"/>
              </a:rPr>
              <a:t>A properly documented transfer — or no transfer at all — protects both the asset and the entity it was supposed to protect in the first place.</a:t>
            </a:r>
            <a:endParaRPr lang="en-US" sz="1400" dirty="0"/>
          </a:p>
        </p:txBody>
      </p:sp>
      <p:sp>
        <p:nvSpPr>
          <p:cNvPr id="5" name="Text 3"/>
          <p:cNvSpPr/>
          <p:nvPr/>
        </p:nvSpPr>
        <p:spPr>
          <a:xfrm>
            <a:off x="822960" y="5074920"/>
            <a:ext cx="7315200" cy="365760"/>
          </a:xfrm>
          <a:prstGeom prst="rect">
            <a:avLst/>
          </a:prstGeom>
          <a:noFill/>
          <a:ln/>
        </p:spPr>
        <p:txBody>
          <a:bodyPr wrap="square" rtlCol="0" anchor="ctr"/>
          <a:lstStyle/>
          <a:p>
            <a:pPr indent="0" marL="0">
              <a:buNone/>
            </a:pPr>
            <a:r>
              <a:rPr lang="en-US" sz="1500" b="1" dirty="0">
                <a:solidFill>
                  <a:srgbClr val="C9A97E"/>
                </a:solidFill>
                <a:latin typeface="Cambria" pitchFamily="34" charset="0"/>
                <a:ea typeface="Cambria" pitchFamily="34" charset="-122"/>
                <a:cs typeface="Cambria" pitchFamily="34" charset="-120"/>
              </a:rPr>
              <a:t>NÁCAR &amp; LEDGER</a:t>
            </a:r>
            <a:endParaRPr lang="en-US" sz="1500" dirty="0"/>
          </a:p>
        </p:txBody>
      </p:sp>
      <p:sp>
        <p:nvSpPr>
          <p:cNvPr id="6" name="Text 4"/>
          <p:cNvSpPr/>
          <p:nvPr/>
        </p:nvSpPr>
        <p:spPr>
          <a:xfrm>
            <a:off x="822960" y="5440680"/>
            <a:ext cx="8229600" cy="365760"/>
          </a:xfrm>
          <a:prstGeom prst="rect">
            <a:avLst/>
          </a:prstGeom>
          <a:noFill/>
          <a:ln/>
        </p:spPr>
        <p:txBody>
          <a:bodyPr wrap="square" rtlCol="0" anchor="ctr"/>
          <a:lstStyle/>
          <a:p>
            <a:pPr indent="0" marL="0">
              <a:buNone/>
            </a:pPr>
            <a:r>
              <a:rPr lang="en-US" sz="1200" dirty="0">
                <a:solidFill>
                  <a:srgbClr val="9FB0B8"/>
                </a:solidFill>
                <a:latin typeface="Calibri" pitchFamily="34" charset="0"/>
                <a:ea typeface="Calibri" pitchFamily="34" charset="-122"/>
                <a:cs typeface="Calibri" pitchFamily="34" charset="-120"/>
              </a:rPr>
              <a:t>Financial &amp; Operations Consulting for Providence's Small Businesses</a:t>
            </a:r>
            <a:endParaRPr lang="en-US" sz="1200" dirty="0"/>
          </a:p>
        </p:txBody>
      </p:sp>
      <p:sp>
        <p:nvSpPr>
          <p:cNvPr id="7" name="Text 5"/>
          <p:cNvSpPr/>
          <p:nvPr/>
        </p:nvSpPr>
        <p:spPr>
          <a:xfrm>
            <a:off x="822960" y="5806440"/>
            <a:ext cx="8229600" cy="365760"/>
          </a:xfrm>
          <a:prstGeom prst="rect">
            <a:avLst/>
          </a:prstGeom>
          <a:noFill/>
          <a:ln/>
        </p:spPr>
        <p:txBody>
          <a:bodyPr wrap="square" rtlCol="0" anchor="ctr"/>
          <a:lstStyle/>
          <a:p>
            <a:pPr indent="0" marL="0">
              <a:buNone/>
            </a:pPr>
            <a:r>
              <a:rPr lang="en-US" sz="1200" dirty="0">
                <a:solidFill>
                  <a:srgbClr val="9FB0B8"/>
                </a:solidFill>
                <a:latin typeface="Calibri" pitchFamily="34" charset="0"/>
                <a:ea typeface="Calibri" pitchFamily="34" charset="-122"/>
                <a:cs typeface="Calibri" pitchFamily="34" charset="-120"/>
              </a:rPr>
              <a:t>nacarledger@outlook.com   |   nacarledger.com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2026-07-31T23:16:29Z</dcterms:created>
  <dcterms:modified xsi:type="dcterms:W3CDTF">2026-07-31T23:16:29Z</dcterms:modified>
</cp:coreProperties>
</file>