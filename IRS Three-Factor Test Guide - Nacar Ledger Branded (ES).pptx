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image" Target="../media/image-12-2.png"/><Relationship Id="rId6" Type="http://schemas.openxmlformats.org/officeDocument/2006/relationships/image" Target="../media/image-12-2.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2.png"/><Relationship Id="rId4" Type="http://schemas.openxmlformats.org/officeDocument/2006/relationships/image" Target="../media/image-15-2.png"/><Relationship Id="rId5" Type="http://schemas.openxmlformats.org/officeDocument/2006/relationships/image" Target="../media/image-15-2.png"/><Relationship Id="rId6" Type="http://schemas.openxmlformats.org/officeDocument/2006/relationships/image" Target="../media/image-15-2.png"/><Relationship Id="rId7" Type="http://schemas.openxmlformats.org/officeDocument/2006/relationships/image" Target="../media/image-15-2.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0E3A5F"/>
          </a:solidFill>
          <a:ln/>
        </p:spPr>
      </p:sp>
      <p:sp>
        <p:nvSpPr>
          <p:cNvPr id="3" name="Shape 1"/>
          <p:cNvSpPr/>
          <p:nvPr/>
        </p:nvSpPr>
        <p:spPr>
          <a:xfrm>
            <a:off x="-1645920" y="4754880"/>
            <a:ext cx="3657600" cy="3657600"/>
          </a:xfrm>
          <a:prstGeom prst="ellipse">
            <a:avLst/>
          </a:prstGeom>
          <a:solidFill>
            <a:srgbClr val="0E3A5F"/>
          </a:solidFill>
          <a:ln/>
        </p:spPr>
      </p:sp>
      <p:sp>
        <p:nvSpPr>
          <p:cNvPr id="4" name="Text 2"/>
          <p:cNvSpPr/>
          <p:nvPr/>
        </p:nvSpPr>
        <p:spPr>
          <a:xfrm>
            <a:off x="548640" y="457200"/>
            <a:ext cx="5486400" cy="365760"/>
          </a:xfrm>
          <a:prstGeom prst="rect">
            <a:avLst/>
          </a:prstGeom>
          <a:noFill/>
          <a:ln/>
        </p:spPr>
        <p:txBody>
          <a:bodyPr wrap="square" lIns="0" tIns="0" rIns="0" bIns="0" rtlCol="0" anchor="ctr"/>
          <a:lstStyle/>
          <a:p>
            <a:pPr indent="0" marL="0">
              <a:buNone/>
            </a:pPr>
            <a:r>
              <a:rPr lang="en-US" sz="1300" b="1" spc="300" kern="0" dirty="0">
                <a:solidFill>
                  <a:srgbClr val="C7D2D6"/>
                </a:solidFill>
                <a:latin typeface="Calibri" pitchFamily="34" charset="0"/>
                <a:ea typeface="Calibri" pitchFamily="34" charset="-122"/>
                <a:cs typeface="Calibri" pitchFamily="34" charset="-120"/>
              </a:rPr>
              <a:t>NÁCAR &amp; LEDGER</a:t>
            </a:r>
            <a:endParaRPr lang="en-US" sz="1300" dirty="0"/>
          </a:p>
        </p:txBody>
      </p:sp>
      <p:sp>
        <p:nvSpPr>
          <p:cNvPr id="5" name="Text 3"/>
          <p:cNvSpPr/>
          <p:nvPr/>
        </p:nvSpPr>
        <p:spPr>
          <a:xfrm>
            <a:off x="548640" y="2286000"/>
            <a:ext cx="10515600" cy="12801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¿Empleado o Contratista?</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Cómo Lo Decide Realmente el IRS</a:t>
            </a:r>
            <a:endParaRPr lang="en-US" sz="4000" dirty="0"/>
          </a:p>
        </p:txBody>
      </p:sp>
      <p:sp>
        <p:nvSpPr>
          <p:cNvPr id="6" name="Text 4"/>
          <p:cNvSpPr/>
          <p:nvPr/>
        </p:nvSpPr>
        <p:spPr>
          <a:xfrm>
            <a:off x="548640" y="3429000"/>
            <a:ext cx="9601200" cy="640080"/>
          </a:xfrm>
          <a:prstGeom prst="rect">
            <a:avLst/>
          </a:prstGeom>
          <a:noFill/>
          <a:ln/>
        </p:spPr>
        <p:txBody>
          <a:bodyPr wrap="square" lIns="0" tIns="0" rIns="0" bIns="0" rtlCol="0" anchor="ctr"/>
          <a:lstStyle/>
          <a:p>
            <a:pPr indent="0" marL="0">
              <a:buNone/>
            </a:pPr>
            <a:r>
              <a:rPr lang="en-US" sz="2000" dirty="0">
                <a:solidFill>
                  <a:srgbClr val="C7D2D6"/>
                </a:solidFill>
                <a:latin typeface="Calibri" pitchFamily="34" charset="0"/>
                <a:ea typeface="Calibri" pitchFamily="34" charset="-122"/>
                <a:cs typeface="Calibri" pitchFamily="34" charset="-120"/>
              </a:rPr>
              <a:t>Una Guía en Lenguaje Sencillo sobre Clasificación de Trabajadores</a:t>
            </a:r>
            <a:endParaRPr lang="en-US" sz="2000" dirty="0"/>
          </a:p>
        </p:txBody>
      </p:sp>
      <p:sp>
        <p:nvSpPr>
          <p:cNvPr id="7" name="Text 5"/>
          <p:cNvSpPr/>
          <p:nvPr/>
        </p:nvSpPr>
        <p:spPr>
          <a:xfrm>
            <a:off x="548640" y="5943600"/>
            <a:ext cx="96012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La Referencia Fundamental para Toda Decisión W-2 vs. 1099</a:t>
            </a:r>
            <a:endParaRPr lang="en-US" sz="1300" dirty="0"/>
          </a:p>
        </p:txBody>
      </p:sp>
      <p:sp>
        <p:nvSpPr>
          <p:cNvPr id="8" name="Text 6"/>
          <p:cNvSpPr/>
          <p:nvPr/>
        </p:nvSpPr>
        <p:spPr>
          <a:xfrm>
            <a:off x="548640" y="6309360"/>
            <a:ext cx="9144000" cy="320040"/>
          </a:xfrm>
          <a:prstGeom prst="rect">
            <a:avLst/>
          </a:prstGeom>
          <a:noFill/>
          <a:ln/>
        </p:spPr>
        <p:txBody>
          <a:bodyPr wrap="square" lIns="0" tIns="0" rIns="0" bIns="0" rtlCol="0" anchor="ctr"/>
          <a:lstStyle/>
          <a:p>
            <a:pPr indent="0" marL="0">
              <a:buNone/>
            </a:pPr>
            <a:r>
              <a:rPr lang="en-US" sz="1200" dirty="0">
                <a:solidFill>
                  <a:srgbClr val="C7D2D6"/>
                </a:solidFill>
                <a:latin typeface="Calibri" pitchFamily="34" charset="0"/>
                <a:ea typeface="Calibri" pitchFamily="34" charset="-122"/>
                <a:cs typeface="Calibri" pitchFamily="34" charset="-120"/>
              </a:rPr>
              <a:t>nacarledger.com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081F33"/>
                </a:solidFill>
                <a:latin typeface="Cambria" pitchFamily="34" charset="0"/>
                <a:ea typeface="Cambria" pitchFamily="34" charset="-122"/>
                <a:cs typeface="Cambria" pitchFamily="34" charset="-120"/>
              </a:rPr>
              <a:t>Qué Cubriremos</a:t>
            </a:r>
            <a:endParaRPr lang="en-US" sz="3200" dirty="0"/>
          </a:p>
        </p:txBody>
      </p:sp>
      <p:sp>
        <p:nvSpPr>
          <p:cNvPr id="3" name="Shape 1"/>
          <p:cNvSpPr/>
          <p:nvPr/>
        </p:nvSpPr>
        <p:spPr>
          <a:xfrm>
            <a:off x="548640" y="1417320"/>
            <a:ext cx="502920" cy="502920"/>
          </a:xfrm>
          <a:prstGeom prst="ellipse">
            <a:avLst/>
          </a:prstGeom>
          <a:solidFill>
            <a:srgbClr val="081F33"/>
          </a:solidFill>
          <a:ln/>
        </p:spPr>
      </p:sp>
      <p:sp>
        <p:nvSpPr>
          <p:cNvPr id="4" name="Text 2"/>
          <p:cNvSpPr/>
          <p:nvPr/>
        </p:nvSpPr>
        <p:spPr>
          <a:xfrm>
            <a:off x="54864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5" name="Text 3"/>
          <p:cNvSpPr/>
          <p:nvPr/>
        </p:nvSpPr>
        <p:spPr>
          <a:xfrm>
            <a:off x="1280160" y="141732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Por qué esta única prueba sustenta casi toda pregunta de clasificación</a:t>
            </a:r>
            <a:endParaRPr lang="en-US" sz="1600" dirty="0"/>
          </a:p>
        </p:txBody>
      </p:sp>
      <p:sp>
        <p:nvSpPr>
          <p:cNvPr id="6" name="Shape 4"/>
          <p:cNvSpPr/>
          <p:nvPr/>
        </p:nvSpPr>
        <p:spPr>
          <a:xfrm>
            <a:off x="548640" y="2194560"/>
            <a:ext cx="502920" cy="502920"/>
          </a:xfrm>
          <a:prstGeom prst="ellipse">
            <a:avLst/>
          </a:prstGeom>
          <a:solidFill>
            <a:srgbClr val="081F33"/>
          </a:solidFill>
          <a:ln/>
        </p:spPr>
      </p:sp>
      <p:sp>
        <p:nvSpPr>
          <p:cNvPr id="7" name="Text 5"/>
          <p:cNvSpPr/>
          <p:nvPr/>
        </p:nvSpPr>
        <p:spPr>
          <a:xfrm>
            <a:off x="548640" y="2194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8" name="Text 6"/>
          <p:cNvSpPr/>
          <p:nvPr/>
        </p:nvSpPr>
        <p:spPr>
          <a:xfrm>
            <a:off x="1280160" y="219456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Los tres factores, y cómo el IRS los pondera juntos</a:t>
            </a:r>
            <a:endParaRPr lang="en-US" sz="1600" dirty="0"/>
          </a:p>
        </p:txBody>
      </p:sp>
      <p:sp>
        <p:nvSpPr>
          <p:cNvPr id="9" name="Shape 7"/>
          <p:cNvSpPr/>
          <p:nvPr/>
        </p:nvSpPr>
        <p:spPr>
          <a:xfrm>
            <a:off x="548640" y="2971800"/>
            <a:ext cx="502920" cy="502920"/>
          </a:xfrm>
          <a:prstGeom prst="ellipse">
            <a:avLst/>
          </a:prstGeom>
          <a:solidFill>
            <a:srgbClr val="081F33"/>
          </a:solidFill>
          <a:ln/>
        </p:spPr>
      </p:sp>
      <p:sp>
        <p:nvSpPr>
          <p:cNvPr id="10" name="Text 8"/>
          <p:cNvSpPr/>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1" name="Text 9"/>
          <p:cNvSpPr/>
          <p:nvPr/>
        </p:nvSpPr>
        <p:spPr>
          <a:xfrm>
            <a:off x="1280160" y="297180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Cada factor explicado en lenguaje sencillo, con señales reales a buscar</a:t>
            </a:r>
            <a:endParaRPr lang="en-US" sz="1600" dirty="0"/>
          </a:p>
        </p:txBody>
      </p:sp>
      <p:sp>
        <p:nvSpPr>
          <p:cNvPr id="12" name="Shape 10"/>
          <p:cNvSpPr/>
          <p:nvPr/>
        </p:nvSpPr>
        <p:spPr>
          <a:xfrm>
            <a:off x="548640" y="3749040"/>
            <a:ext cx="502920" cy="502920"/>
          </a:xfrm>
          <a:prstGeom prst="ellipse">
            <a:avLst/>
          </a:prstGeom>
          <a:solidFill>
            <a:srgbClr val="081F33"/>
          </a:solidFill>
          <a:ln/>
        </p:spPr>
      </p:sp>
      <p:sp>
        <p:nvSpPr>
          <p:cNvPr id="13" name="Text 11"/>
          <p:cNvSpPr/>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4" name="Text 12"/>
          <p:cNvSpPr/>
          <p:nvPr/>
        </p:nvSpPr>
        <p:spPr>
          <a:xfrm>
            <a:off x="1280160" y="374904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Mitos comunes que meten en problemas a dueños de negocio cuidadosos</a:t>
            </a:r>
            <a:endParaRPr lang="en-US" sz="1600" dirty="0"/>
          </a:p>
        </p:txBody>
      </p:sp>
      <p:sp>
        <p:nvSpPr>
          <p:cNvPr id="15" name="Shape 13"/>
          <p:cNvSpPr/>
          <p:nvPr/>
        </p:nvSpPr>
        <p:spPr>
          <a:xfrm>
            <a:off x="548640" y="4526280"/>
            <a:ext cx="502920" cy="502920"/>
          </a:xfrm>
          <a:prstGeom prst="ellipse">
            <a:avLst/>
          </a:prstGeom>
          <a:solidFill>
            <a:srgbClr val="081F33"/>
          </a:solidFill>
          <a:ln/>
        </p:spPr>
      </p:sp>
      <p:sp>
        <p:nvSpPr>
          <p:cNvPr id="16" name="Text 14"/>
          <p:cNvSpPr/>
          <p:nvPr/>
        </p:nvSpPr>
        <p:spPr>
          <a:xfrm>
            <a:off x="548640" y="4526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17" name="Text 15"/>
          <p:cNvSpPr/>
          <p:nvPr/>
        </p:nvSpPr>
        <p:spPr>
          <a:xfrm>
            <a:off x="1280160" y="452628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Qué cuesta realmente una mala clasificación, y cómo documentar tu posición</a:t>
            </a:r>
            <a:endParaRPr lang="en-US" sz="1600" dirty="0"/>
          </a:p>
        </p:txBody>
      </p:sp>
      <p:sp>
        <p:nvSpPr>
          <p:cNvPr id="18" name="Shape 16"/>
          <p:cNvSpPr/>
          <p:nvPr/>
        </p:nvSpPr>
        <p:spPr>
          <a:xfrm>
            <a:off x="548640" y="5303520"/>
            <a:ext cx="502920" cy="502920"/>
          </a:xfrm>
          <a:prstGeom prst="ellipse">
            <a:avLst/>
          </a:prstGeom>
          <a:solidFill>
            <a:srgbClr val="081F33"/>
          </a:solidFill>
          <a:ln/>
        </p:spPr>
      </p:sp>
      <p:sp>
        <p:nvSpPr>
          <p:cNvPr id="19" name="Text 17"/>
          <p:cNvSpPr/>
          <p:nvPr/>
        </p:nvSpPr>
        <p:spPr>
          <a:xfrm>
            <a:off x="548640" y="5303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20" name="Text 18"/>
          <p:cNvSpPr/>
          <p:nvPr/>
        </p:nvSpPr>
        <p:spPr>
          <a:xfrm>
            <a:off x="1280160" y="530352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Cómo obtener certeza real cuando un caso es genuinamente incierto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548640" y="457200"/>
            <a:ext cx="105156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Una Prueba, Casi Toda Decisión</a:t>
            </a:r>
            <a:endParaRPr lang="en-US" sz="3200" dirty="0"/>
          </a:p>
        </p:txBody>
      </p:sp>
      <p:sp>
        <p:nvSpPr>
          <p:cNvPr id="3" name="Text 1"/>
          <p:cNvSpPr/>
          <p:nvPr/>
        </p:nvSpPr>
        <p:spPr>
          <a:xfrm>
            <a:off x="548640" y="1417320"/>
            <a:ext cx="5577840" cy="1554480"/>
          </a:xfrm>
          <a:prstGeom prst="rect">
            <a:avLst/>
          </a:prstGeom>
          <a:noFill/>
          <a:ln/>
        </p:spPr>
        <p:txBody>
          <a:bodyPr wrap="square" lIns="0" tIns="0" rIns="0" bIns="0" rtlCol="0" anchor="ctr"/>
          <a:lstStyle/>
          <a:p>
            <a:pPr indent="0" marL="0">
              <a:lnSpc>
                <a:spcPct val="130000"/>
              </a:lnSpc>
              <a:buNone/>
            </a:pPr>
            <a:r>
              <a:rPr lang="en-US" sz="1600" dirty="0">
                <a:solidFill>
                  <a:srgbClr val="C7D2D6"/>
                </a:solidFill>
                <a:latin typeface="Calibri" pitchFamily="34" charset="0"/>
                <a:ea typeface="Calibri" pitchFamily="34" charset="-122"/>
                <a:cs typeface="Calibri" pitchFamily="34" charset="-120"/>
              </a:rPr>
              <a:t>Ya sea que estés contratando a tu primer contratista, revisando a un trabajador que has tenido por años, o respondiendo una pregunta de tu contador, casi siempre se reduce a este mismo marco.</a:t>
            </a:r>
            <a:endParaRPr lang="en-US" sz="1600" dirty="0"/>
          </a:p>
        </p:txBody>
      </p:sp>
      <p:sp>
        <p:nvSpPr>
          <p:cNvPr id="4" name="Text 2"/>
          <p:cNvSpPr/>
          <p:nvPr/>
        </p:nvSpPr>
        <p:spPr>
          <a:xfrm>
            <a:off x="548640" y="3108960"/>
            <a:ext cx="5577840" cy="1554480"/>
          </a:xfrm>
          <a:prstGeom prst="rect">
            <a:avLst/>
          </a:prstGeom>
          <a:noFill/>
          <a:ln/>
        </p:spPr>
        <p:txBody>
          <a:bodyPr wrap="square" lIns="0" tIns="0" rIns="0" bIns="0" rtlCol="0" anchor="ctr"/>
          <a:lstStyle/>
          <a:p>
            <a:pPr indent="0" marL="0">
              <a:lnSpc>
                <a:spcPct val="130000"/>
              </a:lnSpc>
              <a:buNone/>
            </a:pPr>
            <a:r>
              <a:rPr lang="en-US" sz="1400" dirty="0">
                <a:solidFill>
                  <a:srgbClr val="C7D2D6"/>
                </a:solidFill>
                <a:latin typeface="Calibri" pitchFamily="34" charset="0"/>
                <a:ea typeface="Calibri" pitchFamily="34" charset="-122"/>
                <a:cs typeface="Calibri" pitchFamily="34" charset="-120"/>
              </a:rPr>
              <a:t>El IRS la llama la </a:t>
            </a:r>
            <a:pPr indent="0" marL="0">
              <a:lnSpc>
                <a:spcPct val="130000"/>
              </a:lnSpc>
              <a:buNone/>
            </a:pPr>
            <a:r>
              <a:rPr lang="en-US" sz="1400" b="1" dirty="0">
                <a:solidFill>
                  <a:srgbClr val="C9A97E"/>
                </a:solidFill>
                <a:latin typeface="Calibri" pitchFamily="34" charset="0"/>
                <a:ea typeface="Calibri" pitchFamily="34" charset="-122"/>
                <a:cs typeface="Calibri" pitchFamily="34" charset="-120"/>
              </a:rPr>
              <a:t>prueba de control de derecho común</a:t>
            </a:r>
            <a:pPr indent="0" marL="0">
              <a:lnSpc>
                <a:spcPct val="130000"/>
              </a:lnSpc>
              <a:buNone/>
            </a:pPr>
            <a:r>
              <a:rPr lang="en-US" sz="1400" dirty="0">
                <a:solidFill>
                  <a:srgbClr val="C7D2D6"/>
                </a:solidFill>
                <a:latin typeface="Calibri" pitchFamily="34" charset="0"/>
                <a:ea typeface="Calibri" pitchFamily="34" charset="-122"/>
                <a:cs typeface="Calibri" pitchFamily="34" charset="-120"/>
              </a:rPr>
              <a:t>. No es una lista de verificación que completas una vez y olvidas — es un lente para evaluar una relación de trabajo como realmente funciona, no solo lo que dice un contrato.</a:t>
            </a:r>
            <a:endParaRPr lang="en-US" sz="1400" dirty="0"/>
          </a:p>
        </p:txBody>
      </p:sp>
      <p:sp>
        <p:nvSpPr>
          <p:cNvPr id="5" name="Shape 3"/>
          <p:cNvSpPr/>
          <p:nvPr/>
        </p:nvSpPr>
        <p:spPr>
          <a:xfrm>
            <a:off x="6492240" y="1417320"/>
            <a:ext cx="5120640" cy="4023360"/>
          </a:xfrm>
          <a:prstGeom prst="roundRect">
            <a:avLst>
              <a:gd name="adj" fmla="val 2727"/>
            </a:avLst>
          </a:prstGeom>
          <a:solidFill>
            <a:srgbClr val="0E3A5F"/>
          </a:solidFill>
          <a:ln/>
        </p:spPr>
      </p:sp>
      <p:sp>
        <p:nvSpPr>
          <p:cNvPr id="6" name="Text 4"/>
          <p:cNvSpPr/>
          <p:nvPr/>
        </p:nvSpPr>
        <p:spPr>
          <a:xfrm>
            <a:off x="6492240" y="1691640"/>
            <a:ext cx="5120640" cy="1371600"/>
          </a:xfrm>
          <a:prstGeom prst="rect">
            <a:avLst/>
          </a:prstGeom>
          <a:noFill/>
          <a:ln/>
        </p:spPr>
        <p:txBody>
          <a:bodyPr wrap="square" lIns="0" tIns="0" rIns="0" bIns="0" rtlCol="0" anchor="ctr"/>
          <a:lstStyle/>
          <a:p>
            <a:pPr algn="ctr" indent="0" marL="0">
              <a:buNone/>
            </a:pPr>
            <a:r>
              <a:rPr lang="en-US" sz="9000" b="1" dirty="0">
                <a:solidFill>
                  <a:srgbClr val="C9A97E"/>
                </a:solidFill>
                <a:latin typeface="Cambria" pitchFamily="34" charset="0"/>
                <a:ea typeface="Cambria" pitchFamily="34" charset="-122"/>
                <a:cs typeface="Cambria" pitchFamily="34" charset="-120"/>
              </a:rPr>
              <a:t>3</a:t>
            </a:r>
            <a:endParaRPr lang="en-US" sz="9000" dirty="0"/>
          </a:p>
        </p:txBody>
      </p:sp>
      <p:sp>
        <p:nvSpPr>
          <p:cNvPr id="7" name="Text 5"/>
          <p:cNvSpPr/>
          <p:nvPr/>
        </p:nvSpPr>
        <p:spPr>
          <a:xfrm>
            <a:off x="6766560" y="3063240"/>
            <a:ext cx="4572000" cy="822960"/>
          </a:xfrm>
          <a:prstGeom prst="rect">
            <a:avLst/>
          </a:prstGeom>
          <a:noFill/>
          <a:ln/>
        </p:spPr>
        <p:txBody>
          <a:bodyPr wrap="square" lIns="0" tIns="0" rIns="0" bIns="0" rtlCol="0" anchor="ctr"/>
          <a:lstStyle/>
          <a:p>
            <a:pPr algn="ctr" indent="0" marL="0">
              <a:lnSpc>
                <a:spcPct val="125000"/>
              </a:lnSpc>
              <a:buNone/>
            </a:pPr>
            <a:r>
              <a:rPr lang="en-US" sz="1400" dirty="0">
                <a:solidFill>
                  <a:srgbClr val="FFFFFF"/>
                </a:solidFill>
                <a:latin typeface="Calibri" pitchFamily="34" charset="0"/>
                <a:ea typeface="Calibri" pitchFamily="34" charset="-122"/>
                <a:cs typeface="Calibri" pitchFamily="34" charset="-120"/>
              </a:rPr>
              <a:t>factores, ponderados juntos —</a:t>
            </a:r>
            <a:endParaRPr lang="en-US" sz="1400" dirty="0"/>
          </a:p>
          <a:p>
            <a:pPr algn="ctr" indent="0" marL="0">
              <a:lnSpc>
                <a:spcPct val="125000"/>
              </a:lnSpc>
              <a:buNone/>
            </a:pPr>
            <a:r>
              <a:rPr lang="en-US" sz="1400" dirty="0">
                <a:solidFill>
                  <a:srgbClr val="FFFFFF"/>
                </a:solidFill>
                <a:latin typeface="Calibri" pitchFamily="34" charset="0"/>
                <a:ea typeface="Calibri" pitchFamily="34" charset="-122"/>
                <a:cs typeface="Calibri" pitchFamily="34" charset="-120"/>
              </a:rPr>
              <a:t>ninguno decide el caso por sí solo</a:t>
            </a:r>
            <a:endParaRPr lang="en-US" sz="1400" dirty="0"/>
          </a:p>
        </p:txBody>
      </p:sp>
      <p:sp>
        <p:nvSpPr>
          <p:cNvPr id="8" name="Shape 6"/>
          <p:cNvSpPr/>
          <p:nvPr/>
        </p:nvSpPr>
        <p:spPr>
          <a:xfrm>
            <a:off x="7223760" y="4069080"/>
            <a:ext cx="3383280" cy="0"/>
          </a:xfrm>
          <a:prstGeom prst="line">
            <a:avLst/>
          </a:prstGeom>
          <a:noFill/>
          <a:ln w="12700">
            <a:solidFill>
              <a:srgbClr val="9FB0B6"/>
            </a:solidFill>
            <a:prstDash val="solid"/>
          </a:ln>
        </p:spPr>
      </p:sp>
      <p:sp>
        <p:nvSpPr>
          <p:cNvPr id="9" name="Text 7"/>
          <p:cNvSpPr/>
          <p:nvPr/>
        </p:nvSpPr>
        <p:spPr>
          <a:xfrm>
            <a:off x="6766560" y="4297680"/>
            <a:ext cx="4572000" cy="914400"/>
          </a:xfrm>
          <a:prstGeom prst="rect">
            <a:avLst/>
          </a:prstGeom>
          <a:noFill/>
          <a:ln/>
        </p:spPr>
        <p:txBody>
          <a:bodyPr wrap="square" lIns="0" tIns="0" rIns="0" bIns="0" rtlCol="0" anchor="ctr"/>
          <a:lstStyle/>
          <a:p>
            <a:pPr algn="ctr" indent="0" marL="0">
              <a:lnSpc>
                <a:spcPct val="130000"/>
              </a:lnSpc>
              <a:buNone/>
            </a:pPr>
            <a:r>
              <a:rPr lang="en-US" sz="1250" i="1" dirty="0">
                <a:solidFill>
                  <a:srgbClr val="C7D2D6"/>
                </a:solidFill>
                <a:latin typeface="Calibri" pitchFamily="34" charset="0"/>
                <a:ea typeface="Calibri" pitchFamily="34" charset="-122"/>
                <a:cs typeface="Calibri" pitchFamily="34" charset="-120"/>
              </a:rPr>
              <a:t>Conductual  ·  Financiero  ·  Relación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lIns="0" tIns="0" rIns="0" bIns="0" rtlCol="0" anchor="ctr"/>
          <a:lstStyle/>
          <a:p>
            <a:pPr indent="0" marL="0">
              <a:buNone/>
            </a:pPr>
            <a:r>
              <a:rPr lang="en-US" sz="3200" b="1" dirty="0">
                <a:solidFill>
                  <a:srgbClr val="081F33"/>
                </a:solidFill>
                <a:latin typeface="Cambria" pitchFamily="34" charset="0"/>
                <a:ea typeface="Cambria" pitchFamily="34" charset="-122"/>
                <a:cs typeface="Cambria" pitchFamily="34" charset="-120"/>
              </a:rPr>
              <a:t>Los Tres Factores</a:t>
            </a:r>
            <a:endParaRPr lang="en-US" sz="3200" dirty="0"/>
          </a:p>
        </p:txBody>
      </p:sp>
      <p:sp>
        <p:nvSpPr>
          <p:cNvPr id="3" name="Text 1"/>
          <p:cNvSpPr/>
          <p:nvPr/>
        </p:nvSpPr>
        <p:spPr>
          <a:xfrm>
            <a:off x="548640" y="1097280"/>
            <a:ext cx="1005840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El IRS examina toda la relación — estos tres lentes, considerados juntos, no en aislamiento.</a:t>
            </a:r>
            <a:endParaRPr lang="en-US" sz="1400" dirty="0"/>
          </a:p>
        </p:txBody>
      </p:sp>
      <p:sp>
        <p:nvSpPr>
          <p:cNvPr id="4" name="Shape 2"/>
          <p:cNvSpPr/>
          <p:nvPr/>
        </p:nvSpPr>
        <p:spPr>
          <a:xfrm>
            <a:off x="548640" y="1874520"/>
            <a:ext cx="3538728" cy="3749040"/>
          </a:xfrm>
          <a:prstGeom prst="roundRect">
            <a:avLst>
              <a:gd name="adj" fmla="val 2584"/>
            </a:avLst>
          </a:prstGeom>
          <a:solidFill>
            <a:srgbClr val="F7F2EA"/>
          </a:solidFill>
          <a:ln/>
        </p:spPr>
      </p:sp>
      <p:sp>
        <p:nvSpPr>
          <p:cNvPr id="5" name="Shape 3"/>
          <p:cNvSpPr/>
          <p:nvPr/>
        </p:nvSpPr>
        <p:spPr>
          <a:xfrm>
            <a:off x="1860804" y="2194560"/>
            <a:ext cx="914400" cy="914400"/>
          </a:xfrm>
          <a:prstGeom prst="ellipse">
            <a:avLst/>
          </a:prstGeom>
          <a:solidFill>
            <a:srgbClr val="081F33"/>
          </a:solidFill>
          <a:ln/>
        </p:spPr>
      </p:sp>
      <p:pic>
        <p:nvPicPr>
          <p:cNvPr id="6" name="Image 0" descr="icon_balance_white.png">    </p:cNvPr>
          <p:cNvPicPr>
            <a:picLocks noChangeAspect="1"/>
          </p:cNvPicPr>
          <p:nvPr/>
        </p:nvPicPr>
        <p:blipFill>
          <a:blip r:embed="rId1"/>
          <a:stretch>
            <a:fillRect/>
          </a:stretch>
        </p:blipFill>
        <p:spPr>
          <a:xfrm>
            <a:off x="2025396" y="2359152"/>
            <a:ext cx="585216" cy="585216"/>
          </a:xfrm>
          <a:prstGeom prst="rect">
            <a:avLst/>
          </a:prstGeom>
        </p:spPr>
      </p:pic>
      <p:sp>
        <p:nvSpPr>
          <p:cNvPr id="7" name="Text 4"/>
          <p:cNvSpPr/>
          <p:nvPr/>
        </p:nvSpPr>
        <p:spPr>
          <a:xfrm>
            <a:off x="777240" y="3383280"/>
            <a:ext cx="3081528" cy="640080"/>
          </a:xfrm>
          <a:prstGeom prst="rect">
            <a:avLst/>
          </a:prstGeom>
          <a:noFill/>
          <a:ln/>
        </p:spPr>
        <p:txBody>
          <a:bodyPr wrap="square" lIns="0" tIns="0" rIns="0" bIns="0" rtlCol="0" anchor="ctr"/>
          <a:lstStyle/>
          <a:p>
            <a:pPr algn="ctr" indent="0" marL="0">
              <a:buNone/>
            </a:pPr>
            <a:r>
              <a:rPr lang="en-US" sz="1800" b="1" dirty="0">
                <a:solidFill>
                  <a:srgbClr val="081F33"/>
                </a:solidFill>
                <a:latin typeface="Cambria" pitchFamily="34" charset="0"/>
                <a:ea typeface="Cambria" pitchFamily="34" charset="-122"/>
                <a:cs typeface="Cambria" pitchFamily="34" charset="-120"/>
              </a:rPr>
              <a:t>Control de Comportamiento</a:t>
            </a:r>
            <a:endParaRPr lang="en-US" sz="1800" dirty="0"/>
          </a:p>
        </p:txBody>
      </p:sp>
      <p:sp>
        <p:nvSpPr>
          <p:cNvPr id="8" name="Text 5"/>
          <p:cNvSpPr/>
          <p:nvPr/>
        </p:nvSpPr>
        <p:spPr>
          <a:xfrm>
            <a:off x="868680" y="4069080"/>
            <a:ext cx="2898648" cy="1371600"/>
          </a:xfrm>
          <a:prstGeom prst="rect">
            <a:avLst/>
          </a:prstGeom>
          <a:noFill/>
          <a:ln/>
        </p:spPr>
        <p:txBody>
          <a:bodyPr wrap="square" lIns="0" tIns="0" rIns="0" bIns="0" rtlCol="0" anchor="ctr"/>
          <a:lstStyle/>
          <a:p>
            <a:pPr algn="ctr" indent="0" marL="0">
              <a:lnSpc>
                <a:spcPct val="125000"/>
              </a:lnSpc>
              <a:buNone/>
            </a:pPr>
            <a:r>
              <a:rPr lang="en-US" sz="1300" dirty="0">
                <a:solidFill>
                  <a:srgbClr val="081F33"/>
                </a:solidFill>
                <a:latin typeface="Calibri" pitchFamily="34" charset="0"/>
                <a:ea typeface="Calibri" pitchFamily="34" charset="-122"/>
                <a:cs typeface="Calibri" pitchFamily="34" charset="-120"/>
              </a:rPr>
              <a:t>¿El negocio controla, o tiene el derecho de controlar, cómo se hace el trabajo?</a:t>
            </a:r>
            <a:endParaRPr lang="en-US" sz="1300" dirty="0"/>
          </a:p>
        </p:txBody>
      </p:sp>
      <p:sp>
        <p:nvSpPr>
          <p:cNvPr id="9" name="Shape 6"/>
          <p:cNvSpPr/>
          <p:nvPr/>
        </p:nvSpPr>
        <p:spPr>
          <a:xfrm>
            <a:off x="4343400" y="1874520"/>
            <a:ext cx="3538728" cy="3749040"/>
          </a:xfrm>
          <a:prstGeom prst="roundRect">
            <a:avLst>
              <a:gd name="adj" fmla="val 2584"/>
            </a:avLst>
          </a:prstGeom>
          <a:solidFill>
            <a:srgbClr val="F7F2EA"/>
          </a:solidFill>
          <a:ln/>
        </p:spPr>
      </p:sp>
      <p:sp>
        <p:nvSpPr>
          <p:cNvPr id="10" name="Shape 7"/>
          <p:cNvSpPr/>
          <p:nvPr/>
        </p:nvSpPr>
        <p:spPr>
          <a:xfrm>
            <a:off x="5655564" y="2194560"/>
            <a:ext cx="914400" cy="914400"/>
          </a:xfrm>
          <a:prstGeom prst="ellipse">
            <a:avLst/>
          </a:prstGeom>
          <a:solidFill>
            <a:srgbClr val="081F33"/>
          </a:solidFill>
          <a:ln/>
        </p:spPr>
      </p:sp>
      <p:pic>
        <p:nvPicPr>
          <p:cNvPr id="11" name="Image 1" descr="icon_dollar_white.png">    </p:cNvPr>
          <p:cNvPicPr>
            <a:picLocks noChangeAspect="1"/>
          </p:cNvPicPr>
          <p:nvPr/>
        </p:nvPicPr>
        <p:blipFill>
          <a:blip r:embed="rId2"/>
          <a:stretch>
            <a:fillRect/>
          </a:stretch>
        </p:blipFill>
        <p:spPr>
          <a:xfrm>
            <a:off x="5820156" y="2359152"/>
            <a:ext cx="585216" cy="585216"/>
          </a:xfrm>
          <a:prstGeom prst="rect">
            <a:avLst/>
          </a:prstGeom>
        </p:spPr>
      </p:pic>
      <p:sp>
        <p:nvSpPr>
          <p:cNvPr id="12" name="Text 8"/>
          <p:cNvSpPr/>
          <p:nvPr/>
        </p:nvSpPr>
        <p:spPr>
          <a:xfrm>
            <a:off x="4572000" y="3383280"/>
            <a:ext cx="3081528" cy="640080"/>
          </a:xfrm>
          <a:prstGeom prst="rect">
            <a:avLst/>
          </a:prstGeom>
          <a:noFill/>
          <a:ln/>
        </p:spPr>
        <p:txBody>
          <a:bodyPr wrap="square" lIns="0" tIns="0" rIns="0" bIns="0" rtlCol="0" anchor="ctr"/>
          <a:lstStyle/>
          <a:p>
            <a:pPr algn="ctr" indent="0" marL="0">
              <a:buNone/>
            </a:pPr>
            <a:r>
              <a:rPr lang="en-US" sz="1800" b="1" dirty="0">
                <a:solidFill>
                  <a:srgbClr val="081F33"/>
                </a:solidFill>
                <a:latin typeface="Cambria" pitchFamily="34" charset="0"/>
                <a:ea typeface="Cambria" pitchFamily="34" charset="-122"/>
                <a:cs typeface="Cambria" pitchFamily="34" charset="-120"/>
              </a:rPr>
              <a:t>Control Financiero</a:t>
            </a:r>
            <a:endParaRPr lang="en-US" sz="1800" dirty="0"/>
          </a:p>
        </p:txBody>
      </p:sp>
      <p:sp>
        <p:nvSpPr>
          <p:cNvPr id="13" name="Text 9"/>
          <p:cNvSpPr/>
          <p:nvPr/>
        </p:nvSpPr>
        <p:spPr>
          <a:xfrm>
            <a:off x="4663440" y="4069080"/>
            <a:ext cx="2898648" cy="1371600"/>
          </a:xfrm>
          <a:prstGeom prst="rect">
            <a:avLst/>
          </a:prstGeom>
          <a:noFill/>
          <a:ln/>
        </p:spPr>
        <p:txBody>
          <a:bodyPr wrap="square" lIns="0" tIns="0" rIns="0" bIns="0" rtlCol="0" anchor="ctr"/>
          <a:lstStyle/>
          <a:p>
            <a:pPr algn="ctr" indent="0" marL="0">
              <a:lnSpc>
                <a:spcPct val="125000"/>
              </a:lnSpc>
              <a:buNone/>
            </a:pPr>
            <a:r>
              <a:rPr lang="en-US" sz="1300" dirty="0">
                <a:solidFill>
                  <a:srgbClr val="081F33"/>
                </a:solidFill>
                <a:latin typeface="Calibri" pitchFamily="34" charset="0"/>
                <a:ea typeface="Calibri" pitchFamily="34" charset="-122"/>
                <a:cs typeface="Calibri" pitchFamily="34" charset="-120"/>
              </a:rPr>
              <a:t>¿Quién controla el lado del negocio — inversión, gastos, oportunidad de ganancia o pérdida?</a:t>
            </a:r>
            <a:endParaRPr lang="en-US" sz="1300" dirty="0"/>
          </a:p>
        </p:txBody>
      </p:sp>
      <p:sp>
        <p:nvSpPr>
          <p:cNvPr id="14" name="Shape 10"/>
          <p:cNvSpPr/>
          <p:nvPr/>
        </p:nvSpPr>
        <p:spPr>
          <a:xfrm>
            <a:off x="8138160" y="1874520"/>
            <a:ext cx="3538728" cy="3749040"/>
          </a:xfrm>
          <a:prstGeom prst="roundRect">
            <a:avLst>
              <a:gd name="adj" fmla="val 2584"/>
            </a:avLst>
          </a:prstGeom>
          <a:solidFill>
            <a:srgbClr val="F7F2EA"/>
          </a:solidFill>
          <a:ln/>
        </p:spPr>
      </p:sp>
      <p:sp>
        <p:nvSpPr>
          <p:cNvPr id="15" name="Shape 11"/>
          <p:cNvSpPr/>
          <p:nvPr/>
        </p:nvSpPr>
        <p:spPr>
          <a:xfrm>
            <a:off x="9450324" y="2194560"/>
            <a:ext cx="914400" cy="914400"/>
          </a:xfrm>
          <a:prstGeom prst="ellipse">
            <a:avLst/>
          </a:prstGeom>
          <a:solidFill>
            <a:srgbClr val="081F33"/>
          </a:solidFill>
          <a:ln/>
        </p:spPr>
      </p:sp>
      <p:pic>
        <p:nvPicPr>
          <p:cNvPr id="16" name="Image 2" descr="icon_users_white.png">    </p:cNvPr>
          <p:cNvPicPr>
            <a:picLocks noChangeAspect="1"/>
          </p:cNvPicPr>
          <p:nvPr/>
        </p:nvPicPr>
        <p:blipFill>
          <a:blip r:embed="rId3"/>
          <a:stretch>
            <a:fillRect/>
          </a:stretch>
        </p:blipFill>
        <p:spPr>
          <a:xfrm>
            <a:off x="9614916" y="2359152"/>
            <a:ext cx="585216" cy="585216"/>
          </a:xfrm>
          <a:prstGeom prst="rect">
            <a:avLst/>
          </a:prstGeom>
        </p:spPr>
      </p:pic>
      <p:sp>
        <p:nvSpPr>
          <p:cNvPr id="17" name="Text 12"/>
          <p:cNvSpPr/>
          <p:nvPr/>
        </p:nvSpPr>
        <p:spPr>
          <a:xfrm>
            <a:off x="8366760" y="3383280"/>
            <a:ext cx="3081528" cy="640080"/>
          </a:xfrm>
          <a:prstGeom prst="rect">
            <a:avLst/>
          </a:prstGeom>
          <a:noFill/>
          <a:ln/>
        </p:spPr>
        <p:txBody>
          <a:bodyPr wrap="square" lIns="0" tIns="0" rIns="0" bIns="0" rtlCol="0" anchor="ctr"/>
          <a:lstStyle/>
          <a:p>
            <a:pPr algn="ctr" indent="0" marL="0">
              <a:buNone/>
            </a:pPr>
            <a:r>
              <a:rPr lang="en-US" sz="1800" b="1" dirty="0">
                <a:solidFill>
                  <a:srgbClr val="081F33"/>
                </a:solidFill>
                <a:latin typeface="Cambria" pitchFamily="34" charset="0"/>
                <a:ea typeface="Cambria" pitchFamily="34" charset="-122"/>
                <a:cs typeface="Cambria" pitchFamily="34" charset="-120"/>
              </a:rPr>
              <a:t>Tipo de Relación</a:t>
            </a:r>
            <a:endParaRPr lang="en-US" sz="1800" dirty="0"/>
          </a:p>
        </p:txBody>
      </p:sp>
      <p:sp>
        <p:nvSpPr>
          <p:cNvPr id="18" name="Text 13"/>
          <p:cNvSpPr/>
          <p:nvPr/>
        </p:nvSpPr>
        <p:spPr>
          <a:xfrm>
            <a:off x="8458200" y="4069080"/>
            <a:ext cx="2898648" cy="1371600"/>
          </a:xfrm>
          <a:prstGeom prst="rect">
            <a:avLst/>
          </a:prstGeom>
          <a:noFill/>
          <a:ln/>
        </p:spPr>
        <p:txBody>
          <a:bodyPr wrap="square" lIns="0" tIns="0" rIns="0" bIns="0" rtlCol="0" anchor="ctr"/>
          <a:lstStyle/>
          <a:p>
            <a:pPr algn="ctr" indent="0" marL="0">
              <a:lnSpc>
                <a:spcPct val="125000"/>
              </a:lnSpc>
              <a:buNone/>
            </a:pPr>
            <a:r>
              <a:rPr lang="en-US" sz="1300" dirty="0">
                <a:solidFill>
                  <a:srgbClr val="081F33"/>
                </a:solidFill>
                <a:latin typeface="Calibri" pitchFamily="34" charset="0"/>
                <a:ea typeface="Calibri" pitchFamily="34" charset="-122"/>
                <a:cs typeface="Calibri" pitchFamily="34" charset="-120"/>
              </a:rPr>
              <a:t>¿Hay beneficios, un contrato, y el trabajo es central y continuo para el negocio?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balance_white.png">    </p:cNvPr>
          <p:cNvPicPr>
            <a:picLocks noChangeAspect="1"/>
          </p:cNvPicPr>
          <p:nvPr/>
        </p:nvPicPr>
        <p:blipFill>
          <a:blip r:embed="rId1"/>
          <a:stretch>
            <a:fillRect/>
          </a:stretch>
        </p:blipFill>
        <p:spPr>
          <a:xfrm>
            <a:off x="713232" y="667512"/>
            <a:ext cx="365760" cy="365760"/>
          </a:xfrm>
          <a:prstGeom prst="rect">
            <a:avLst/>
          </a:prstGeom>
        </p:spPr>
      </p:pic>
      <p:sp>
        <p:nvSpPr>
          <p:cNvPr id="4" name="Text 1"/>
          <p:cNvSpPr/>
          <p:nvPr/>
        </p:nvSpPr>
        <p:spPr>
          <a:xfrm>
            <a:off x="1417320" y="502920"/>
            <a:ext cx="9144000" cy="685800"/>
          </a:xfrm>
          <a:prstGeom prst="rect">
            <a:avLst/>
          </a:prstGeom>
          <a:noFill/>
          <a:ln/>
        </p:spPr>
        <p:txBody>
          <a:bodyPr wrap="square" lIns="0" tIns="0" rIns="0" bIns="0" rtlCol="0" anchor="ctr"/>
          <a:lstStyle/>
          <a:p>
            <a:pPr indent="0" marL="0">
              <a:buNone/>
            </a:pPr>
            <a:r>
              <a:rPr lang="en-US" sz="2700" b="1" dirty="0">
                <a:solidFill>
                  <a:srgbClr val="081F33"/>
                </a:solidFill>
                <a:latin typeface="Cambria" pitchFamily="34" charset="0"/>
                <a:ea typeface="Cambria" pitchFamily="34" charset="-122"/>
                <a:cs typeface="Cambria" pitchFamily="34" charset="-120"/>
              </a:rPr>
              <a:t>Factor 1: Control de Comportamiento</a:t>
            </a:r>
            <a:endParaRPr lang="en-US" sz="2700" dirty="0"/>
          </a:p>
        </p:txBody>
      </p:sp>
      <p:sp>
        <p:nvSpPr>
          <p:cNvPr id="5" name="Text 2"/>
          <p:cNvSpPr/>
          <p:nvPr/>
        </p:nvSpPr>
        <p:spPr>
          <a:xfrm>
            <a:off x="548640" y="1508760"/>
            <a:ext cx="530352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Señales de estatus EMPLEADO</a:t>
            </a:r>
            <a:endParaRPr lang="en-US" sz="1500" dirty="0"/>
          </a:p>
        </p:txBody>
      </p:sp>
      <p:sp>
        <p:nvSpPr>
          <p:cNvPr id="6" name="Text 3"/>
          <p:cNvSpPr/>
          <p:nvPr/>
        </p:nvSpPr>
        <p:spPr>
          <a:xfrm>
            <a:off x="54864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Estableces horarios específicos o un calendario fijo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Das instrucciones detalladas de cómo, cuándo, y dónde ocurre el trabajo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Capacitas al trabajador en tus procedimientos requeridos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Evalúas el proceso, no solo el resultado final</a:t>
            </a:r>
            <a:endParaRPr lang="en-US" sz="1400" dirty="0"/>
          </a:p>
        </p:txBody>
      </p:sp>
      <p:sp>
        <p:nvSpPr>
          <p:cNvPr id="7" name="Shape 4"/>
          <p:cNvSpPr/>
          <p:nvPr/>
        </p:nvSpPr>
        <p:spPr>
          <a:xfrm>
            <a:off x="6080760" y="1600200"/>
            <a:ext cx="0" cy="4114800"/>
          </a:xfrm>
          <a:prstGeom prst="line">
            <a:avLst/>
          </a:prstGeom>
          <a:noFill/>
          <a:ln w="19050">
            <a:solidFill>
              <a:srgbClr val="C7D2D6"/>
            </a:solidFill>
            <a:prstDash val="solid"/>
          </a:ln>
        </p:spPr>
      </p:sp>
      <p:sp>
        <p:nvSpPr>
          <p:cNvPr id="8" name="Text 5"/>
          <p:cNvSpPr/>
          <p:nvPr/>
        </p:nvSpPr>
        <p:spPr>
          <a:xfrm>
            <a:off x="6309360" y="1508760"/>
            <a:ext cx="5303520" cy="365760"/>
          </a:xfrm>
          <a:prstGeom prst="rect">
            <a:avLst/>
          </a:prstGeom>
          <a:noFill/>
          <a:ln/>
        </p:spPr>
        <p:txBody>
          <a:bodyPr wrap="square" lIns="0" tIns="0" rIns="0" bIns="0" rtlCol="0" anchor="ctr"/>
          <a:lstStyle/>
          <a:p>
            <a:pPr indent="0" marL="0">
              <a:buNone/>
            </a:pPr>
            <a:r>
              <a:rPr lang="en-US" sz="1500" b="1" dirty="0">
                <a:solidFill>
                  <a:srgbClr val="C9A97E"/>
                </a:solidFill>
                <a:latin typeface="Calibri" pitchFamily="34" charset="0"/>
                <a:ea typeface="Calibri" pitchFamily="34" charset="-122"/>
                <a:cs typeface="Calibri" pitchFamily="34" charset="-120"/>
              </a:rPr>
              <a:t>Señales de estatus CONTRATISTA</a:t>
            </a:r>
            <a:endParaRPr lang="en-US" sz="1500" dirty="0"/>
          </a:p>
        </p:txBody>
      </p:sp>
      <p:sp>
        <p:nvSpPr>
          <p:cNvPr id="9" name="Text 6"/>
          <p:cNvSpPr/>
          <p:nvPr/>
        </p:nvSpPr>
        <p:spPr>
          <a:xfrm>
            <a:off x="630936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decide sus propios horarios y métodos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Especificas el resultado, ellos determinan el enfoque</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aporta experiencia previa; no se necesita capacitación</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Evalúas el producto final, no el proceso diario</a:t>
            </a:r>
            <a:endParaRPr lang="en-US" sz="1400" dirty="0"/>
          </a:p>
        </p:txBody>
      </p:sp>
      <p:sp>
        <p:nvSpPr>
          <p:cNvPr id="10" name="Shape 7"/>
          <p:cNvSpPr/>
          <p:nvPr/>
        </p:nvSpPr>
        <p:spPr>
          <a:xfrm>
            <a:off x="548640" y="5623560"/>
            <a:ext cx="11064240" cy="777240"/>
          </a:xfrm>
          <a:prstGeom prst="roundRect">
            <a:avLst>
              <a:gd name="adj" fmla="val 9412"/>
            </a:avLst>
          </a:prstGeom>
          <a:solidFill>
            <a:srgbClr val="F7F2EA"/>
          </a:solidFill>
          <a:ln/>
        </p:spPr>
      </p:sp>
      <p:sp>
        <p:nvSpPr>
          <p:cNvPr id="11" name="Text 8"/>
          <p:cNvSpPr/>
          <p:nvPr/>
        </p:nvSpPr>
        <p:spPr>
          <a:xfrm>
            <a:off x="822960" y="5623560"/>
            <a:ext cx="10515600" cy="777240"/>
          </a:xfrm>
          <a:prstGeom prst="rect">
            <a:avLst/>
          </a:prstGeom>
          <a:noFill/>
          <a:ln/>
        </p:spPr>
        <p:txBody>
          <a:bodyPr wrap="square" lIns="0" tIns="0" rIns="0" bIns="0" rtlCol="0" anchor="ctr"/>
          <a:lstStyle/>
          <a:p>
            <a:pPr indent="0" marL="0">
              <a:buNone/>
            </a:pPr>
            <a:r>
              <a:rPr lang="en-US" sz="1300" b="1" dirty="0">
                <a:solidFill>
                  <a:srgbClr val="081F33"/>
                </a:solidFill>
                <a:latin typeface="Calibri" pitchFamily="34" charset="0"/>
                <a:ea typeface="Calibri" pitchFamily="34" charset="-122"/>
                <a:cs typeface="Calibri" pitchFamily="34" charset="-120"/>
              </a:rPr>
              <a:t>Idea clave:  </a:t>
            </a:r>
            <a:pPr indent="0" marL="0">
              <a:buNone/>
            </a:pPr>
            <a:r>
              <a:rPr lang="en-US" sz="1300" dirty="0">
                <a:solidFill>
                  <a:srgbClr val="081F33"/>
                </a:solidFill>
                <a:latin typeface="Calibri" pitchFamily="34" charset="0"/>
                <a:ea typeface="Calibri" pitchFamily="34" charset="-122"/>
                <a:cs typeface="Calibri" pitchFamily="34" charset="-120"/>
              </a:rPr>
              <a:t>Es el derecho a dirigir el trabajo lo que importa, no si realmente lo ejerces todos los días.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dollar_white.png">    </p:cNvPr>
          <p:cNvPicPr>
            <a:picLocks noChangeAspect="1"/>
          </p:cNvPicPr>
          <p:nvPr/>
        </p:nvPicPr>
        <p:blipFill>
          <a:blip r:embed="rId1"/>
          <a:stretch>
            <a:fillRect/>
          </a:stretch>
        </p:blipFill>
        <p:spPr>
          <a:xfrm>
            <a:off x="731520" y="667512"/>
            <a:ext cx="365760" cy="365760"/>
          </a:xfrm>
          <a:prstGeom prst="rect">
            <a:avLst/>
          </a:prstGeom>
        </p:spPr>
      </p:pic>
      <p:sp>
        <p:nvSpPr>
          <p:cNvPr id="4" name="Text 1"/>
          <p:cNvSpPr/>
          <p:nvPr/>
        </p:nvSpPr>
        <p:spPr>
          <a:xfrm>
            <a:off x="1417320" y="502920"/>
            <a:ext cx="9144000" cy="685800"/>
          </a:xfrm>
          <a:prstGeom prst="rect">
            <a:avLst/>
          </a:prstGeom>
          <a:noFill/>
          <a:ln/>
        </p:spPr>
        <p:txBody>
          <a:bodyPr wrap="square" lIns="0" tIns="0" rIns="0" bIns="0" rtlCol="0" anchor="ctr"/>
          <a:lstStyle/>
          <a:p>
            <a:pPr indent="0" marL="0">
              <a:buNone/>
            </a:pPr>
            <a:r>
              <a:rPr lang="en-US" sz="2700" b="1" dirty="0">
                <a:solidFill>
                  <a:srgbClr val="081F33"/>
                </a:solidFill>
                <a:latin typeface="Cambria" pitchFamily="34" charset="0"/>
                <a:ea typeface="Cambria" pitchFamily="34" charset="-122"/>
                <a:cs typeface="Cambria" pitchFamily="34" charset="-120"/>
              </a:rPr>
              <a:t>Factor 2: Control Financiero</a:t>
            </a:r>
            <a:endParaRPr lang="en-US" sz="2700" dirty="0"/>
          </a:p>
        </p:txBody>
      </p:sp>
      <p:sp>
        <p:nvSpPr>
          <p:cNvPr id="5" name="Text 2"/>
          <p:cNvSpPr/>
          <p:nvPr/>
        </p:nvSpPr>
        <p:spPr>
          <a:xfrm>
            <a:off x="548640" y="1508760"/>
            <a:ext cx="530352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Señales de estatus EMPLEADO</a:t>
            </a:r>
            <a:endParaRPr lang="en-US" sz="1500" dirty="0"/>
          </a:p>
        </p:txBody>
      </p:sp>
      <p:sp>
        <p:nvSpPr>
          <p:cNvPr id="6" name="Text 3"/>
          <p:cNvSpPr/>
          <p:nvPr/>
        </p:nvSpPr>
        <p:spPr>
          <a:xfrm>
            <a:off x="54864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Reembolsas gastos o proporcionas herramientas/equipo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no tiene otros clientes — eres su único ingreso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gana un salario garantizado sin importar el resultado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no asume un riesgo real de ganancia o pérdida</a:t>
            </a:r>
            <a:endParaRPr lang="en-US" sz="1400" dirty="0"/>
          </a:p>
        </p:txBody>
      </p:sp>
      <p:sp>
        <p:nvSpPr>
          <p:cNvPr id="7" name="Shape 4"/>
          <p:cNvSpPr/>
          <p:nvPr/>
        </p:nvSpPr>
        <p:spPr>
          <a:xfrm>
            <a:off x="6080760" y="1600200"/>
            <a:ext cx="0" cy="4114800"/>
          </a:xfrm>
          <a:prstGeom prst="line">
            <a:avLst/>
          </a:prstGeom>
          <a:noFill/>
          <a:ln w="19050">
            <a:solidFill>
              <a:srgbClr val="C7D2D6"/>
            </a:solidFill>
            <a:prstDash val="solid"/>
          </a:ln>
        </p:spPr>
      </p:sp>
      <p:sp>
        <p:nvSpPr>
          <p:cNvPr id="8" name="Text 5"/>
          <p:cNvSpPr/>
          <p:nvPr/>
        </p:nvSpPr>
        <p:spPr>
          <a:xfrm>
            <a:off x="6309360" y="1508760"/>
            <a:ext cx="5303520" cy="365760"/>
          </a:xfrm>
          <a:prstGeom prst="rect">
            <a:avLst/>
          </a:prstGeom>
          <a:noFill/>
          <a:ln/>
        </p:spPr>
        <p:txBody>
          <a:bodyPr wrap="square" lIns="0" tIns="0" rIns="0" bIns="0" rtlCol="0" anchor="ctr"/>
          <a:lstStyle/>
          <a:p>
            <a:pPr indent="0" marL="0">
              <a:buNone/>
            </a:pPr>
            <a:r>
              <a:rPr lang="en-US" sz="1500" b="1" dirty="0">
                <a:solidFill>
                  <a:srgbClr val="C9A97E"/>
                </a:solidFill>
                <a:latin typeface="Calibri" pitchFamily="34" charset="0"/>
                <a:ea typeface="Calibri" pitchFamily="34" charset="-122"/>
                <a:cs typeface="Calibri" pitchFamily="34" charset="-120"/>
              </a:rPr>
              <a:t>Señales de estatus CONTRATISTA</a:t>
            </a:r>
            <a:endParaRPr lang="en-US" sz="1500" dirty="0"/>
          </a:p>
        </p:txBody>
      </p:sp>
      <p:sp>
        <p:nvSpPr>
          <p:cNvPr id="9" name="Text 6"/>
          <p:cNvSpPr/>
          <p:nvPr/>
        </p:nvSpPr>
        <p:spPr>
          <a:xfrm>
            <a:off x="630936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invierte en su propio equipo y herramientas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promociona servicios a otros clientes en el mercado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cobra una tarifa fija o por proyecto, asumiendo el riesgo de pérdida</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puede obtener una ganancia o pérdida genuina</a:t>
            </a:r>
            <a:endParaRPr lang="en-US" sz="1400" dirty="0"/>
          </a:p>
        </p:txBody>
      </p:sp>
      <p:sp>
        <p:nvSpPr>
          <p:cNvPr id="10" name="Shape 7"/>
          <p:cNvSpPr/>
          <p:nvPr/>
        </p:nvSpPr>
        <p:spPr>
          <a:xfrm>
            <a:off x="548640" y="5623560"/>
            <a:ext cx="11064240" cy="777240"/>
          </a:xfrm>
          <a:prstGeom prst="roundRect">
            <a:avLst>
              <a:gd name="adj" fmla="val 9412"/>
            </a:avLst>
          </a:prstGeom>
          <a:solidFill>
            <a:srgbClr val="F7F2EA"/>
          </a:solidFill>
          <a:ln/>
        </p:spPr>
      </p:sp>
      <p:sp>
        <p:nvSpPr>
          <p:cNvPr id="11" name="Text 8"/>
          <p:cNvSpPr/>
          <p:nvPr/>
        </p:nvSpPr>
        <p:spPr>
          <a:xfrm>
            <a:off x="822960" y="5623560"/>
            <a:ext cx="10515600" cy="777240"/>
          </a:xfrm>
          <a:prstGeom prst="rect">
            <a:avLst/>
          </a:prstGeom>
          <a:noFill/>
          <a:ln/>
        </p:spPr>
        <p:txBody>
          <a:bodyPr wrap="square" lIns="0" tIns="0" rIns="0" bIns="0" rtlCol="0" anchor="ctr"/>
          <a:lstStyle/>
          <a:p>
            <a:pPr indent="0" marL="0">
              <a:buNone/>
            </a:pPr>
            <a:r>
              <a:rPr lang="en-US" sz="1300" b="1" dirty="0">
                <a:solidFill>
                  <a:srgbClr val="081F33"/>
                </a:solidFill>
                <a:latin typeface="Calibri" pitchFamily="34" charset="0"/>
                <a:ea typeface="Calibri" pitchFamily="34" charset="-122"/>
                <a:cs typeface="Calibri" pitchFamily="34" charset="-120"/>
              </a:rPr>
              <a:t>Idea clave:  </a:t>
            </a:r>
            <a:pPr indent="0" marL="0">
              <a:buNone/>
            </a:pPr>
            <a:r>
              <a:rPr lang="en-US" sz="1300" dirty="0">
                <a:solidFill>
                  <a:srgbClr val="081F33"/>
                </a:solidFill>
                <a:latin typeface="Calibri" pitchFamily="34" charset="0"/>
                <a:ea typeface="Calibri" pitchFamily="34" charset="-122"/>
                <a:cs typeface="Calibri" pitchFamily="34" charset="-120"/>
              </a:rPr>
              <a:t>Un negocio real asume un riesgo económico real. Pago garantizado sin desventaja se parece a un salario, no a una factura.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users_white.png">    </p:cNvPr>
          <p:cNvPicPr>
            <a:picLocks noChangeAspect="1"/>
          </p:cNvPicPr>
          <p:nvPr/>
        </p:nvPicPr>
        <p:blipFill>
          <a:blip r:embed="rId1"/>
          <a:stretch>
            <a:fillRect/>
          </a:stretch>
        </p:blipFill>
        <p:spPr>
          <a:xfrm>
            <a:off x="731520" y="667512"/>
            <a:ext cx="365760" cy="365760"/>
          </a:xfrm>
          <a:prstGeom prst="rect">
            <a:avLst/>
          </a:prstGeom>
        </p:spPr>
      </p:pic>
      <p:sp>
        <p:nvSpPr>
          <p:cNvPr id="4" name="Text 1"/>
          <p:cNvSpPr/>
          <p:nvPr/>
        </p:nvSpPr>
        <p:spPr>
          <a:xfrm>
            <a:off x="1417320" y="502920"/>
            <a:ext cx="9144000" cy="685800"/>
          </a:xfrm>
          <a:prstGeom prst="rect">
            <a:avLst/>
          </a:prstGeom>
          <a:noFill/>
          <a:ln/>
        </p:spPr>
        <p:txBody>
          <a:bodyPr wrap="square" lIns="0" tIns="0" rIns="0" bIns="0" rtlCol="0" anchor="ctr"/>
          <a:lstStyle/>
          <a:p>
            <a:pPr indent="0" marL="0">
              <a:buNone/>
            </a:pPr>
            <a:r>
              <a:rPr lang="en-US" sz="2700" b="1" dirty="0">
                <a:solidFill>
                  <a:srgbClr val="081F33"/>
                </a:solidFill>
                <a:latin typeface="Cambria" pitchFamily="34" charset="0"/>
                <a:ea typeface="Cambria" pitchFamily="34" charset="-122"/>
                <a:cs typeface="Cambria" pitchFamily="34" charset="-120"/>
              </a:rPr>
              <a:t>Factor 3: Tipo de Relación</a:t>
            </a:r>
            <a:endParaRPr lang="en-US" sz="2700" dirty="0"/>
          </a:p>
        </p:txBody>
      </p:sp>
      <p:sp>
        <p:nvSpPr>
          <p:cNvPr id="5" name="Text 2"/>
          <p:cNvSpPr/>
          <p:nvPr/>
        </p:nvSpPr>
        <p:spPr>
          <a:xfrm>
            <a:off x="548640" y="1508760"/>
            <a:ext cx="530352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Señales de estatus EMPLEADO</a:t>
            </a:r>
            <a:endParaRPr lang="en-US" sz="1500" dirty="0"/>
          </a:p>
        </p:txBody>
      </p:sp>
      <p:sp>
        <p:nvSpPr>
          <p:cNvPr id="6" name="Text 3"/>
          <p:cNvSpPr/>
          <p:nvPr/>
        </p:nvSpPr>
        <p:spPr>
          <a:xfrm>
            <a:off x="54864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Ofreces beneficios: seguro, PTO, aportaciones de retiro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La relación es abierta, sin fin definido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trabajo es central para tu negocio principal, no incidental</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No existe contrato, o describe empleo a voluntad</a:t>
            </a:r>
            <a:endParaRPr lang="en-US" sz="1400" dirty="0"/>
          </a:p>
        </p:txBody>
      </p:sp>
      <p:sp>
        <p:nvSpPr>
          <p:cNvPr id="7" name="Shape 4"/>
          <p:cNvSpPr/>
          <p:nvPr/>
        </p:nvSpPr>
        <p:spPr>
          <a:xfrm>
            <a:off x="6080760" y="1600200"/>
            <a:ext cx="0" cy="4114800"/>
          </a:xfrm>
          <a:prstGeom prst="line">
            <a:avLst/>
          </a:prstGeom>
          <a:noFill/>
          <a:ln w="19050">
            <a:solidFill>
              <a:srgbClr val="C7D2D6"/>
            </a:solidFill>
            <a:prstDash val="solid"/>
          </a:ln>
        </p:spPr>
      </p:sp>
      <p:sp>
        <p:nvSpPr>
          <p:cNvPr id="8" name="Text 5"/>
          <p:cNvSpPr/>
          <p:nvPr/>
        </p:nvSpPr>
        <p:spPr>
          <a:xfrm>
            <a:off x="6309360" y="1508760"/>
            <a:ext cx="5303520" cy="365760"/>
          </a:xfrm>
          <a:prstGeom prst="rect">
            <a:avLst/>
          </a:prstGeom>
          <a:noFill/>
          <a:ln/>
        </p:spPr>
        <p:txBody>
          <a:bodyPr wrap="square" lIns="0" tIns="0" rIns="0" bIns="0" rtlCol="0" anchor="ctr"/>
          <a:lstStyle/>
          <a:p>
            <a:pPr indent="0" marL="0">
              <a:buNone/>
            </a:pPr>
            <a:r>
              <a:rPr lang="en-US" sz="1500" b="1" dirty="0">
                <a:solidFill>
                  <a:srgbClr val="C9A97E"/>
                </a:solidFill>
                <a:latin typeface="Calibri" pitchFamily="34" charset="0"/>
                <a:ea typeface="Calibri" pitchFamily="34" charset="-122"/>
                <a:cs typeface="Calibri" pitchFamily="34" charset="-120"/>
              </a:rPr>
              <a:t>Señales de estatus CONTRATISTA</a:t>
            </a:r>
            <a:endParaRPr lang="en-US" sz="1500" dirty="0"/>
          </a:p>
        </p:txBody>
      </p:sp>
      <p:sp>
        <p:nvSpPr>
          <p:cNvPr id="9" name="Text 6"/>
          <p:cNvSpPr/>
          <p:nvPr/>
        </p:nvSpPr>
        <p:spPr>
          <a:xfrm>
            <a:off x="6309360" y="1965960"/>
            <a:ext cx="530352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No se ofrecen beneficios tipo empleado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trabajo tiene un alcance definido, proyecto, o fecha de fin</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trabajo es periférico o especializado, no tu servicio principal</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Un acuerdo de contratista independiente firmado define el alcance</a:t>
            </a:r>
            <a:endParaRPr lang="en-US" sz="1400" dirty="0"/>
          </a:p>
        </p:txBody>
      </p:sp>
      <p:sp>
        <p:nvSpPr>
          <p:cNvPr id="10" name="Shape 7"/>
          <p:cNvSpPr/>
          <p:nvPr/>
        </p:nvSpPr>
        <p:spPr>
          <a:xfrm>
            <a:off x="548640" y="5623560"/>
            <a:ext cx="11064240" cy="777240"/>
          </a:xfrm>
          <a:prstGeom prst="roundRect">
            <a:avLst>
              <a:gd name="adj" fmla="val 9412"/>
            </a:avLst>
          </a:prstGeom>
          <a:solidFill>
            <a:srgbClr val="F7F2EA"/>
          </a:solidFill>
          <a:ln/>
        </p:spPr>
      </p:sp>
      <p:sp>
        <p:nvSpPr>
          <p:cNvPr id="11" name="Text 8"/>
          <p:cNvSpPr/>
          <p:nvPr/>
        </p:nvSpPr>
        <p:spPr>
          <a:xfrm>
            <a:off x="822960" y="5623560"/>
            <a:ext cx="10515600" cy="777240"/>
          </a:xfrm>
          <a:prstGeom prst="rect">
            <a:avLst/>
          </a:prstGeom>
          <a:noFill/>
          <a:ln/>
        </p:spPr>
        <p:txBody>
          <a:bodyPr wrap="square" lIns="0" tIns="0" rIns="0" bIns="0" rtlCol="0" anchor="ctr"/>
          <a:lstStyle/>
          <a:p>
            <a:pPr indent="0" marL="0">
              <a:buNone/>
            </a:pPr>
            <a:r>
              <a:rPr lang="en-US" sz="1300" b="1" dirty="0">
                <a:solidFill>
                  <a:srgbClr val="081F33"/>
                </a:solidFill>
                <a:latin typeface="Calibri" pitchFamily="34" charset="0"/>
                <a:ea typeface="Calibri" pitchFamily="34" charset="-122"/>
                <a:cs typeface="Calibri" pitchFamily="34" charset="-120"/>
              </a:rPr>
              <a:t>Idea clave:  </a:t>
            </a:r>
            <a:pPr indent="0" marL="0">
              <a:buNone/>
            </a:pPr>
            <a:r>
              <a:rPr lang="en-US" sz="1300" dirty="0">
                <a:solidFill>
                  <a:srgbClr val="081F33"/>
                </a:solidFill>
                <a:latin typeface="Calibri" pitchFamily="34" charset="0"/>
                <a:ea typeface="Calibri" pitchFamily="34" charset="-122"/>
                <a:cs typeface="Calibri" pitchFamily="34" charset="-120"/>
              </a:rPr>
              <a:t>Un contrato que llama a alguien “contratista” tiene poco peso si la relación es indefinida y central para lo que haces.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search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10058400" cy="7772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Ningún Factor Decide el Caso Por Sí Solo</a:t>
            </a:r>
            <a:endParaRPr lang="en-US" sz="2500" dirty="0"/>
          </a:p>
        </p:txBody>
      </p:sp>
      <p:sp>
        <p:nvSpPr>
          <p:cNvPr id="5" name="Text 2"/>
          <p:cNvSpPr/>
          <p:nvPr/>
        </p:nvSpPr>
        <p:spPr>
          <a:xfrm>
            <a:off x="548640" y="1417320"/>
            <a:ext cx="10698480" cy="822960"/>
          </a:xfrm>
          <a:prstGeom prst="rect">
            <a:avLst/>
          </a:prstGeom>
          <a:noFill/>
          <a:ln/>
        </p:spPr>
        <p:txBody>
          <a:bodyPr wrap="square" lIns="0" tIns="0" rIns="0" bIns="0" rtlCol="0" anchor="ctr"/>
          <a:lstStyle/>
          <a:p>
            <a:pPr indent="0" marL="0">
              <a:lnSpc>
                <a:spcPct val="130000"/>
              </a:lnSpc>
              <a:buNone/>
            </a:pPr>
            <a:r>
              <a:rPr lang="en-US" sz="1450" dirty="0">
                <a:solidFill>
                  <a:srgbClr val="C7D2D6"/>
                </a:solidFill>
                <a:latin typeface="Calibri" pitchFamily="34" charset="0"/>
                <a:ea typeface="Calibri" pitchFamily="34" charset="-122"/>
                <a:cs typeface="Calibri" pitchFamily="34" charset="-120"/>
              </a:rPr>
              <a:t>Esta prueba desciende de un análisis de derecho común más largo, de 20 factores, que el IRS usaba históricamente. El marco de tres factores agrupa esas mismas consideraciones en categorías manejables — pero el principio subyacente no ha cambiado:</a:t>
            </a:r>
            <a:endParaRPr lang="en-US" sz="1450" dirty="0"/>
          </a:p>
        </p:txBody>
      </p:sp>
      <p:sp>
        <p:nvSpPr>
          <p:cNvPr id="6" name="Shape 3"/>
          <p:cNvSpPr/>
          <p:nvPr/>
        </p:nvSpPr>
        <p:spPr>
          <a:xfrm>
            <a:off x="548640" y="2468880"/>
            <a:ext cx="11064240" cy="868680"/>
          </a:xfrm>
          <a:prstGeom prst="roundRect">
            <a:avLst>
              <a:gd name="adj" fmla="val 8421"/>
            </a:avLst>
          </a:prstGeom>
          <a:solidFill>
            <a:srgbClr val="0E3A5F"/>
          </a:solidFill>
          <a:ln/>
        </p:spPr>
      </p:sp>
      <p:sp>
        <p:nvSpPr>
          <p:cNvPr id="7" name="Text 4"/>
          <p:cNvSpPr/>
          <p:nvPr/>
        </p:nvSpPr>
        <p:spPr>
          <a:xfrm>
            <a:off x="822960" y="2468880"/>
            <a:ext cx="1051560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Un trabajador puede parecer “tipo contratista” en un factor y “tipo empleado” en otro — el IRS pondera la relación total, no una sola casilla</a:t>
            </a:r>
            <a:endParaRPr lang="en-US" sz="1250" dirty="0"/>
          </a:p>
        </p:txBody>
      </p:sp>
      <p:sp>
        <p:nvSpPr>
          <p:cNvPr id="8" name="Shape 5"/>
          <p:cNvSpPr/>
          <p:nvPr/>
        </p:nvSpPr>
        <p:spPr>
          <a:xfrm>
            <a:off x="548640" y="3456432"/>
            <a:ext cx="11064240" cy="868680"/>
          </a:xfrm>
          <a:prstGeom prst="roundRect">
            <a:avLst>
              <a:gd name="adj" fmla="val 8421"/>
            </a:avLst>
          </a:prstGeom>
          <a:solidFill>
            <a:srgbClr val="0E3A5F"/>
          </a:solidFill>
          <a:ln/>
        </p:spPr>
      </p:sp>
      <p:sp>
        <p:nvSpPr>
          <p:cNvPr id="9" name="Text 6"/>
          <p:cNvSpPr/>
          <p:nvPr/>
        </p:nvSpPr>
        <p:spPr>
          <a:xfrm>
            <a:off x="822960" y="3456432"/>
            <a:ext cx="1051560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Los hechos importan más que las etiquetas: lo que realmente pasa día a día pesa más que lo que dice un contrato o factura</a:t>
            </a:r>
            <a:endParaRPr lang="en-US" sz="1250" dirty="0"/>
          </a:p>
        </p:txBody>
      </p:sp>
      <p:sp>
        <p:nvSpPr>
          <p:cNvPr id="10" name="Shape 7"/>
          <p:cNvSpPr/>
          <p:nvPr/>
        </p:nvSpPr>
        <p:spPr>
          <a:xfrm>
            <a:off x="548640" y="4443984"/>
            <a:ext cx="11064240" cy="868680"/>
          </a:xfrm>
          <a:prstGeom prst="roundRect">
            <a:avLst>
              <a:gd name="adj" fmla="val 8421"/>
            </a:avLst>
          </a:prstGeom>
          <a:solidFill>
            <a:srgbClr val="0E3A5F"/>
          </a:solidFill>
          <a:ln/>
        </p:spPr>
      </p:sp>
      <p:sp>
        <p:nvSpPr>
          <p:cNvPr id="11" name="Text 8"/>
          <p:cNvSpPr/>
          <p:nvPr/>
        </p:nvSpPr>
        <p:spPr>
          <a:xfrm>
            <a:off x="822960" y="4443984"/>
            <a:ext cx="1051560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El análisis puede cambiar con el tiempo — un puesto que empezó como un proyecto genuino puede convertirse en un patrón tipo empleado sin que nadie actualice el papeleo</a:t>
            </a:r>
            <a:endParaRPr lang="en-US" sz="1250" dirty="0"/>
          </a:p>
        </p:txBody>
      </p:sp>
      <p:sp>
        <p:nvSpPr>
          <p:cNvPr id="12" name="Shape 9"/>
          <p:cNvSpPr/>
          <p:nvPr/>
        </p:nvSpPr>
        <p:spPr>
          <a:xfrm>
            <a:off x="548640" y="5431536"/>
            <a:ext cx="11064240" cy="868680"/>
          </a:xfrm>
          <a:prstGeom prst="roundRect">
            <a:avLst>
              <a:gd name="adj" fmla="val 8421"/>
            </a:avLst>
          </a:prstGeom>
          <a:solidFill>
            <a:srgbClr val="0E3A5F"/>
          </a:solidFill>
          <a:ln/>
        </p:spPr>
      </p:sp>
      <p:sp>
        <p:nvSpPr>
          <p:cNvPr id="13" name="Text 10"/>
          <p:cNvSpPr/>
          <p:nvPr/>
        </p:nvSpPr>
        <p:spPr>
          <a:xfrm>
            <a:off x="822960" y="5431536"/>
            <a:ext cx="10515600" cy="8686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Cuando el panorama es mixto, la suposición más segura suele ser estatus de empleado hasta que un profesional confirme lo contrario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C9A97E"/>
          </a:solidFill>
          <a:ln/>
        </p:spPr>
      </p:sp>
      <p:pic>
        <p:nvPicPr>
          <p:cNvPr id="3" name="Image 0" descr="icon_question_white.png">    </p:cNvPr>
          <p:cNvPicPr>
            <a:picLocks noChangeAspect="1"/>
          </p:cNvPicPr>
          <p:nvPr/>
        </p:nvPicPr>
        <p:blipFill>
          <a:blip r:embed="rId1"/>
          <a:stretch>
            <a:fillRect/>
          </a:stretch>
        </p:blipFill>
        <p:spPr>
          <a:xfrm>
            <a:off x="731520" y="667512"/>
            <a:ext cx="365760" cy="365760"/>
          </a:xfrm>
          <a:prstGeom prst="rect">
            <a:avLst/>
          </a:prstGeom>
        </p:spPr>
      </p:pic>
      <p:sp>
        <p:nvSpPr>
          <p:cNvPr id="4" name="Text 1"/>
          <p:cNvSpPr/>
          <p:nvPr/>
        </p:nvSpPr>
        <p:spPr>
          <a:xfrm>
            <a:off x="1417320" y="502920"/>
            <a:ext cx="10058400" cy="685800"/>
          </a:xfrm>
          <a:prstGeom prst="rect">
            <a:avLst/>
          </a:prstGeom>
          <a:noFill/>
          <a:ln/>
        </p:spPr>
        <p:txBody>
          <a:bodyPr wrap="square" lIns="0" tIns="0" rIns="0" bIns="0" rtlCol="0" anchor="ctr"/>
          <a:lstStyle/>
          <a:p>
            <a:pPr indent="0" marL="0">
              <a:buNone/>
            </a:pPr>
            <a:r>
              <a:rPr lang="en-US" sz="2400" b="1" dirty="0">
                <a:solidFill>
                  <a:srgbClr val="081F33"/>
                </a:solidFill>
                <a:latin typeface="Cambria" pitchFamily="34" charset="0"/>
                <a:ea typeface="Cambria" pitchFamily="34" charset="-122"/>
                <a:cs typeface="Cambria" pitchFamily="34" charset="-120"/>
              </a:rPr>
              <a:t>Mitos Comunes Que Meten a la Gente en Problemas</a:t>
            </a:r>
            <a:endParaRPr lang="en-US" sz="2400" dirty="0"/>
          </a:p>
        </p:txBody>
      </p:sp>
      <p:sp>
        <p:nvSpPr>
          <p:cNvPr id="5" name="Shape 2"/>
          <p:cNvSpPr/>
          <p:nvPr/>
        </p:nvSpPr>
        <p:spPr>
          <a:xfrm>
            <a:off x="548640" y="1463040"/>
            <a:ext cx="11064240" cy="841248"/>
          </a:xfrm>
          <a:prstGeom prst="roundRect">
            <a:avLst>
              <a:gd name="adj" fmla="val 8696"/>
            </a:avLst>
          </a:prstGeom>
          <a:solidFill>
            <a:srgbClr val="F7F2EA"/>
          </a:solidFill>
          <a:ln/>
        </p:spPr>
      </p:sp>
      <p:sp>
        <p:nvSpPr>
          <p:cNvPr id="6" name="Text 3"/>
          <p:cNvSpPr/>
          <p:nvPr/>
        </p:nvSpPr>
        <p:spPr>
          <a:xfrm>
            <a:off x="822960" y="1463040"/>
            <a:ext cx="3931920" cy="841248"/>
          </a:xfrm>
          <a:prstGeom prst="rect">
            <a:avLst/>
          </a:prstGeom>
          <a:noFill/>
          <a:ln/>
        </p:spPr>
        <p:txBody>
          <a:bodyPr wrap="square" lIns="0" tIns="0" rIns="0" bIns="0" rtlCol="0" anchor="ctr"/>
          <a:lstStyle/>
          <a:p>
            <a:pPr indent="0" marL="0">
              <a:buNone/>
            </a:pPr>
            <a:r>
              <a:rPr lang="en-US" sz="1300" b="1" i="1" dirty="0">
                <a:solidFill>
                  <a:srgbClr val="081F33"/>
                </a:solidFill>
                <a:latin typeface="Calibri" pitchFamily="34" charset="0"/>
                <a:ea typeface="Calibri" pitchFamily="34" charset="-122"/>
                <a:cs typeface="Calibri" pitchFamily="34" charset="-120"/>
              </a:rPr>
              <a:t>“Firmamos un contrato que lo llama contratista.”</a:t>
            </a:r>
            <a:endParaRPr lang="en-US" sz="1300" dirty="0"/>
          </a:p>
        </p:txBody>
      </p:sp>
      <p:sp>
        <p:nvSpPr>
          <p:cNvPr id="7" name="Text 4"/>
          <p:cNvSpPr/>
          <p:nvPr/>
        </p:nvSpPr>
        <p:spPr>
          <a:xfrm>
            <a:off x="4892040" y="1463040"/>
            <a:ext cx="6537960" cy="841248"/>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Una etiqueta no anula los hechos — el IRS ve cómo funciona realmente la relación</a:t>
            </a:r>
            <a:endParaRPr lang="en-US" sz="1200" dirty="0"/>
          </a:p>
        </p:txBody>
      </p:sp>
      <p:sp>
        <p:nvSpPr>
          <p:cNvPr id="8" name="Shape 5"/>
          <p:cNvSpPr/>
          <p:nvPr/>
        </p:nvSpPr>
        <p:spPr>
          <a:xfrm>
            <a:off x="548640" y="2404872"/>
            <a:ext cx="11064240" cy="841248"/>
          </a:xfrm>
          <a:prstGeom prst="roundRect">
            <a:avLst>
              <a:gd name="adj" fmla="val 8696"/>
            </a:avLst>
          </a:prstGeom>
          <a:solidFill>
            <a:srgbClr val="F7F2EA"/>
          </a:solidFill>
          <a:ln/>
        </p:spPr>
      </p:sp>
      <p:sp>
        <p:nvSpPr>
          <p:cNvPr id="9" name="Text 6"/>
          <p:cNvSpPr/>
          <p:nvPr/>
        </p:nvSpPr>
        <p:spPr>
          <a:xfrm>
            <a:off x="822960" y="2404872"/>
            <a:ext cx="3931920" cy="841248"/>
          </a:xfrm>
          <a:prstGeom prst="rect">
            <a:avLst/>
          </a:prstGeom>
          <a:noFill/>
          <a:ln/>
        </p:spPr>
        <p:txBody>
          <a:bodyPr wrap="square" lIns="0" tIns="0" rIns="0" bIns="0" rtlCol="0" anchor="ctr"/>
          <a:lstStyle/>
          <a:p>
            <a:pPr indent="0" marL="0">
              <a:buNone/>
            </a:pPr>
            <a:r>
              <a:rPr lang="en-US" sz="1300" b="1" i="1" dirty="0">
                <a:solidFill>
                  <a:srgbClr val="081F33"/>
                </a:solidFill>
                <a:latin typeface="Calibri" pitchFamily="34" charset="0"/>
                <a:ea typeface="Calibri" pitchFamily="34" charset="-122"/>
                <a:cs typeface="Calibri" pitchFamily="34" charset="-120"/>
              </a:rPr>
              <a:t>“Pidieron que se les pagara como 1099.”</a:t>
            </a:r>
            <a:endParaRPr lang="en-US" sz="1300" dirty="0"/>
          </a:p>
        </p:txBody>
      </p:sp>
      <p:sp>
        <p:nvSpPr>
          <p:cNvPr id="10" name="Text 7"/>
          <p:cNvSpPr/>
          <p:nvPr/>
        </p:nvSpPr>
        <p:spPr>
          <a:xfrm>
            <a:off x="4892040" y="2404872"/>
            <a:ext cx="6537960" cy="841248"/>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La preferencia del trabajador no cambia el análisis legal ni quién debe qué impuestos</a:t>
            </a:r>
            <a:endParaRPr lang="en-US" sz="1200" dirty="0"/>
          </a:p>
        </p:txBody>
      </p:sp>
      <p:sp>
        <p:nvSpPr>
          <p:cNvPr id="11" name="Shape 8"/>
          <p:cNvSpPr/>
          <p:nvPr/>
        </p:nvSpPr>
        <p:spPr>
          <a:xfrm>
            <a:off x="548640" y="3346704"/>
            <a:ext cx="11064240" cy="841248"/>
          </a:xfrm>
          <a:prstGeom prst="roundRect">
            <a:avLst>
              <a:gd name="adj" fmla="val 8696"/>
            </a:avLst>
          </a:prstGeom>
          <a:solidFill>
            <a:srgbClr val="F7F2EA"/>
          </a:solidFill>
          <a:ln/>
        </p:spPr>
      </p:sp>
      <p:sp>
        <p:nvSpPr>
          <p:cNvPr id="12" name="Text 9"/>
          <p:cNvSpPr/>
          <p:nvPr/>
        </p:nvSpPr>
        <p:spPr>
          <a:xfrm>
            <a:off x="822960" y="3346704"/>
            <a:ext cx="3931920" cy="841248"/>
          </a:xfrm>
          <a:prstGeom prst="rect">
            <a:avLst/>
          </a:prstGeom>
          <a:noFill/>
          <a:ln/>
        </p:spPr>
        <p:txBody>
          <a:bodyPr wrap="square" lIns="0" tIns="0" rIns="0" bIns="0" rtlCol="0" anchor="ctr"/>
          <a:lstStyle/>
          <a:p>
            <a:pPr indent="0" marL="0">
              <a:buNone/>
            </a:pPr>
            <a:r>
              <a:rPr lang="en-US" sz="1300" b="1" i="1" dirty="0">
                <a:solidFill>
                  <a:srgbClr val="081F33"/>
                </a:solidFill>
                <a:latin typeface="Calibri" pitchFamily="34" charset="0"/>
                <a:ea typeface="Calibri" pitchFamily="34" charset="-122"/>
                <a:cs typeface="Calibri" pitchFamily="34" charset="-120"/>
              </a:rPr>
              <a:t>“Es menos de $600, así que no importa.”</a:t>
            </a:r>
            <a:endParaRPr lang="en-US" sz="1300" dirty="0"/>
          </a:p>
        </p:txBody>
      </p:sp>
      <p:sp>
        <p:nvSpPr>
          <p:cNvPr id="13" name="Text 10"/>
          <p:cNvSpPr/>
          <p:nvPr/>
        </p:nvSpPr>
        <p:spPr>
          <a:xfrm>
            <a:off x="4892040" y="3346704"/>
            <a:ext cx="6537960" cy="841248"/>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El umbral de $600 activa un requisito de presentar el 1099-NEC — no tiene nada que ver con la clasificación en sí</a:t>
            </a:r>
            <a:endParaRPr lang="en-US" sz="1200" dirty="0"/>
          </a:p>
        </p:txBody>
      </p:sp>
      <p:sp>
        <p:nvSpPr>
          <p:cNvPr id="14" name="Shape 11"/>
          <p:cNvSpPr/>
          <p:nvPr/>
        </p:nvSpPr>
        <p:spPr>
          <a:xfrm>
            <a:off x="548640" y="4288536"/>
            <a:ext cx="11064240" cy="841248"/>
          </a:xfrm>
          <a:prstGeom prst="roundRect">
            <a:avLst>
              <a:gd name="adj" fmla="val 8696"/>
            </a:avLst>
          </a:prstGeom>
          <a:solidFill>
            <a:srgbClr val="F7F2EA"/>
          </a:solidFill>
          <a:ln/>
        </p:spPr>
      </p:sp>
      <p:sp>
        <p:nvSpPr>
          <p:cNvPr id="15" name="Text 12"/>
          <p:cNvSpPr/>
          <p:nvPr/>
        </p:nvSpPr>
        <p:spPr>
          <a:xfrm>
            <a:off x="822960" y="4288536"/>
            <a:ext cx="3931920" cy="841248"/>
          </a:xfrm>
          <a:prstGeom prst="rect">
            <a:avLst/>
          </a:prstGeom>
          <a:noFill/>
          <a:ln/>
        </p:spPr>
        <p:txBody>
          <a:bodyPr wrap="square" lIns="0" tIns="0" rIns="0" bIns="0" rtlCol="0" anchor="ctr"/>
          <a:lstStyle/>
          <a:p>
            <a:pPr indent="0" marL="0">
              <a:buNone/>
            </a:pPr>
            <a:r>
              <a:rPr lang="en-US" sz="1300" b="1" i="1" dirty="0">
                <a:solidFill>
                  <a:srgbClr val="081F33"/>
                </a:solidFill>
                <a:latin typeface="Calibri" pitchFamily="34" charset="0"/>
                <a:ea typeface="Calibri" pitchFamily="34" charset="-122"/>
                <a:cs typeface="Calibri" pitchFamily="34" charset="-120"/>
              </a:rPr>
              <a:t>“Solo trabajan unas horas a la semana.”</a:t>
            </a:r>
            <a:endParaRPr lang="en-US" sz="1300" dirty="0"/>
          </a:p>
        </p:txBody>
      </p:sp>
      <p:sp>
        <p:nvSpPr>
          <p:cNvPr id="16" name="Text 13"/>
          <p:cNvSpPr/>
          <p:nvPr/>
        </p:nvSpPr>
        <p:spPr>
          <a:xfrm>
            <a:off x="4892040" y="4288536"/>
            <a:ext cx="6537960" cy="841248"/>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Tiempo parcial no equivale a contratista — un puesto de tiempo parcial puede seguir siendo un puesto de empleado</a:t>
            </a:r>
            <a:endParaRPr lang="en-US" sz="1200" dirty="0"/>
          </a:p>
        </p:txBody>
      </p:sp>
      <p:sp>
        <p:nvSpPr>
          <p:cNvPr id="17" name="Shape 14"/>
          <p:cNvSpPr/>
          <p:nvPr/>
        </p:nvSpPr>
        <p:spPr>
          <a:xfrm>
            <a:off x="548640" y="5230368"/>
            <a:ext cx="11064240" cy="841248"/>
          </a:xfrm>
          <a:prstGeom prst="roundRect">
            <a:avLst>
              <a:gd name="adj" fmla="val 8696"/>
            </a:avLst>
          </a:prstGeom>
          <a:solidFill>
            <a:srgbClr val="F7F2EA"/>
          </a:solidFill>
          <a:ln/>
        </p:spPr>
      </p:sp>
      <p:sp>
        <p:nvSpPr>
          <p:cNvPr id="18" name="Text 15"/>
          <p:cNvSpPr/>
          <p:nvPr/>
        </p:nvSpPr>
        <p:spPr>
          <a:xfrm>
            <a:off x="822960" y="5230368"/>
            <a:ext cx="3931920" cy="841248"/>
          </a:xfrm>
          <a:prstGeom prst="rect">
            <a:avLst/>
          </a:prstGeom>
          <a:noFill/>
          <a:ln/>
        </p:spPr>
        <p:txBody>
          <a:bodyPr wrap="square" lIns="0" tIns="0" rIns="0" bIns="0" rtlCol="0" anchor="ctr"/>
          <a:lstStyle/>
          <a:p>
            <a:pPr indent="0" marL="0">
              <a:buNone/>
            </a:pPr>
            <a:r>
              <a:rPr lang="en-US" sz="1300" b="1" i="1" dirty="0">
                <a:solidFill>
                  <a:srgbClr val="081F33"/>
                </a:solidFill>
                <a:latin typeface="Calibri" pitchFamily="34" charset="0"/>
                <a:ea typeface="Calibri" pitchFamily="34" charset="-122"/>
                <a:cs typeface="Calibri" pitchFamily="34" charset="-120"/>
              </a:rPr>
              <a:t>“Todos en nuestra industria lo hacen así.”</a:t>
            </a:r>
            <a:endParaRPr lang="en-US" sz="1300" dirty="0"/>
          </a:p>
        </p:txBody>
      </p:sp>
      <p:sp>
        <p:nvSpPr>
          <p:cNvPr id="19" name="Text 16"/>
          <p:cNvSpPr/>
          <p:nvPr/>
        </p:nvSpPr>
        <p:spPr>
          <a:xfrm>
            <a:off x="4892040" y="5230368"/>
            <a:ext cx="6537960" cy="841248"/>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Las normas de la industria no obligan al IRS, y “todos lo hacen” nunca ha sido una defensa exitosa en una auditoría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lIns="0" tIns="0" rIns="0" bIns="0" rtlCol="0" anchor="ctr"/>
          <a:lstStyle/>
          <a:p>
            <a:pPr indent="0" marL="0">
              <a:buNone/>
            </a:pPr>
            <a:r>
              <a:rPr lang="en-US" sz="3000" b="1" dirty="0">
                <a:solidFill>
                  <a:srgbClr val="081F33"/>
                </a:solidFill>
                <a:latin typeface="Cambria" pitchFamily="34" charset="0"/>
                <a:ea typeface="Cambria" pitchFamily="34" charset="-122"/>
                <a:cs typeface="Cambria" pitchFamily="34" charset="-120"/>
              </a:rPr>
              <a:t>Juntándolo Todo: Un Ejemplo</a:t>
            </a:r>
            <a:endParaRPr lang="en-US" sz="3000" dirty="0"/>
          </a:p>
        </p:txBody>
      </p:sp>
      <p:sp>
        <p:nvSpPr>
          <p:cNvPr id="3" name="Shape 1"/>
          <p:cNvSpPr/>
          <p:nvPr/>
        </p:nvSpPr>
        <p:spPr>
          <a:xfrm>
            <a:off x="548640" y="1325880"/>
            <a:ext cx="11064240" cy="1234440"/>
          </a:xfrm>
          <a:prstGeom prst="roundRect">
            <a:avLst>
              <a:gd name="adj" fmla="val 7407"/>
            </a:avLst>
          </a:prstGeom>
          <a:solidFill>
            <a:srgbClr val="F7F2EA"/>
          </a:solidFill>
          <a:ln/>
        </p:spPr>
      </p:sp>
      <p:sp>
        <p:nvSpPr>
          <p:cNvPr id="4" name="Text 2"/>
          <p:cNvSpPr/>
          <p:nvPr/>
        </p:nvSpPr>
        <p:spPr>
          <a:xfrm>
            <a:off x="868680" y="1325880"/>
            <a:ext cx="10515600" cy="1234440"/>
          </a:xfrm>
          <a:prstGeom prst="rect">
            <a:avLst/>
          </a:prstGeom>
          <a:noFill/>
          <a:ln/>
        </p:spPr>
        <p:txBody>
          <a:bodyPr wrap="square" lIns="0" tIns="0" rIns="0" bIns="0" rtlCol="0" anchor="ctr"/>
          <a:lstStyle/>
          <a:p>
            <a:pPr indent="0" marL="0">
              <a:lnSpc>
                <a:spcPct val="125000"/>
              </a:lnSpc>
              <a:buNone/>
            </a:pPr>
            <a:r>
              <a:rPr lang="en-US" sz="2600" b="1" dirty="0">
                <a:solidFill>
                  <a:srgbClr val="081F33"/>
                </a:solidFill>
                <a:latin typeface="Calibri" pitchFamily="34" charset="0"/>
                <a:ea typeface="Calibri" pitchFamily="34" charset="-122"/>
                <a:cs typeface="Calibri" pitchFamily="34" charset="-120"/>
              </a:rPr>
              <a:t>“</a:t>
            </a:r>
            <a:pPr indent="0" marL="0">
              <a:lnSpc>
                <a:spcPct val="125000"/>
              </a:lnSpc>
              <a:buNone/>
            </a:pPr>
            <a:r>
              <a:rPr lang="en-US" sz="1400" i="1" dirty="0">
                <a:solidFill>
                  <a:srgbClr val="081F33"/>
                </a:solidFill>
                <a:latin typeface="Calibri" pitchFamily="34" charset="0"/>
                <a:ea typeface="Calibri" pitchFamily="34" charset="-122"/>
                <a:cs typeface="Calibri" pitchFamily="34" charset="-120"/>
              </a:rPr>
              <a:t>Contraté a una contadora que viene cada martes y jueves, usa nuestro software de contabilidad bajo nuestra licencia, y reviso su trabajo semanalmente. También lleva la contabilidad de otros dos pequeños negocios. Nos factura mensualmente por hora.</a:t>
            </a:r>
            <a:endParaRPr lang="en-US" sz="2600" dirty="0"/>
          </a:p>
        </p:txBody>
      </p:sp>
      <p:sp>
        <p:nvSpPr>
          <p:cNvPr id="5" name="Text 3"/>
          <p:cNvSpPr/>
          <p:nvPr/>
        </p:nvSpPr>
        <p:spPr>
          <a:xfrm>
            <a:off x="548640" y="2788920"/>
            <a:ext cx="731520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Ponderando los tres factores:</a:t>
            </a:r>
            <a:endParaRPr lang="en-US" sz="1500" dirty="0"/>
          </a:p>
        </p:txBody>
      </p:sp>
      <p:sp>
        <p:nvSpPr>
          <p:cNvPr id="6" name="Text 4"/>
          <p:cNvSpPr/>
          <p:nvPr/>
        </p:nvSpPr>
        <p:spPr>
          <a:xfrm>
            <a:off x="548640" y="3246120"/>
            <a:ext cx="1828800" cy="64008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Conductual:</a:t>
            </a:r>
            <a:endParaRPr lang="en-US" sz="1350" dirty="0"/>
          </a:p>
        </p:txBody>
      </p:sp>
      <p:sp>
        <p:nvSpPr>
          <p:cNvPr id="7" name="Text 5"/>
          <p:cNvSpPr/>
          <p:nvPr/>
        </p:nvSpPr>
        <p:spPr>
          <a:xfrm>
            <a:off x="2468880" y="3246120"/>
            <a:ext cx="9052560" cy="640080"/>
          </a:xfrm>
          <a:prstGeom prst="rect">
            <a:avLst/>
          </a:prstGeom>
          <a:noFill/>
          <a:ln/>
        </p:spPr>
        <p:txBody>
          <a:bodyPr wrap="square" lIns="0" tIns="0" rIns="0" bIns="0" rtlCol="0" anchor="ctr"/>
          <a:lstStyle/>
          <a:p>
            <a:pPr indent="0" marL="0">
              <a:lnSpc>
                <a:spcPct val="120000"/>
              </a:lnSpc>
              <a:buNone/>
            </a:pPr>
            <a:r>
              <a:rPr lang="en-US" sz="1300" dirty="0">
                <a:solidFill>
                  <a:srgbClr val="081F33"/>
                </a:solidFill>
                <a:latin typeface="Calibri" pitchFamily="34" charset="0"/>
                <a:ea typeface="Calibri" pitchFamily="34" charset="-122"/>
                <a:cs typeface="Calibri" pitchFamily="34" charset="-120"/>
              </a:rPr>
              <a:t>Mixto — los días fijos se inclinan hacia empleado, pero ella controla su propio método y proceso contable</a:t>
            </a:r>
            <a:endParaRPr lang="en-US" sz="1300" dirty="0"/>
          </a:p>
        </p:txBody>
      </p:sp>
      <p:sp>
        <p:nvSpPr>
          <p:cNvPr id="8" name="Text 6"/>
          <p:cNvSpPr/>
          <p:nvPr/>
        </p:nvSpPr>
        <p:spPr>
          <a:xfrm>
            <a:off x="548640" y="3977640"/>
            <a:ext cx="1828800" cy="64008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Financiero:</a:t>
            </a:r>
            <a:endParaRPr lang="en-US" sz="1350" dirty="0"/>
          </a:p>
        </p:txBody>
      </p:sp>
      <p:sp>
        <p:nvSpPr>
          <p:cNvPr id="9" name="Text 7"/>
          <p:cNvSpPr/>
          <p:nvPr/>
        </p:nvSpPr>
        <p:spPr>
          <a:xfrm>
            <a:off x="2468880" y="3977640"/>
            <a:ext cx="9052560" cy="640080"/>
          </a:xfrm>
          <a:prstGeom prst="rect">
            <a:avLst/>
          </a:prstGeom>
          <a:noFill/>
          <a:ln/>
        </p:spPr>
        <p:txBody>
          <a:bodyPr wrap="square" lIns="0" tIns="0" rIns="0" bIns="0" rtlCol="0" anchor="ctr"/>
          <a:lstStyle/>
          <a:p>
            <a:pPr indent="0" marL="0">
              <a:lnSpc>
                <a:spcPct val="120000"/>
              </a:lnSpc>
              <a:buNone/>
            </a:pPr>
            <a:r>
              <a:rPr lang="en-US" sz="1300" dirty="0">
                <a:solidFill>
                  <a:srgbClr val="081F33"/>
                </a:solidFill>
                <a:latin typeface="Calibri" pitchFamily="34" charset="0"/>
                <a:ea typeface="Calibri" pitchFamily="34" charset="-122"/>
                <a:cs typeface="Calibri" pitchFamily="34" charset="-120"/>
              </a:rPr>
              <a:t>Se inclina hacia contratista — sirve a otros clientes y asume el riesgo ordinario de una práctica contable independiente</a:t>
            </a:r>
            <a:endParaRPr lang="en-US" sz="1300" dirty="0"/>
          </a:p>
        </p:txBody>
      </p:sp>
      <p:sp>
        <p:nvSpPr>
          <p:cNvPr id="10" name="Text 8"/>
          <p:cNvSpPr/>
          <p:nvPr/>
        </p:nvSpPr>
        <p:spPr>
          <a:xfrm>
            <a:off x="548640" y="4709160"/>
            <a:ext cx="1828800" cy="64008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Relación:</a:t>
            </a:r>
            <a:endParaRPr lang="en-US" sz="1350" dirty="0"/>
          </a:p>
        </p:txBody>
      </p:sp>
      <p:sp>
        <p:nvSpPr>
          <p:cNvPr id="11" name="Text 9"/>
          <p:cNvSpPr/>
          <p:nvPr/>
        </p:nvSpPr>
        <p:spPr>
          <a:xfrm>
            <a:off x="2468880" y="4709160"/>
            <a:ext cx="9052560" cy="640080"/>
          </a:xfrm>
          <a:prstGeom prst="rect">
            <a:avLst/>
          </a:prstGeom>
          <a:noFill/>
          <a:ln/>
        </p:spPr>
        <p:txBody>
          <a:bodyPr wrap="square" lIns="0" tIns="0" rIns="0" bIns="0" rtlCol="0" anchor="ctr"/>
          <a:lstStyle/>
          <a:p>
            <a:pPr indent="0" marL="0">
              <a:lnSpc>
                <a:spcPct val="120000"/>
              </a:lnSpc>
              <a:buNone/>
            </a:pPr>
            <a:r>
              <a:rPr lang="en-US" sz="1300" dirty="0">
                <a:solidFill>
                  <a:srgbClr val="081F33"/>
                </a:solidFill>
                <a:latin typeface="Calibri" pitchFamily="34" charset="0"/>
                <a:ea typeface="Calibri" pitchFamily="34" charset="-122"/>
                <a:cs typeface="Calibri" pitchFamily="34" charset="-120"/>
              </a:rPr>
              <a:t>Se inclina hacia contratista — sin beneficios, el trabajo es especializado en vez de central a lo que vende el negocio</a:t>
            </a:r>
            <a:endParaRPr lang="en-US" sz="1300" dirty="0"/>
          </a:p>
        </p:txBody>
      </p:sp>
      <p:sp>
        <p:nvSpPr>
          <p:cNvPr id="12" name="Shape 10"/>
          <p:cNvSpPr/>
          <p:nvPr/>
        </p:nvSpPr>
        <p:spPr>
          <a:xfrm>
            <a:off x="548640" y="5623560"/>
            <a:ext cx="11064240" cy="777240"/>
          </a:xfrm>
          <a:prstGeom prst="roundRect">
            <a:avLst>
              <a:gd name="adj" fmla="val 9412"/>
            </a:avLst>
          </a:prstGeom>
          <a:solidFill>
            <a:srgbClr val="081F33"/>
          </a:solidFill>
          <a:ln/>
        </p:spPr>
      </p:sp>
      <p:sp>
        <p:nvSpPr>
          <p:cNvPr id="13" name="Text 11"/>
          <p:cNvSpPr/>
          <p:nvPr/>
        </p:nvSpPr>
        <p:spPr>
          <a:xfrm>
            <a:off x="822960" y="5623560"/>
            <a:ext cx="10515600" cy="77724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Conclusión probable: una relación 1099 defendible — los días fijos son superados por independencia genuina en lo demás. Este es el tipo de caso mixto que vale la pena que un profesional revise antes de confiar en él.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gavel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1005840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Qué Cuesta Realmente una Mala Clasificación</a:t>
            </a:r>
            <a:endParaRPr lang="en-US" sz="2400" dirty="0"/>
          </a:p>
        </p:txBody>
      </p:sp>
      <p:sp>
        <p:nvSpPr>
          <p:cNvPr id="5" name="Shape 2"/>
          <p:cNvSpPr/>
          <p:nvPr/>
        </p:nvSpPr>
        <p:spPr>
          <a:xfrm>
            <a:off x="548640" y="1554480"/>
            <a:ext cx="11064240" cy="960120"/>
          </a:xfrm>
          <a:prstGeom prst="roundRect">
            <a:avLst>
              <a:gd name="adj" fmla="val 7619"/>
            </a:avLst>
          </a:prstGeom>
          <a:solidFill>
            <a:srgbClr val="0E3A5F"/>
          </a:solidFill>
          <a:ln/>
        </p:spPr>
      </p:sp>
      <p:sp>
        <p:nvSpPr>
          <p:cNvPr id="6" name="Text 3"/>
          <p:cNvSpPr/>
          <p:nvPr/>
        </p:nvSpPr>
        <p:spPr>
          <a:xfrm>
            <a:off x="822960" y="1554480"/>
            <a:ext cx="3291840" cy="960120"/>
          </a:xfrm>
          <a:prstGeom prst="rect">
            <a:avLst/>
          </a:prstGeom>
          <a:noFill/>
          <a:ln/>
        </p:spPr>
        <p:txBody>
          <a:bodyPr wrap="square" lIns="0" tIns="0" rIns="0" bIns="0" rtlCol="0" anchor="ctr"/>
          <a:lstStyle/>
          <a:p>
            <a:pPr indent="0" marL="0">
              <a:buNone/>
            </a:pPr>
            <a:r>
              <a:rPr lang="en-US" sz="1400" b="1" dirty="0">
                <a:solidFill>
                  <a:srgbClr val="C9A97E"/>
                </a:solidFill>
                <a:latin typeface="Calibri" pitchFamily="34" charset="0"/>
                <a:ea typeface="Calibri" pitchFamily="34" charset="-122"/>
                <a:cs typeface="Calibri" pitchFamily="34" charset="-120"/>
              </a:rPr>
              <a:t>Impuestos de nómina atrasados</a:t>
            </a:r>
            <a:endParaRPr lang="en-US" sz="1400" dirty="0"/>
          </a:p>
        </p:txBody>
      </p:sp>
      <p:sp>
        <p:nvSpPr>
          <p:cNvPr id="7" name="Text 4"/>
          <p:cNvSpPr/>
          <p:nvPr/>
        </p:nvSpPr>
        <p:spPr>
          <a:xfrm>
            <a:off x="4251960" y="1554480"/>
            <a:ext cx="7178040" cy="9601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La parte del empleador del Seguro Social y Medicare, retroactivo a cuando el puesto comenzó a funcionar como empleo</a:t>
            </a:r>
            <a:endParaRPr lang="en-US" sz="1250" dirty="0"/>
          </a:p>
        </p:txBody>
      </p:sp>
      <p:sp>
        <p:nvSpPr>
          <p:cNvPr id="8" name="Shape 5"/>
          <p:cNvSpPr/>
          <p:nvPr/>
        </p:nvSpPr>
        <p:spPr>
          <a:xfrm>
            <a:off x="548640" y="2633472"/>
            <a:ext cx="11064240" cy="960120"/>
          </a:xfrm>
          <a:prstGeom prst="roundRect">
            <a:avLst>
              <a:gd name="adj" fmla="val 7619"/>
            </a:avLst>
          </a:prstGeom>
          <a:solidFill>
            <a:srgbClr val="0E3A5F"/>
          </a:solidFill>
          <a:ln/>
        </p:spPr>
      </p:sp>
      <p:sp>
        <p:nvSpPr>
          <p:cNvPr id="9" name="Text 6"/>
          <p:cNvSpPr/>
          <p:nvPr/>
        </p:nvSpPr>
        <p:spPr>
          <a:xfrm>
            <a:off x="822960" y="2633472"/>
            <a:ext cx="3291840" cy="960120"/>
          </a:xfrm>
          <a:prstGeom prst="rect">
            <a:avLst/>
          </a:prstGeom>
          <a:noFill/>
          <a:ln/>
        </p:spPr>
        <p:txBody>
          <a:bodyPr wrap="square" lIns="0" tIns="0" rIns="0" bIns="0" rtlCol="0" anchor="ctr"/>
          <a:lstStyle/>
          <a:p>
            <a:pPr indent="0" marL="0">
              <a:buNone/>
            </a:pPr>
            <a:r>
              <a:rPr lang="en-US" sz="1400" b="1" dirty="0">
                <a:solidFill>
                  <a:srgbClr val="C9A97E"/>
                </a:solidFill>
                <a:latin typeface="Calibri" pitchFamily="34" charset="0"/>
                <a:ea typeface="Calibri" pitchFamily="34" charset="-122"/>
                <a:cs typeface="Calibri" pitchFamily="34" charset="-120"/>
              </a:rPr>
              <a:t>Multas e intereses</a:t>
            </a:r>
            <a:endParaRPr lang="en-US" sz="1400" dirty="0"/>
          </a:p>
        </p:txBody>
      </p:sp>
      <p:sp>
        <p:nvSpPr>
          <p:cNvPr id="10" name="Text 7"/>
          <p:cNvSpPr/>
          <p:nvPr/>
        </p:nvSpPr>
        <p:spPr>
          <a:xfrm>
            <a:off x="4251960" y="2633472"/>
            <a:ext cx="7178040" cy="9601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Multas por no retener y no depositar, más intereses acumulados desde la fecha de vencimiento original de cada período</a:t>
            </a:r>
            <a:endParaRPr lang="en-US" sz="1250" dirty="0"/>
          </a:p>
        </p:txBody>
      </p:sp>
      <p:sp>
        <p:nvSpPr>
          <p:cNvPr id="11" name="Shape 8"/>
          <p:cNvSpPr/>
          <p:nvPr/>
        </p:nvSpPr>
        <p:spPr>
          <a:xfrm>
            <a:off x="548640" y="3712464"/>
            <a:ext cx="11064240" cy="960120"/>
          </a:xfrm>
          <a:prstGeom prst="roundRect">
            <a:avLst>
              <a:gd name="adj" fmla="val 7619"/>
            </a:avLst>
          </a:prstGeom>
          <a:solidFill>
            <a:srgbClr val="0E3A5F"/>
          </a:solidFill>
          <a:ln/>
        </p:spPr>
      </p:sp>
      <p:sp>
        <p:nvSpPr>
          <p:cNvPr id="12" name="Text 9"/>
          <p:cNvSpPr/>
          <p:nvPr/>
        </p:nvSpPr>
        <p:spPr>
          <a:xfrm>
            <a:off x="822960" y="3712464"/>
            <a:ext cx="3291840" cy="960120"/>
          </a:xfrm>
          <a:prstGeom prst="rect">
            <a:avLst/>
          </a:prstGeom>
          <a:noFill/>
          <a:ln/>
        </p:spPr>
        <p:txBody>
          <a:bodyPr wrap="square" lIns="0" tIns="0" rIns="0" bIns="0" rtlCol="0" anchor="ctr"/>
          <a:lstStyle/>
          <a:p>
            <a:pPr indent="0" marL="0">
              <a:buNone/>
            </a:pPr>
            <a:r>
              <a:rPr lang="en-US" sz="1400" b="1" dirty="0">
                <a:solidFill>
                  <a:srgbClr val="C9A97E"/>
                </a:solidFill>
                <a:latin typeface="Calibri" pitchFamily="34" charset="0"/>
                <a:ea typeface="Calibri" pitchFamily="34" charset="-122"/>
                <a:cs typeface="Calibri" pitchFamily="34" charset="-120"/>
              </a:rPr>
              <a:t>Múltiples agencias, de forma independiente</a:t>
            </a:r>
            <a:endParaRPr lang="en-US" sz="1400" dirty="0"/>
          </a:p>
        </p:txBody>
      </p:sp>
      <p:sp>
        <p:nvSpPr>
          <p:cNvPr id="13" name="Text 10"/>
          <p:cNvSpPr/>
          <p:nvPr/>
        </p:nvSpPr>
        <p:spPr>
          <a:xfrm>
            <a:off x="4251960" y="3712464"/>
            <a:ext cx="7178040" cy="9601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Las agencias estatales de desempleo y compensación laboral pueden perseguir esto por separado — una resolución federal no cierra todas las puertas</a:t>
            </a:r>
            <a:endParaRPr lang="en-US" sz="1250" dirty="0"/>
          </a:p>
        </p:txBody>
      </p:sp>
      <p:sp>
        <p:nvSpPr>
          <p:cNvPr id="14" name="Shape 11"/>
          <p:cNvSpPr/>
          <p:nvPr/>
        </p:nvSpPr>
        <p:spPr>
          <a:xfrm>
            <a:off x="548640" y="4791456"/>
            <a:ext cx="11064240" cy="960120"/>
          </a:xfrm>
          <a:prstGeom prst="roundRect">
            <a:avLst>
              <a:gd name="adj" fmla="val 7619"/>
            </a:avLst>
          </a:prstGeom>
          <a:solidFill>
            <a:srgbClr val="0E3A5F"/>
          </a:solidFill>
          <a:ln/>
        </p:spPr>
      </p:sp>
      <p:sp>
        <p:nvSpPr>
          <p:cNvPr id="15" name="Text 12"/>
          <p:cNvSpPr/>
          <p:nvPr/>
        </p:nvSpPr>
        <p:spPr>
          <a:xfrm>
            <a:off x="822960" y="4791456"/>
            <a:ext cx="3291840" cy="960120"/>
          </a:xfrm>
          <a:prstGeom prst="rect">
            <a:avLst/>
          </a:prstGeom>
          <a:noFill/>
          <a:ln/>
        </p:spPr>
        <p:txBody>
          <a:bodyPr wrap="square" lIns="0" tIns="0" rIns="0" bIns="0" rtlCol="0" anchor="ctr"/>
          <a:lstStyle/>
          <a:p>
            <a:pPr indent="0" marL="0">
              <a:buNone/>
            </a:pPr>
            <a:r>
              <a:rPr lang="en-US" sz="1400" b="1" dirty="0">
                <a:solidFill>
                  <a:srgbClr val="C9A97E"/>
                </a:solidFill>
                <a:latin typeface="Calibri" pitchFamily="34" charset="0"/>
                <a:ea typeface="Calibri" pitchFamily="34" charset="-122"/>
                <a:cs typeface="Calibri" pitchFamily="34" charset="-120"/>
              </a:rPr>
              <a:t>Exposición de beneficios</a:t>
            </a:r>
            <a:endParaRPr lang="en-US" sz="1400" dirty="0"/>
          </a:p>
        </p:txBody>
      </p:sp>
      <p:sp>
        <p:nvSpPr>
          <p:cNvPr id="16" name="Text 13"/>
          <p:cNvSpPr/>
          <p:nvPr/>
        </p:nvSpPr>
        <p:spPr>
          <a:xfrm>
            <a:off x="4251960" y="4791456"/>
            <a:ext cx="7178040" cy="96012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Reclamos retroactivos por beneficios que el trabajador habría recibido como empleado — PTO, aportación de retiro, cobertura médica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contract_white.png">    </p:cNvPr>
          <p:cNvPicPr>
            <a:picLocks noChangeAspect="1"/>
          </p:cNvPicPr>
          <p:nvPr/>
        </p:nvPicPr>
        <p:blipFill>
          <a:blip r:embed="rId1"/>
          <a:stretch>
            <a:fillRect/>
          </a:stretch>
        </p:blipFill>
        <p:spPr>
          <a:xfrm>
            <a:off x="749808" y="667512"/>
            <a:ext cx="329184" cy="365760"/>
          </a:xfrm>
          <a:prstGeom prst="rect">
            <a:avLst/>
          </a:prstGeom>
        </p:spPr>
      </p:pic>
      <p:sp>
        <p:nvSpPr>
          <p:cNvPr id="4" name="Text 1"/>
          <p:cNvSpPr/>
          <p:nvPr/>
        </p:nvSpPr>
        <p:spPr>
          <a:xfrm>
            <a:off x="1417320" y="502920"/>
            <a:ext cx="10058400" cy="685800"/>
          </a:xfrm>
          <a:prstGeom prst="rect">
            <a:avLst/>
          </a:prstGeom>
          <a:noFill/>
          <a:ln/>
        </p:spPr>
        <p:txBody>
          <a:bodyPr wrap="square" lIns="0" tIns="0" rIns="0" bIns="0" rtlCol="0" anchor="ctr"/>
          <a:lstStyle/>
          <a:p>
            <a:pPr indent="0" marL="0">
              <a:buNone/>
            </a:pPr>
            <a:r>
              <a:rPr lang="en-US" sz="2300" b="1" dirty="0">
                <a:solidFill>
                  <a:srgbClr val="081F33"/>
                </a:solidFill>
                <a:latin typeface="Cambria" pitchFamily="34" charset="0"/>
                <a:ea typeface="Cambria" pitchFamily="34" charset="-122"/>
                <a:cs typeface="Cambria" pitchFamily="34" charset="-120"/>
              </a:rPr>
              <a:t>Documentación Que Apoya Tu Posición</a:t>
            </a:r>
            <a:endParaRPr lang="en-US" sz="2300" dirty="0"/>
          </a:p>
        </p:txBody>
      </p:sp>
      <p:pic>
        <p:nvPicPr>
          <p:cNvPr id="5" name="Image 1" descr="icon_clipboardcheck_navy.png">    </p:cNvPr>
          <p:cNvPicPr>
            <a:picLocks noChangeAspect="1"/>
          </p:cNvPicPr>
          <p:nvPr/>
        </p:nvPicPr>
        <p:blipFill>
          <a:blip r:embed="rId2"/>
          <a:stretch>
            <a:fillRect/>
          </a:stretch>
        </p:blipFill>
        <p:spPr>
          <a:xfrm>
            <a:off x="548640" y="1508760"/>
            <a:ext cx="292608" cy="292608"/>
          </a:xfrm>
          <a:prstGeom prst="rect">
            <a:avLst/>
          </a:prstGeom>
        </p:spPr>
      </p:pic>
      <p:sp>
        <p:nvSpPr>
          <p:cNvPr id="6" name="Text 2"/>
          <p:cNvSpPr/>
          <p:nvPr/>
        </p:nvSpPr>
        <p:spPr>
          <a:xfrm>
            <a:off x="1005840" y="1453896"/>
            <a:ext cx="10424160" cy="502920"/>
          </a:xfrm>
          <a:prstGeom prst="rect">
            <a:avLst/>
          </a:prstGeom>
          <a:noFill/>
          <a:ln/>
        </p:spPr>
        <p:txBody>
          <a:bodyPr wrap="square" lIns="0" tIns="0" rIns="0" bIns="0" rtlCol="0" anchor="ctr"/>
          <a:lstStyle/>
          <a:p>
            <a:pPr indent="0" marL="0">
              <a:buNone/>
            </a:pPr>
            <a:r>
              <a:rPr lang="en-US" sz="1400" dirty="0">
                <a:solidFill>
                  <a:srgbClr val="081F33"/>
                </a:solidFill>
                <a:latin typeface="Calibri" pitchFamily="34" charset="0"/>
                <a:ea typeface="Calibri" pitchFamily="34" charset="-122"/>
                <a:cs typeface="Calibri" pitchFamily="34" charset="-120"/>
              </a:rPr>
              <a:t>Un acuerdo firmado que describe resultados y entregables, no tareas supervisadas</a:t>
            </a:r>
            <a:endParaRPr lang="en-US" sz="1400" dirty="0"/>
          </a:p>
        </p:txBody>
      </p:sp>
      <p:pic>
        <p:nvPicPr>
          <p:cNvPr id="7" name="Image 2" descr="icon_clipboardcheck_navy.png">    </p:cNvPr>
          <p:cNvPicPr>
            <a:picLocks noChangeAspect="1"/>
          </p:cNvPicPr>
          <p:nvPr/>
        </p:nvPicPr>
        <p:blipFill>
          <a:blip r:embed="rId3"/>
          <a:stretch>
            <a:fillRect/>
          </a:stretch>
        </p:blipFill>
        <p:spPr>
          <a:xfrm>
            <a:off x="548640" y="2167128"/>
            <a:ext cx="292608" cy="292608"/>
          </a:xfrm>
          <a:prstGeom prst="rect">
            <a:avLst/>
          </a:prstGeom>
        </p:spPr>
      </p:pic>
      <p:sp>
        <p:nvSpPr>
          <p:cNvPr id="8" name="Text 3"/>
          <p:cNvSpPr/>
          <p:nvPr/>
        </p:nvSpPr>
        <p:spPr>
          <a:xfrm>
            <a:off x="1005840" y="2112264"/>
            <a:ext cx="10424160" cy="502920"/>
          </a:xfrm>
          <a:prstGeom prst="rect">
            <a:avLst/>
          </a:prstGeom>
          <a:noFill/>
          <a:ln/>
        </p:spPr>
        <p:txBody>
          <a:bodyPr wrap="square" lIns="0" tIns="0" rIns="0" bIns="0" rtlCol="0" anchor="ctr"/>
          <a:lstStyle/>
          <a:p>
            <a:pPr indent="0" marL="0">
              <a:buNone/>
            </a:pPr>
            <a:r>
              <a:rPr lang="en-US" sz="1400" dirty="0">
                <a:solidFill>
                  <a:srgbClr val="081F33"/>
                </a:solidFill>
                <a:latin typeface="Calibri" pitchFamily="34" charset="0"/>
                <a:ea typeface="Calibri" pitchFamily="34" charset="-122"/>
                <a:cs typeface="Calibri" pitchFamily="34" charset="-120"/>
              </a:rPr>
              <a:t>Evidencia de que el trabajador promociona servicios a, y sirve a, otros clientes</a:t>
            </a:r>
            <a:endParaRPr lang="en-US" sz="1400" dirty="0"/>
          </a:p>
        </p:txBody>
      </p:sp>
      <p:pic>
        <p:nvPicPr>
          <p:cNvPr id="9" name="Image 3" descr="icon_clipboardcheck_navy.png">    </p:cNvPr>
          <p:cNvPicPr>
            <a:picLocks noChangeAspect="1"/>
          </p:cNvPicPr>
          <p:nvPr/>
        </p:nvPicPr>
        <p:blipFill>
          <a:blip r:embed="rId4"/>
          <a:stretch>
            <a:fillRect/>
          </a:stretch>
        </p:blipFill>
        <p:spPr>
          <a:xfrm>
            <a:off x="548640" y="2825496"/>
            <a:ext cx="292608" cy="292608"/>
          </a:xfrm>
          <a:prstGeom prst="rect">
            <a:avLst/>
          </a:prstGeom>
        </p:spPr>
      </p:pic>
      <p:sp>
        <p:nvSpPr>
          <p:cNvPr id="10" name="Text 4"/>
          <p:cNvSpPr/>
          <p:nvPr/>
        </p:nvSpPr>
        <p:spPr>
          <a:xfrm>
            <a:off x="1005840" y="2770632"/>
            <a:ext cx="10424160" cy="502920"/>
          </a:xfrm>
          <a:prstGeom prst="rect">
            <a:avLst/>
          </a:prstGeom>
          <a:noFill/>
          <a:ln/>
        </p:spPr>
        <p:txBody>
          <a:bodyPr wrap="square" lIns="0" tIns="0" rIns="0" bIns="0" rtlCol="0" anchor="ctr"/>
          <a:lstStyle/>
          <a:p>
            <a:pPr indent="0" marL="0">
              <a:buNone/>
            </a:pPr>
            <a:r>
              <a:rPr lang="en-US" sz="1400" dirty="0">
                <a:solidFill>
                  <a:srgbClr val="081F33"/>
                </a:solidFill>
                <a:latin typeface="Calibri" pitchFamily="34" charset="0"/>
                <a:ea typeface="Calibri" pitchFamily="34" charset="-122"/>
                <a:cs typeface="Calibri" pitchFamily="34" charset="-120"/>
              </a:rPr>
              <a:t>Facturas que reflejan facturación por proyecto o hito, no un patrón recurrente tipo salario</a:t>
            </a:r>
            <a:endParaRPr lang="en-US" sz="1400" dirty="0"/>
          </a:p>
        </p:txBody>
      </p:sp>
      <p:pic>
        <p:nvPicPr>
          <p:cNvPr id="11" name="Image 4" descr="icon_clipboardcheck_navy.png">    </p:cNvPr>
          <p:cNvPicPr>
            <a:picLocks noChangeAspect="1"/>
          </p:cNvPicPr>
          <p:nvPr/>
        </p:nvPicPr>
        <p:blipFill>
          <a:blip r:embed="rId5"/>
          <a:stretch>
            <a:fillRect/>
          </a:stretch>
        </p:blipFill>
        <p:spPr>
          <a:xfrm>
            <a:off x="548640" y="3483864"/>
            <a:ext cx="292608" cy="292608"/>
          </a:xfrm>
          <a:prstGeom prst="rect">
            <a:avLst/>
          </a:prstGeom>
        </p:spPr>
      </p:pic>
      <p:sp>
        <p:nvSpPr>
          <p:cNvPr id="12" name="Text 5"/>
          <p:cNvSpPr/>
          <p:nvPr/>
        </p:nvSpPr>
        <p:spPr>
          <a:xfrm>
            <a:off x="1005840" y="3429000"/>
            <a:ext cx="10424160" cy="502920"/>
          </a:xfrm>
          <a:prstGeom prst="rect">
            <a:avLst/>
          </a:prstGeom>
          <a:noFill/>
          <a:ln/>
        </p:spPr>
        <p:txBody>
          <a:bodyPr wrap="square" lIns="0" tIns="0" rIns="0" bIns="0" rtlCol="0" anchor="ctr"/>
          <a:lstStyle/>
          <a:p>
            <a:pPr indent="0" marL="0">
              <a:buNone/>
            </a:pPr>
            <a:r>
              <a:rPr lang="en-US" sz="1400" dirty="0">
                <a:solidFill>
                  <a:srgbClr val="081F33"/>
                </a:solidFill>
                <a:latin typeface="Calibri" pitchFamily="34" charset="0"/>
                <a:ea typeface="Calibri" pitchFamily="34" charset="-122"/>
                <a:cs typeface="Calibri" pitchFamily="34" charset="-120"/>
              </a:rPr>
              <a:t>Sin equipo de la empresa, correo electrónico, o registros de capacitación obligatoria</a:t>
            </a:r>
            <a:endParaRPr lang="en-US" sz="1400" dirty="0"/>
          </a:p>
        </p:txBody>
      </p:sp>
      <p:pic>
        <p:nvPicPr>
          <p:cNvPr id="13" name="Image 5" descr="icon_clipboardcheck_navy.png">    </p:cNvPr>
          <p:cNvPicPr>
            <a:picLocks noChangeAspect="1"/>
          </p:cNvPicPr>
          <p:nvPr/>
        </p:nvPicPr>
        <p:blipFill>
          <a:blip r:embed="rId6"/>
          <a:stretch>
            <a:fillRect/>
          </a:stretch>
        </p:blipFill>
        <p:spPr>
          <a:xfrm>
            <a:off x="548640" y="4142232"/>
            <a:ext cx="292608" cy="292608"/>
          </a:xfrm>
          <a:prstGeom prst="rect">
            <a:avLst/>
          </a:prstGeom>
        </p:spPr>
      </p:pic>
      <p:sp>
        <p:nvSpPr>
          <p:cNvPr id="14" name="Text 6"/>
          <p:cNvSpPr/>
          <p:nvPr/>
        </p:nvSpPr>
        <p:spPr>
          <a:xfrm>
            <a:off x="1005840" y="4087368"/>
            <a:ext cx="10424160" cy="502920"/>
          </a:xfrm>
          <a:prstGeom prst="rect">
            <a:avLst/>
          </a:prstGeom>
          <a:noFill/>
          <a:ln/>
        </p:spPr>
        <p:txBody>
          <a:bodyPr wrap="square" lIns="0" tIns="0" rIns="0" bIns="0" rtlCol="0" anchor="ctr"/>
          <a:lstStyle/>
          <a:p>
            <a:pPr indent="0" marL="0">
              <a:buNone/>
            </a:pPr>
            <a:r>
              <a:rPr lang="en-US" sz="1400" dirty="0">
                <a:solidFill>
                  <a:srgbClr val="081F33"/>
                </a:solidFill>
                <a:latin typeface="Calibri" pitchFamily="34" charset="0"/>
                <a:ea typeface="Calibri" pitchFamily="34" charset="-122"/>
                <a:cs typeface="Calibri" pitchFamily="34" charset="-120"/>
              </a:rPr>
              <a:t>Formulario W-9 recolectado antes del primer pago, Formulario 1099-NEC presentado a tiempo</a:t>
            </a:r>
            <a:endParaRPr lang="en-US" sz="1400" dirty="0"/>
          </a:p>
        </p:txBody>
      </p:sp>
      <p:sp>
        <p:nvSpPr>
          <p:cNvPr id="15" name="Shape 7"/>
          <p:cNvSpPr/>
          <p:nvPr/>
        </p:nvSpPr>
        <p:spPr>
          <a:xfrm>
            <a:off x="548640" y="5074920"/>
            <a:ext cx="11064240" cy="868680"/>
          </a:xfrm>
          <a:prstGeom prst="roundRect">
            <a:avLst>
              <a:gd name="adj" fmla="val 8421"/>
            </a:avLst>
          </a:prstGeom>
          <a:solidFill>
            <a:srgbClr val="F7F2EA"/>
          </a:solidFill>
          <a:ln/>
        </p:spPr>
      </p:sp>
      <p:sp>
        <p:nvSpPr>
          <p:cNvPr id="16" name="Text 8"/>
          <p:cNvSpPr/>
          <p:nvPr/>
        </p:nvSpPr>
        <p:spPr>
          <a:xfrm>
            <a:off x="822960" y="5074920"/>
            <a:ext cx="10515600" cy="868680"/>
          </a:xfrm>
          <a:prstGeom prst="rect">
            <a:avLst/>
          </a:prstGeom>
          <a:noFill/>
          <a:ln/>
        </p:spPr>
        <p:txBody>
          <a:bodyPr wrap="square" lIns="0" tIns="0" rIns="0" bIns="0" rtlCol="0" anchor="ctr"/>
          <a:lstStyle/>
          <a:p>
            <a:pPr indent="0" marL="0">
              <a:lnSpc>
                <a:spcPct val="125000"/>
              </a:lnSpc>
              <a:buNone/>
            </a:pPr>
            <a:r>
              <a:rPr lang="en-US" sz="1300" b="1" dirty="0">
                <a:solidFill>
                  <a:srgbClr val="081F33"/>
                </a:solidFill>
                <a:latin typeface="Calibri" pitchFamily="34" charset="0"/>
                <a:ea typeface="Calibri" pitchFamily="34" charset="-122"/>
                <a:cs typeface="Calibri" pitchFamily="34" charset="-120"/>
              </a:rPr>
              <a:t>Importante:  </a:t>
            </a:r>
            <a:pPr indent="0" marL="0">
              <a:lnSpc>
                <a:spcPct val="125000"/>
              </a:lnSpc>
              <a:buNone/>
            </a:pPr>
            <a:r>
              <a:rPr lang="en-US" sz="1300" dirty="0">
                <a:solidFill>
                  <a:srgbClr val="081F33"/>
                </a:solidFill>
                <a:latin typeface="Calibri" pitchFamily="34" charset="0"/>
                <a:ea typeface="Calibri" pitchFamily="34" charset="-122"/>
                <a:cs typeface="Calibri" pitchFamily="34" charset="-120"/>
              </a:rPr>
              <a:t>La documentación apoya tu posición — no anula los hechos subyacentes de control y riesgo financiero si apuntan en otra dirección.</a:t>
            </a:r>
            <a:endParaRPr lang="en-US" sz="1300" dirty="0"/>
          </a:p>
        </p:txBody>
      </p:sp>
      <p:sp>
        <p:nvSpPr>
          <p:cNvPr id="17" name="Text 9"/>
          <p:cNvSpPr/>
          <p:nvPr/>
        </p:nvSpPr>
        <p:spPr>
          <a:xfrm>
            <a:off x="548640" y="6080760"/>
            <a:ext cx="10972800" cy="548640"/>
          </a:xfrm>
          <a:prstGeom prst="rect">
            <a:avLst/>
          </a:prstGeom>
          <a:noFill/>
          <a:ln/>
        </p:spPr>
        <p:txBody>
          <a:bodyPr wrap="square" lIns="0" tIns="0" rIns="0" bIns="0" rtlCol="0" anchor="ctr"/>
          <a:lstStyle/>
          <a:p>
            <a:pPr indent="0" marL="0">
              <a:lnSpc>
                <a:spcPct val="125000"/>
              </a:lnSpc>
              <a:buNone/>
            </a:pPr>
            <a:r>
              <a:rPr lang="en-US" sz="1200" i="1" dirty="0">
                <a:solidFill>
                  <a:srgbClr val="6B7280"/>
                </a:solidFill>
                <a:latin typeface="Calibri" pitchFamily="34" charset="0"/>
                <a:ea typeface="Calibri" pitchFamily="34" charset="-122"/>
                <a:cs typeface="Calibri" pitchFamily="34" charset="-120"/>
              </a:rPr>
              <a:t>Incluso documentación sólida no puede arreglar un puesto donde los hechos claramente apuntan a estatus de empleado — en ese caso, el papeleo solo se convierte en evidencia de lo que ya sabías.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lightbulb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10058400" cy="7772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Cuando el Caso Es Genuinamente Incierto</a:t>
            </a:r>
            <a:endParaRPr lang="en-US" sz="2500" dirty="0"/>
          </a:p>
        </p:txBody>
      </p:sp>
      <p:sp>
        <p:nvSpPr>
          <p:cNvPr id="5" name="Text 2"/>
          <p:cNvSpPr/>
          <p:nvPr/>
        </p:nvSpPr>
        <p:spPr>
          <a:xfrm>
            <a:off x="548640" y="1417320"/>
            <a:ext cx="10698480" cy="594360"/>
          </a:xfrm>
          <a:prstGeom prst="rect">
            <a:avLst/>
          </a:prstGeom>
          <a:noFill/>
          <a:ln/>
        </p:spPr>
        <p:txBody>
          <a:bodyPr wrap="square" lIns="0" tIns="0" rIns="0" bIns="0" rtlCol="0" anchor="ctr"/>
          <a:lstStyle/>
          <a:p>
            <a:pPr indent="0" marL="0">
              <a:lnSpc>
                <a:spcPct val="130000"/>
              </a:lnSpc>
              <a:buNone/>
            </a:pPr>
            <a:r>
              <a:rPr lang="en-US" sz="1450" dirty="0">
                <a:solidFill>
                  <a:srgbClr val="C7D2D6"/>
                </a:solidFill>
                <a:latin typeface="Calibri" pitchFamily="34" charset="0"/>
                <a:ea typeface="Calibri" pitchFamily="34" charset="-122"/>
                <a:cs typeface="Calibri" pitchFamily="34" charset="-120"/>
              </a:rPr>
              <a:t>Algunas relaciones de trabajo son suficientemente mixtas que incluso un análisis cuidadoso deja incertidumbre real. Existen dos caminos para obtener claridad formal:</a:t>
            </a:r>
            <a:endParaRPr lang="en-US" sz="1450" dirty="0"/>
          </a:p>
        </p:txBody>
      </p:sp>
      <p:sp>
        <p:nvSpPr>
          <p:cNvPr id="6" name="Shape 3"/>
          <p:cNvSpPr/>
          <p:nvPr/>
        </p:nvSpPr>
        <p:spPr>
          <a:xfrm>
            <a:off x="548640" y="2194560"/>
            <a:ext cx="5349240" cy="3566160"/>
          </a:xfrm>
          <a:prstGeom prst="roundRect">
            <a:avLst>
              <a:gd name="adj" fmla="val 2564"/>
            </a:avLst>
          </a:prstGeom>
          <a:solidFill>
            <a:srgbClr val="0E3A5F"/>
          </a:solidFill>
          <a:ln/>
        </p:spPr>
      </p:sp>
      <p:sp>
        <p:nvSpPr>
          <p:cNvPr id="7" name="Text 4"/>
          <p:cNvSpPr/>
          <p:nvPr/>
        </p:nvSpPr>
        <p:spPr>
          <a:xfrm>
            <a:off x="822960" y="2423160"/>
            <a:ext cx="4846320" cy="457200"/>
          </a:xfrm>
          <a:prstGeom prst="rect">
            <a:avLst/>
          </a:prstGeom>
          <a:noFill/>
          <a:ln/>
        </p:spPr>
        <p:txBody>
          <a:bodyPr wrap="square" lIns="0" tIns="0" rIns="0" bIns="0" rtlCol="0" anchor="ctr"/>
          <a:lstStyle/>
          <a:p>
            <a:pPr indent="0" marL="0">
              <a:buNone/>
            </a:pPr>
            <a:r>
              <a:rPr lang="en-US" sz="1600" b="1" dirty="0">
                <a:solidFill>
                  <a:srgbClr val="C9A97E"/>
                </a:solidFill>
                <a:latin typeface="Calibri" pitchFamily="34" charset="0"/>
                <a:ea typeface="Calibri" pitchFamily="34" charset="-122"/>
                <a:cs typeface="Calibri" pitchFamily="34" charset="-120"/>
              </a:rPr>
              <a:t>Formulario SS-8</a:t>
            </a:r>
            <a:endParaRPr lang="en-US" sz="1600" dirty="0"/>
          </a:p>
        </p:txBody>
      </p:sp>
      <p:sp>
        <p:nvSpPr>
          <p:cNvPr id="8" name="Text 5"/>
          <p:cNvSpPr/>
          <p:nvPr/>
        </p:nvSpPr>
        <p:spPr>
          <a:xfrm>
            <a:off x="822960" y="2926080"/>
            <a:ext cx="4846320" cy="118872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Una solicitud formal al IRS para una determinación sobre el estatus de un trabajador específico. El negocio o el trabajador puede presentarlo.</a:t>
            </a:r>
            <a:endParaRPr lang="en-US" sz="1350" dirty="0"/>
          </a:p>
        </p:txBody>
      </p:sp>
      <p:sp>
        <p:nvSpPr>
          <p:cNvPr id="9" name="Text 6"/>
          <p:cNvSpPr/>
          <p:nvPr/>
        </p:nvSpPr>
        <p:spPr>
          <a:xfrm>
            <a:off x="822960" y="4206240"/>
            <a:ext cx="4846320" cy="1280160"/>
          </a:xfrm>
          <a:prstGeom prst="rect">
            <a:avLst/>
          </a:prstGeom>
          <a:noFill/>
          <a:ln/>
        </p:spPr>
        <p:txBody>
          <a:bodyPr wrap="square" lIns="0" tIns="0" rIns="0" bIns="0" rtlCol="0" anchor="ctr"/>
          <a:lstStyle/>
          <a:p>
            <a:pPr indent="0" marL="0">
              <a:lnSpc>
                <a:spcPct val="130000"/>
              </a:lnSpc>
              <a:buNone/>
            </a:pPr>
            <a:r>
              <a:rPr lang="en-US" sz="1250" i="1" dirty="0">
                <a:solidFill>
                  <a:srgbClr val="C7D2D6"/>
                </a:solidFill>
                <a:latin typeface="Calibri" pitchFamily="34" charset="0"/>
                <a:ea typeface="Calibri" pitchFamily="34" charset="-122"/>
                <a:cs typeface="Calibri" pitchFamily="34" charset="-120"/>
              </a:rPr>
              <a:t>Toma varios meses para una respuesta, y la determinación aplica hacia adelante — útil para certeza, no para decisiones urgentes.</a:t>
            </a:r>
            <a:endParaRPr lang="en-US" sz="1250" dirty="0"/>
          </a:p>
        </p:txBody>
      </p:sp>
      <p:sp>
        <p:nvSpPr>
          <p:cNvPr id="10" name="Shape 7"/>
          <p:cNvSpPr/>
          <p:nvPr/>
        </p:nvSpPr>
        <p:spPr>
          <a:xfrm>
            <a:off x="6263640" y="2194560"/>
            <a:ext cx="5349240" cy="3566160"/>
          </a:xfrm>
          <a:prstGeom prst="roundRect">
            <a:avLst>
              <a:gd name="adj" fmla="val 2564"/>
            </a:avLst>
          </a:prstGeom>
          <a:solidFill>
            <a:srgbClr val="1C4E76"/>
          </a:solidFill>
          <a:ln/>
        </p:spPr>
      </p:sp>
      <p:sp>
        <p:nvSpPr>
          <p:cNvPr id="11" name="Text 8"/>
          <p:cNvSpPr/>
          <p:nvPr/>
        </p:nvSpPr>
        <p:spPr>
          <a:xfrm>
            <a:off x="6537960" y="2423160"/>
            <a:ext cx="4846320" cy="457200"/>
          </a:xfrm>
          <a:prstGeom prst="rect">
            <a:avLst/>
          </a:prstGeom>
          <a:noFill/>
          <a:ln/>
        </p:spPr>
        <p:txBody>
          <a:bodyPr wrap="square" lIns="0" tIns="0" rIns="0" bIns="0" rtlCol="0" anchor="ctr"/>
          <a:lstStyle/>
          <a:p>
            <a:pPr indent="0" marL="0">
              <a:buNone/>
            </a:pPr>
            <a:r>
              <a:rPr lang="en-US" sz="1600" b="1" dirty="0">
                <a:solidFill>
                  <a:srgbClr val="7FD9A8"/>
                </a:solidFill>
                <a:latin typeface="Calibri" pitchFamily="34" charset="0"/>
                <a:ea typeface="Calibri" pitchFamily="34" charset="-122"/>
                <a:cs typeface="Calibri" pitchFamily="34" charset="-120"/>
              </a:rPr>
              <a:t>Revisión Profesional</a:t>
            </a:r>
            <a:endParaRPr lang="en-US" sz="1600" dirty="0"/>
          </a:p>
        </p:txBody>
      </p:sp>
      <p:sp>
        <p:nvSpPr>
          <p:cNvPr id="12" name="Text 9"/>
          <p:cNvSpPr/>
          <p:nvPr/>
        </p:nvSpPr>
        <p:spPr>
          <a:xfrm>
            <a:off x="6537960" y="2926080"/>
            <a:ext cx="4846320" cy="118872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Un contador, CPA, o abogado laboral revisa los hechos específicos de la relación contra la prueba de tres factores y cualquier ley estatal aplicable.</a:t>
            </a:r>
            <a:endParaRPr lang="en-US" sz="1350" dirty="0"/>
          </a:p>
        </p:txBody>
      </p:sp>
      <p:sp>
        <p:nvSpPr>
          <p:cNvPr id="13" name="Text 10"/>
          <p:cNvSpPr/>
          <p:nvPr/>
        </p:nvSpPr>
        <p:spPr>
          <a:xfrm>
            <a:off x="6537960" y="4206240"/>
            <a:ext cx="4846320" cy="1280160"/>
          </a:xfrm>
          <a:prstGeom prst="rect">
            <a:avLst/>
          </a:prstGeom>
          <a:noFill/>
          <a:ln/>
        </p:spPr>
        <p:txBody>
          <a:bodyPr wrap="square" lIns="0" tIns="0" rIns="0" bIns="0" rtlCol="0" anchor="ctr"/>
          <a:lstStyle/>
          <a:p>
            <a:pPr indent="0" marL="0">
              <a:lnSpc>
                <a:spcPct val="130000"/>
              </a:lnSpc>
              <a:buNone/>
            </a:pPr>
            <a:r>
              <a:rPr lang="en-US" sz="1250" i="1" dirty="0">
                <a:solidFill>
                  <a:srgbClr val="CFF3DE"/>
                </a:solidFill>
                <a:latin typeface="Calibri" pitchFamily="34" charset="0"/>
                <a:ea typeface="Calibri" pitchFamily="34" charset="-122"/>
                <a:cs typeface="Calibri" pitchFamily="34" charset="-120"/>
              </a:rPr>
              <a:t>Más rápido que el SS-8, y puede ponderar pruebas específicas del estado que el proceso del IRS no considera.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548640" y="457200"/>
            <a:ext cx="105156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Marco de Decisión de Referencia Rápida</a:t>
            </a:r>
            <a:endParaRPr lang="en-US" sz="28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350" i="1" dirty="0">
                <a:solidFill>
                  <a:srgbClr val="C7D2D6"/>
                </a:solidFill>
                <a:latin typeface="Calibri" pitchFamily="34" charset="0"/>
                <a:ea typeface="Calibri" pitchFamily="34" charset="-122"/>
                <a:cs typeface="Calibri" pitchFamily="34" charset="-120"/>
              </a:rPr>
              <a:t>Cuatro preguntas que se relacionan directamente con los tres factores — úsalas como una verificación rápida, no una respuesta final.</a:t>
            </a:r>
            <a:endParaRPr lang="en-US" sz="1350" dirty="0"/>
          </a:p>
        </p:txBody>
      </p:sp>
      <p:sp>
        <p:nvSpPr>
          <p:cNvPr id="4" name="Shape 2"/>
          <p:cNvSpPr/>
          <p:nvPr/>
        </p:nvSpPr>
        <p:spPr>
          <a:xfrm>
            <a:off x="548640" y="1874520"/>
            <a:ext cx="11064240" cy="914400"/>
          </a:xfrm>
          <a:prstGeom prst="roundRect">
            <a:avLst>
              <a:gd name="adj" fmla="val 8000"/>
            </a:avLst>
          </a:prstGeom>
          <a:solidFill>
            <a:srgbClr val="0E3A5F"/>
          </a:solidFill>
          <a:ln/>
        </p:spPr>
      </p:sp>
      <p:sp>
        <p:nvSpPr>
          <p:cNvPr id="5" name="Shape 3"/>
          <p:cNvSpPr/>
          <p:nvPr/>
        </p:nvSpPr>
        <p:spPr>
          <a:xfrm>
            <a:off x="777240" y="2075688"/>
            <a:ext cx="502920" cy="502920"/>
          </a:xfrm>
          <a:prstGeom prst="ellipse">
            <a:avLst/>
          </a:prstGeom>
          <a:solidFill>
            <a:srgbClr val="C9A97E"/>
          </a:solidFill>
          <a:ln/>
        </p:spPr>
      </p:sp>
      <p:sp>
        <p:nvSpPr>
          <p:cNvPr id="6" name="Text 4"/>
          <p:cNvSpPr/>
          <p:nvPr/>
        </p:nvSpPr>
        <p:spPr>
          <a:xfrm>
            <a:off x="777240" y="2075688"/>
            <a:ext cx="502920" cy="502920"/>
          </a:xfrm>
          <a:prstGeom prst="rect">
            <a:avLst/>
          </a:prstGeom>
          <a:noFill/>
          <a:ln/>
        </p:spPr>
        <p:txBody>
          <a:bodyPr wrap="square" lIns="0" tIns="0" rIns="0" bIns="0" rtlCol="0" anchor="ctr"/>
          <a:lstStyle/>
          <a:p>
            <a:pPr algn="ctr" indent="0" marL="0">
              <a:buNone/>
            </a:pPr>
            <a:r>
              <a:rPr lang="en-US" sz="1600" b="1" dirty="0">
                <a:solidFill>
                  <a:srgbClr val="081F33"/>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08760" y="1874520"/>
            <a:ext cx="66751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¿Controlas las horas, métodos, o el proceso diario?</a:t>
            </a:r>
            <a:endParaRPr lang="en-US" sz="1450" dirty="0"/>
          </a:p>
        </p:txBody>
      </p:sp>
      <p:sp>
        <p:nvSpPr>
          <p:cNvPr id="8" name="Text 6"/>
          <p:cNvSpPr/>
          <p:nvPr/>
        </p:nvSpPr>
        <p:spPr>
          <a:xfrm>
            <a:off x="8321040" y="1874520"/>
            <a:ext cx="3108960" cy="914400"/>
          </a:xfrm>
          <a:prstGeom prst="rect">
            <a:avLst/>
          </a:prstGeom>
          <a:noFill/>
          <a:ln/>
        </p:spPr>
        <p:txBody>
          <a:bodyPr wrap="square" lIns="0" tIns="0" rIns="0" bIns="0" rtlCol="0" anchor="ctr"/>
          <a:lstStyle/>
          <a:p>
            <a:pPr algn="r" indent="0" marL="0">
              <a:buNone/>
            </a:pPr>
            <a:r>
              <a:rPr lang="en-US" sz="1300" b="1" i="1" dirty="0">
                <a:solidFill>
                  <a:srgbClr val="C7D2D6"/>
                </a:solidFill>
                <a:latin typeface="Calibri" pitchFamily="34" charset="0"/>
                <a:ea typeface="Calibri" pitchFamily="34" charset="-122"/>
                <a:cs typeface="Calibri" pitchFamily="34" charset="-120"/>
              </a:rPr>
              <a:t>Sí → se inclina hacia empleado</a:t>
            </a:r>
            <a:endParaRPr lang="en-US" sz="1300" dirty="0"/>
          </a:p>
        </p:txBody>
      </p:sp>
      <p:sp>
        <p:nvSpPr>
          <p:cNvPr id="9" name="Shape 7"/>
          <p:cNvSpPr/>
          <p:nvPr/>
        </p:nvSpPr>
        <p:spPr>
          <a:xfrm>
            <a:off x="548640" y="2907792"/>
            <a:ext cx="11064240" cy="914400"/>
          </a:xfrm>
          <a:prstGeom prst="roundRect">
            <a:avLst>
              <a:gd name="adj" fmla="val 8000"/>
            </a:avLst>
          </a:prstGeom>
          <a:solidFill>
            <a:srgbClr val="0E3A5F"/>
          </a:solidFill>
          <a:ln/>
        </p:spPr>
      </p:sp>
      <p:sp>
        <p:nvSpPr>
          <p:cNvPr id="10" name="Shape 8"/>
          <p:cNvSpPr/>
          <p:nvPr/>
        </p:nvSpPr>
        <p:spPr>
          <a:xfrm>
            <a:off x="777240" y="3108960"/>
            <a:ext cx="502920" cy="502920"/>
          </a:xfrm>
          <a:prstGeom prst="ellipse">
            <a:avLst/>
          </a:prstGeom>
          <a:solidFill>
            <a:srgbClr val="C9A97E"/>
          </a:solidFill>
          <a:ln/>
        </p:spPr>
      </p:sp>
      <p:sp>
        <p:nvSpPr>
          <p:cNvPr id="11" name="Text 9"/>
          <p:cNvSpPr/>
          <p:nvPr/>
        </p:nvSpPr>
        <p:spPr>
          <a:xfrm>
            <a:off x="777240" y="3108960"/>
            <a:ext cx="502920" cy="502920"/>
          </a:xfrm>
          <a:prstGeom prst="rect">
            <a:avLst/>
          </a:prstGeom>
          <a:noFill/>
          <a:ln/>
        </p:spPr>
        <p:txBody>
          <a:bodyPr wrap="square" lIns="0" tIns="0" rIns="0" bIns="0" rtlCol="0" anchor="ctr"/>
          <a:lstStyle/>
          <a:p>
            <a:pPr algn="ctr" indent="0" marL="0">
              <a:buNone/>
            </a:pPr>
            <a:r>
              <a:rPr lang="en-US" sz="1600" b="1" dirty="0">
                <a:solidFill>
                  <a:srgbClr val="081F33"/>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508760" y="2907792"/>
            <a:ext cx="66751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¿El trabajador toma otros clientes en el mismo campo de trabajo?</a:t>
            </a:r>
            <a:endParaRPr lang="en-US" sz="1450" dirty="0"/>
          </a:p>
        </p:txBody>
      </p:sp>
      <p:sp>
        <p:nvSpPr>
          <p:cNvPr id="13" name="Text 11"/>
          <p:cNvSpPr/>
          <p:nvPr/>
        </p:nvSpPr>
        <p:spPr>
          <a:xfrm>
            <a:off x="8321040" y="2907792"/>
            <a:ext cx="3108960" cy="914400"/>
          </a:xfrm>
          <a:prstGeom prst="rect">
            <a:avLst/>
          </a:prstGeom>
          <a:noFill/>
          <a:ln/>
        </p:spPr>
        <p:txBody>
          <a:bodyPr wrap="square" lIns="0" tIns="0" rIns="0" bIns="0" rtlCol="0" anchor="ctr"/>
          <a:lstStyle/>
          <a:p>
            <a:pPr algn="r" indent="0" marL="0">
              <a:buNone/>
            </a:pPr>
            <a:r>
              <a:rPr lang="en-US" sz="1300" b="1" i="1" dirty="0">
                <a:solidFill>
                  <a:srgbClr val="C7D2D6"/>
                </a:solidFill>
                <a:latin typeface="Calibri" pitchFamily="34" charset="0"/>
                <a:ea typeface="Calibri" pitchFamily="34" charset="-122"/>
                <a:cs typeface="Calibri" pitchFamily="34" charset="-120"/>
              </a:rPr>
              <a:t>No → se inclina hacia empleado</a:t>
            </a:r>
            <a:endParaRPr lang="en-US" sz="1300" dirty="0"/>
          </a:p>
        </p:txBody>
      </p:sp>
      <p:sp>
        <p:nvSpPr>
          <p:cNvPr id="14" name="Shape 12"/>
          <p:cNvSpPr/>
          <p:nvPr/>
        </p:nvSpPr>
        <p:spPr>
          <a:xfrm>
            <a:off x="548640" y="3941064"/>
            <a:ext cx="11064240" cy="914400"/>
          </a:xfrm>
          <a:prstGeom prst="roundRect">
            <a:avLst>
              <a:gd name="adj" fmla="val 8000"/>
            </a:avLst>
          </a:prstGeom>
          <a:solidFill>
            <a:srgbClr val="0E3A5F"/>
          </a:solidFill>
          <a:ln/>
        </p:spPr>
      </p:sp>
      <p:sp>
        <p:nvSpPr>
          <p:cNvPr id="15" name="Shape 13"/>
          <p:cNvSpPr/>
          <p:nvPr/>
        </p:nvSpPr>
        <p:spPr>
          <a:xfrm>
            <a:off x="777240" y="4142232"/>
            <a:ext cx="502920" cy="502920"/>
          </a:xfrm>
          <a:prstGeom prst="ellipse">
            <a:avLst/>
          </a:prstGeom>
          <a:solidFill>
            <a:srgbClr val="C9A97E"/>
          </a:solidFill>
          <a:ln/>
        </p:spPr>
      </p:sp>
      <p:sp>
        <p:nvSpPr>
          <p:cNvPr id="16" name="Text 14"/>
          <p:cNvSpPr/>
          <p:nvPr/>
        </p:nvSpPr>
        <p:spPr>
          <a:xfrm>
            <a:off x="777240" y="4142232"/>
            <a:ext cx="502920" cy="502920"/>
          </a:xfrm>
          <a:prstGeom prst="rect">
            <a:avLst/>
          </a:prstGeom>
          <a:noFill/>
          <a:ln/>
        </p:spPr>
        <p:txBody>
          <a:bodyPr wrap="square" lIns="0" tIns="0" rIns="0" bIns="0" rtlCol="0" anchor="ctr"/>
          <a:lstStyle/>
          <a:p>
            <a:pPr algn="ctr" indent="0" marL="0">
              <a:buNone/>
            </a:pPr>
            <a:r>
              <a:rPr lang="en-US" sz="1600" b="1" dirty="0">
                <a:solidFill>
                  <a:srgbClr val="081F33"/>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08760" y="3941064"/>
            <a:ext cx="66751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¿El trabajador asume un riesgo real de ganancia o pérdida en el trabajo?</a:t>
            </a:r>
            <a:endParaRPr lang="en-US" sz="1450" dirty="0"/>
          </a:p>
        </p:txBody>
      </p:sp>
      <p:sp>
        <p:nvSpPr>
          <p:cNvPr id="18" name="Text 16"/>
          <p:cNvSpPr/>
          <p:nvPr/>
        </p:nvSpPr>
        <p:spPr>
          <a:xfrm>
            <a:off x="8321040" y="3941064"/>
            <a:ext cx="3108960" cy="914400"/>
          </a:xfrm>
          <a:prstGeom prst="rect">
            <a:avLst/>
          </a:prstGeom>
          <a:noFill/>
          <a:ln/>
        </p:spPr>
        <p:txBody>
          <a:bodyPr wrap="square" lIns="0" tIns="0" rIns="0" bIns="0" rtlCol="0" anchor="ctr"/>
          <a:lstStyle/>
          <a:p>
            <a:pPr algn="r" indent="0" marL="0">
              <a:buNone/>
            </a:pPr>
            <a:r>
              <a:rPr lang="en-US" sz="1300" b="1" i="1" dirty="0">
                <a:solidFill>
                  <a:srgbClr val="C7D2D6"/>
                </a:solidFill>
                <a:latin typeface="Calibri" pitchFamily="34" charset="0"/>
                <a:ea typeface="Calibri" pitchFamily="34" charset="-122"/>
                <a:cs typeface="Calibri" pitchFamily="34" charset="-120"/>
              </a:rPr>
              <a:t>No → se inclina hacia empleado</a:t>
            </a:r>
            <a:endParaRPr lang="en-US" sz="1300" dirty="0"/>
          </a:p>
        </p:txBody>
      </p:sp>
      <p:sp>
        <p:nvSpPr>
          <p:cNvPr id="19" name="Shape 17"/>
          <p:cNvSpPr/>
          <p:nvPr/>
        </p:nvSpPr>
        <p:spPr>
          <a:xfrm>
            <a:off x="548640" y="4974336"/>
            <a:ext cx="11064240" cy="914400"/>
          </a:xfrm>
          <a:prstGeom prst="roundRect">
            <a:avLst>
              <a:gd name="adj" fmla="val 8000"/>
            </a:avLst>
          </a:prstGeom>
          <a:solidFill>
            <a:srgbClr val="0E3A5F"/>
          </a:solidFill>
          <a:ln/>
        </p:spPr>
      </p:sp>
      <p:sp>
        <p:nvSpPr>
          <p:cNvPr id="20" name="Shape 18"/>
          <p:cNvSpPr/>
          <p:nvPr/>
        </p:nvSpPr>
        <p:spPr>
          <a:xfrm>
            <a:off x="777240" y="5175504"/>
            <a:ext cx="502920" cy="502920"/>
          </a:xfrm>
          <a:prstGeom prst="ellipse">
            <a:avLst/>
          </a:prstGeom>
          <a:solidFill>
            <a:srgbClr val="C9A97E"/>
          </a:solidFill>
          <a:ln/>
        </p:spPr>
      </p:sp>
      <p:sp>
        <p:nvSpPr>
          <p:cNvPr id="21" name="Text 19"/>
          <p:cNvSpPr/>
          <p:nvPr/>
        </p:nvSpPr>
        <p:spPr>
          <a:xfrm>
            <a:off x="777240" y="5175504"/>
            <a:ext cx="502920" cy="502920"/>
          </a:xfrm>
          <a:prstGeom prst="rect">
            <a:avLst/>
          </a:prstGeom>
          <a:noFill/>
          <a:ln/>
        </p:spPr>
        <p:txBody>
          <a:bodyPr wrap="square" lIns="0" tIns="0" rIns="0" bIns="0" rtlCol="0" anchor="ctr"/>
          <a:lstStyle/>
          <a:p>
            <a:pPr algn="ctr" indent="0" marL="0">
              <a:buNone/>
            </a:pPr>
            <a:r>
              <a:rPr lang="en-US" sz="1600" b="1" dirty="0">
                <a:solidFill>
                  <a:srgbClr val="081F33"/>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508760" y="4974336"/>
            <a:ext cx="667512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¿La relación es abierta y central para tu negocio principal?</a:t>
            </a:r>
            <a:endParaRPr lang="en-US" sz="1450" dirty="0"/>
          </a:p>
        </p:txBody>
      </p:sp>
      <p:sp>
        <p:nvSpPr>
          <p:cNvPr id="23" name="Text 21"/>
          <p:cNvSpPr/>
          <p:nvPr/>
        </p:nvSpPr>
        <p:spPr>
          <a:xfrm>
            <a:off x="8321040" y="4974336"/>
            <a:ext cx="3108960" cy="914400"/>
          </a:xfrm>
          <a:prstGeom prst="rect">
            <a:avLst/>
          </a:prstGeom>
          <a:noFill/>
          <a:ln/>
        </p:spPr>
        <p:txBody>
          <a:bodyPr wrap="square" lIns="0" tIns="0" rIns="0" bIns="0" rtlCol="0" anchor="ctr"/>
          <a:lstStyle/>
          <a:p>
            <a:pPr algn="r" indent="0" marL="0">
              <a:buNone/>
            </a:pPr>
            <a:r>
              <a:rPr lang="en-US" sz="1300" b="1" i="1" dirty="0">
                <a:solidFill>
                  <a:srgbClr val="C7D2D6"/>
                </a:solidFill>
                <a:latin typeface="Calibri" pitchFamily="34" charset="0"/>
                <a:ea typeface="Calibri" pitchFamily="34" charset="-122"/>
                <a:cs typeface="Calibri" pitchFamily="34" charset="-120"/>
              </a:rPr>
              <a:t>Sí → se inclina hacia empleado</a:t>
            </a:r>
            <a:endParaRPr lang="en-US" sz="1300" dirty="0"/>
          </a:p>
        </p:txBody>
      </p:sp>
      <p:sp>
        <p:nvSpPr>
          <p:cNvPr id="24" name="Text 22"/>
          <p:cNvSpPr/>
          <p:nvPr/>
        </p:nvSpPr>
        <p:spPr>
          <a:xfrm>
            <a:off x="548640" y="6035040"/>
            <a:ext cx="11064240" cy="457200"/>
          </a:xfrm>
          <a:prstGeom prst="rect">
            <a:avLst/>
          </a:prstGeom>
          <a:noFill/>
          <a:ln/>
        </p:spPr>
        <p:txBody>
          <a:bodyPr wrap="square" lIns="0" tIns="0" rIns="0" bIns="0" rtlCol="0" anchor="ctr"/>
          <a:lstStyle/>
          <a:p>
            <a:pPr algn="ctr" indent="0" marL="0">
              <a:buNone/>
            </a:pPr>
            <a:r>
              <a:rPr lang="en-US" sz="1300" i="1" dirty="0">
                <a:solidFill>
                  <a:srgbClr val="C7D2D6"/>
                </a:solidFill>
                <a:latin typeface="Calibri" pitchFamily="34" charset="0"/>
                <a:ea typeface="Calibri" pitchFamily="34" charset="-122"/>
                <a:cs typeface="Calibri" pitchFamily="34" charset="-120"/>
              </a:rPr>
              <a:t>¿Tres o más respuestas que se inclinan hacia empleado? Trata el puesto como W-2 hasta que un profesional confirme lo contrario.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route_white.png">    </p:cNvPr>
          <p:cNvPicPr>
            <a:picLocks noChangeAspect="1"/>
          </p:cNvPicPr>
          <p:nvPr/>
        </p:nvPicPr>
        <p:blipFill>
          <a:blip r:embed="rId1"/>
          <a:stretch>
            <a:fillRect/>
          </a:stretch>
        </p:blipFill>
        <p:spPr>
          <a:xfrm>
            <a:off x="731520" y="667512"/>
            <a:ext cx="365760" cy="365760"/>
          </a:xfrm>
          <a:prstGeom prst="rect">
            <a:avLst/>
          </a:prstGeom>
        </p:spPr>
      </p:pic>
      <p:sp>
        <p:nvSpPr>
          <p:cNvPr id="4" name="Text 1"/>
          <p:cNvSpPr/>
          <p:nvPr/>
        </p:nvSpPr>
        <p:spPr>
          <a:xfrm>
            <a:off x="1417320" y="502920"/>
            <a:ext cx="9144000" cy="685800"/>
          </a:xfrm>
          <a:prstGeom prst="rect">
            <a:avLst/>
          </a:prstGeom>
          <a:noFill/>
          <a:ln/>
        </p:spPr>
        <p:txBody>
          <a:bodyPr wrap="square" lIns="0" tIns="0" rIns="0" bIns="0" rtlCol="0" anchor="ctr"/>
          <a:lstStyle/>
          <a:p>
            <a:pPr indent="0" marL="0">
              <a:buNone/>
            </a:pPr>
            <a:r>
              <a:rPr lang="en-US" sz="3000" b="1" dirty="0">
                <a:solidFill>
                  <a:srgbClr val="081F33"/>
                </a:solidFill>
                <a:latin typeface="Cambria" pitchFamily="34" charset="0"/>
                <a:ea typeface="Cambria" pitchFamily="34" charset="-122"/>
                <a:cs typeface="Cambria" pitchFamily="34" charset="-120"/>
              </a:rPr>
              <a:t>Tu Lista de Acción</a:t>
            </a:r>
            <a:endParaRPr lang="en-US" sz="3000" dirty="0"/>
          </a:p>
        </p:txBody>
      </p:sp>
      <p:sp>
        <p:nvSpPr>
          <p:cNvPr id="5" name="Shape 2"/>
          <p:cNvSpPr/>
          <p:nvPr/>
        </p:nvSpPr>
        <p:spPr>
          <a:xfrm>
            <a:off x="548640" y="1508760"/>
            <a:ext cx="11064240" cy="713232"/>
          </a:xfrm>
          <a:prstGeom prst="roundRect">
            <a:avLst>
              <a:gd name="adj" fmla="val 10256"/>
            </a:avLst>
          </a:prstGeom>
          <a:solidFill>
            <a:srgbClr val="F7F2EA"/>
          </a:solidFill>
          <a:ln/>
        </p:spPr>
      </p:sp>
      <p:pic>
        <p:nvPicPr>
          <p:cNvPr id="6" name="Image 1" descr="icon_clipboardcheck_navy.png">    </p:cNvPr>
          <p:cNvPicPr>
            <a:picLocks noChangeAspect="1"/>
          </p:cNvPicPr>
          <p:nvPr/>
        </p:nvPicPr>
        <p:blipFill>
          <a:blip r:embed="rId2"/>
          <a:stretch>
            <a:fillRect/>
          </a:stretch>
        </p:blipFill>
        <p:spPr>
          <a:xfrm>
            <a:off x="777240" y="1682496"/>
            <a:ext cx="365760" cy="365760"/>
          </a:xfrm>
          <a:prstGeom prst="rect">
            <a:avLst/>
          </a:prstGeom>
        </p:spPr>
      </p:pic>
      <p:sp>
        <p:nvSpPr>
          <p:cNvPr id="7" name="Text 3"/>
          <p:cNvSpPr/>
          <p:nvPr/>
        </p:nvSpPr>
        <p:spPr>
          <a:xfrm>
            <a:off x="1371600" y="150876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Enumera cada trabajador 1099 actual y anota horas, exclusividad, y nivel de dirección dado</a:t>
            </a:r>
            <a:endParaRPr lang="en-US" sz="1350" dirty="0"/>
          </a:p>
        </p:txBody>
      </p:sp>
      <p:sp>
        <p:nvSpPr>
          <p:cNvPr id="8" name="Shape 4"/>
          <p:cNvSpPr/>
          <p:nvPr/>
        </p:nvSpPr>
        <p:spPr>
          <a:xfrm>
            <a:off x="548640" y="2331720"/>
            <a:ext cx="11064240" cy="713232"/>
          </a:xfrm>
          <a:prstGeom prst="roundRect">
            <a:avLst>
              <a:gd name="adj" fmla="val 10256"/>
            </a:avLst>
          </a:prstGeom>
          <a:solidFill>
            <a:srgbClr val="F7F2EA"/>
          </a:solidFill>
          <a:ln/>
        </p:spPr>
      </p:sp>
      <p:pic>
        <p:nvPicPr>
          <p:cNvPr id="9" name="Image 2" descr="icon_clipboardcheck_navy.png">    </p:cNvPr>
          <p:cNvPicPr>
            <a:picLocks noChangeAspect="1"/>
          </p:cNvPicPr>
          <p:nvPr/>
        </p:nvPicPr>
        <p:blipFill>
          <a:blip r:embed="rId3"/>
          <a:stretch>
            <a:fillRect/>
          </a:stretch>
        </p:blipFill>
        <p:spPr>
          <a:xfrm>
            <a:off x="777240" y="2505456"/>
            <a:ext cx="365760" cy="365760"/>
          </a:xfrm>
          <a:prstGeom prst="rect">
            <a:avLst/>
          </a:prstGeom>
        </p:spPr>
      </p:pic>
      <p:sp>
        <p:nvSpPr>
          <p:cNvPr id="10" name="Text 5"/>
          <p:cNvSpPr/>
          <p:nvPr/>
        </p:nvSpPr>
        <p:spPr>
          <a:xfrm>
            <a:off x="1371600" y="233172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Pasa cada uno por los tres factores — conductual, financiero, y de relación</a:t>
            </a:r>
            <a:endParaRPr lang="en-US" sz="1350" dirty="0"/>
          </a:p>
        </p:txBody>
      </p:sp>
      <p:sp>
        <p:nvSpPr>
          <p:cNvPr id="11" name="Shape 6"/>
          <p:cNvSpPr/>
          <p:nvPr/>
        </p:nvSpPr>
        <p:spPr>
          <a:xfrm>
            <a:off x="548640" y="3154680"/>
            <a:ext cx="11064240" cy="713232"/>
          </a:xfrm>
          <a:prstGeom prst="roundRect">
            <a:avLst>
              <a:gd name="adj" fmla="val 10256"/>
            </a:avLst>
          </a:prstGeom>
          <a:solidFill>
            <a:srgbClr val="F7F2EA"/>
          </a:solidFill>
          <a:ln/>
        </p:spPr>
      </p:sp>
      <p:pic>
        <p:nvPicPr>
          <p:cNvPr id="12" name="Image 3" descr="icon_clipboardcheck_navy.png">    </p:cNvPr>
          <p:cNvPicPr>
            <a:picLocks noChangeAspect="1"/>
          </p:cNvPicPr>
          <p:nvPr/>
        </p:nvPicPr>
        <p:blipFill>
          <a:blip r:embed="rId4"/>
          <a:stretch>
            <a:fillRect/>
          </a:stretch>
        </p:blipFill>
        <p:spPr>
          <a:xfrm>
            <a:off x="777240" y="3328416"/>
            <a:ext cx="365760" cy="365760"/>
          </a:xfrm>
          <a:prstGeom prst="rect">
            <a:avLst/>
          </a:prstGeom>
        </p:spPr>
      </p:pic>
      <p:sp>
        <p:nvSpPr>
          <p:cNvPr id="13" name="Text 7"/>
          <p:cNvSpPr/>
          <p:nvPr/>
        </p:nvSpPr>
        <p:spPr>
          <a:xfrm>
            <a:off x="1371600" y="315468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Marca cualquier puesto donde dos o más factores se inclinen hacia estatus de empleado</a:t>
            </a:r>
            <a:endParaRPr lang="en-US" sz="1350" dirty="0"/>
          </a:p>
        </p:txBody>
      </p:sp>
      <p:sp>
        <p:nvSpPr>
          <p:cNvPr id="14" name="Shape 8"/>
          <p:cNvSpPr/>
          <p:nvPr/>
        </p:nvSpPr>
        <p:spPr>
          <a:xfrm>
            <a:off x="548640" y="3977640"/>
            <a:ext cx="11064240" cy="713232"/>
          </a:xfrm>
          <a:prstGeom prst="roundRect">
            <a:avLst>
              <a:gd name="adj" fmla="val 10256"/>
            </a:avLst>
          </a:prstGeom>
          <a:solidFill>
            <a:srgbClr val="F7F2EA"/>
          </a:solidFill>
          <a:ln/>
        </p:spPr>
      </p:sp>
      <p:pic>
        <p:nvPicPr>
          <p:cNvPr id="15" name="Image 4" descr="icon_clipboardcheck_navy.png">    </p:cNvPr>
          <p:cNvPicPr>
            <a:picLocks noChangeAspect="1"/>
          </p:cNvPicPr>
          <p:nvPr/>
        </p:nvPicPr>
        <p:blipFill>
          <a:blip r:embed="rId5"/>
          <a:stretch>
            <a:fillRect/>
          </a:stretch>
        </p:blipFill>
        <p:spPr>
          <a:xfrm>
            <a:off x="777240" y="4151376"/>
            <a:ext cx="365760" cy="365760"/>
          </a:xfrm>
          <a:prstGeom prst="rect">
            <a:avLst/>
          </a:prstGeom>
        </p:spPr>
      </p:pic>
      <p:sp>
        <p:nvSpPr>
          <p:cNvPr id="16" name="Text 9"/>
          <p:cNvSpPr/>
          <p:nvPr/>
        </p:nvSpPr>
        <p:spPr>
          <a:xfrm>
            <a:off x="1371600" y="397764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Reúne documentación para los puestos que confías son genuinamente independientes</a:t>
            </a:r>
            <a:endParaRPr lang="en-US" sz="1350" dirty="0"/>
          </a:p>
        </p:txBody>
      </p:sp>
      <p:sp>
        <p:nvSpPr>
          <p:cNvPr id="17" name="Shape 10"/>
          <p:cNvSpPr/>
          <p:nvPr/>
        </p:nvSpPr>
        <p:spPr>
          <a:xfrm>
            <a:off x="548640" y="4800600"/>
            <a:ext cx="11064240" cy="713232"/>
          </a:xfrm>
          <a:prstGeom prst="roundRect">
            <a:avLst>
              <a:gd name="adj" fmla="val 10256"/>
            </a:avLst>
          </a:prstGeom>
          <a:solidFill>
            <a:srgbClr val="F7F2EA"/>
          </a:solidFill>
          <a:ln/>
        </p:spPr>
      </p:sp>
      <p:pic>
        <p:nvPicPr>
          <p:cNvPr id="18" name="Image 5" descr="icon_clipboardcheck_navy.png">    </p:cNvPr>
          <p:cNvPicPr>
            <a:picLocks noChangeAspect="1"/>
          </p:cNvPicPr>
          <p:nvPr/>
        </p:nvPicPr>
        <p:blipFill>
          <a:blip r:embed="rId6"/>
          <a:stretch>
            <a:fillRect/>
          </a:stretch>
        </p:blipFill>
        <p:spPr>
          <a:xfrm>
            <a:off x="777240" y="4974336"/>
            <a:ext cx="365760" cy="365760"/>
          </a:xfrm>
          <a:prstGeom prst="rect">
            <a:avLst/>
          </a:prstGeom>
        </p:spPr>
      </p:pic>
      <p:sp>
        <p:nvSpPr>
          <p:cNvPr id="19" name="Text 11"/>
          <p:cNvSpPr/>
          <p:nvPr/>
        </p:nvSpPr>
        <p:spPr>
          <a:xfrm>
            <a:off x="1371600" y="480060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Para cualquier caso mixto o incierto, obtén una revisión profesional antes de confiar en la respuesta</a:t>
            </a:r>
            <a:endParaRPr lang="en-US" sz="1350" dirty="0"/>
          </a:p>
        </p:txBody>
      </p:sp>
      <p:sp>
        <p:nvSpPr>
          <p:cNvPr id="20" name="Shape 12"/>
          <p:cNvSpPr/>
          <p:nvPr/>
        </p:nvSpPr>
        <p:spPr>
          <a:xfrm>
            <a:off x="548640" y="5623560"/>
            <a:ext cx="11064240" cy="713232"/>
          </a:xfrm>
          <a:prstGeom prst="roundRect">
            <a:avLst>
              <a:gd name="adj" fmla="val 10256"/>
            </a:avLst>
          </a:prstGeom>
          <a:solidFill>
            <a:srgbClr val="F7F2EA"/>
          </a:solidFill>
          <a:ln/>
        </p:spPr>
      </p:sp>
      <p:pic>
        <p:nvPicPr>
          <p:cNvPr id="21" name="Image 6" descr="icon_clipboardcheck_navy.png">    </p:cNvPr>
          <p:cNvPicPr>
            <a:picLocks noChangeAspect="1"/>
          </p:cNvPicPr>
          <p:nvPr/>
        </p:nvPicPr>
        <p:blipFill>
          <a:blip r:embed="rId7"/>
          <a:stretch>
            <a:fillRect/>
          </a:stretch>
        </p:blipFill>
        <p:spPr>
          <a:xfrm>
            <a:off x="777240" y="5797296"/>
            <a:ext cx="365760" cy="365760"/>
          </a:xfrm>
          <a:prstGeom prst="rect">
            <a:avLst/>
          </a:prstGeom>
        </p:spPr>
      </p:pic>
      <p:sp>
        <p:nvSpPr>
          <p:cNvPr id="22" name="Text 13"/>
          <p:cNvSpPr/>
          <p:nvPr/>
        </p:nvSpPr>
        <p:spPr>
          <a:xfrm>
            <a:off x="1371600" y="5623560"/>
            <a:ext cx="9966960" cy="713232"/>
          </a:xfrm>
          <a:prstGeom prst="rect">
            <a:avLst/>
          </a:prstGeom>
          <a:noFill/>
          <a:ln/>
        </p:spPr>
        <p:txBody>
          <a:bodyPr wrap="square" lIns="0" tIns="0" rIns="0" bIns="0" rtlCol="0" anchor="ctr"/>
          <a:lstStyle/>
          <a:p>
            <a:pPr indent="0" marL="0">
              <a:buNone/>
            </a:pPr>
            <a:r>
              <a:rPr lang="en-US" sz="1350" dirty="0">
                <a:solidFill>
                  <a:srgbClr val="081F33"/>
                </a:solidFill>
                <a:latin typeface="Calibri" pitchFamily="34" charset="0"/>
                <a:ea typeface="Calibri" pitchFamily="34" charset="-122"/>
                <a:cs typeface="Calibri" pitchFamily="34" charset="-120"/>
              </a:rPr>
              <a:t>Para nuevas contrataciones, decide la clasificación antes de hacer la oferta, no después</a:t>
            </a:r>
            <a:endParaRPr lang="en-US" sz="1350" dirty="0"/>
          </a:p>
        </p:txBody>
      </p:sp>
      <p:sp>
        <p:nvSpPr>
          <p:cNvPr id="23" name="Text 14"/>
          <p:cNvSpPr/>
          <p:nvPr/>
        </p:nvSpPr>
        <p:spPr>
          <a:xfrm>
            <a:off x="548640" y="6400800"/>
            <a:ext cx="1097280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Solo educación general — confirma tus hechos específicos con un profesional fiscal o legal.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0E3A5F"/>
          </a:solidFill>
          <a:ln/>
        </p:spPr>
      </p:sp>
      <p:sp>
        <p:nvSpPr>
          <p:cNvPr id="3" name="Shape 1"/>
          <p:cNvSpPr/>
          <p:nvPr/>
        </p:nvSpPr>
        <p:spPr>
          <a:xfrm>
            <a:off x="-1645920" y="4754880"/>
            <a:ext cx="3657600" cy="3657600"/>
          </a:xfrm>
          <a:prstGeom prst="ellipse">
            <a:avLst/>
          </a:prstGeom>
          <a:solidFill>
            <a:srgbClr val="0E3A5F"/>
          </a:solidFill>
          <a:ln/>
        </p:spPr>
      </p:sp>
      <p:sp>
        <p:nvSpPr>
          <p:cNvPr id="4" name="Text 2"/>
          <p:cNvSpPr/>
          <p:nvPr/>
        </p:nvSpPr>
        <p:spPr>
          <a:xfrm>
            <a:off x="548640" y="2377440"/>
            <a:ext cx="7315200" cy="457200"/>
          </a:xfrm>
          <a:prstGeom prst="rect">
            <a:avLst/>
          </a:prstGeom>
          <a:noFill/>
          <a:ln/>
        </p:spPr>
        <p:txBody>
          <a:bodyPr wrap="square" lIns="0" tIns="0" rIns="0" bIns="0" rtlCol="0" anchor="ctr"/>
          <a:lstStyle/>
          <a:p>
            <a:pPr indent="0" marL="0">
              <a:buNone/>
            </a:pPr>
            <a:r>
              <a:rPr lang="en-US" sz="1600" b="1" spc="300" kern="0" dirty="0">
                <a:solidFill>
                  <a:srgbClr val="C7D2D6"/>
                </a:solidFill>
                <a:latin typeface="Calibri" pitchFamily="34" charset="0"/>
                <a:ea typeface="Calibri" pitchFamily="34" charset="-122"/>
                <a:cs typeface="Calibri" pitchFamily="34" charset="-120"/>
              </a:rPr>
              <a:t>NÁCAR &amp; LEDGER</a:t>
            </a:r>
            <a:endParaRPr lang="en-US" sz="1600" dirty="0"/>
          </a:p>
        </p:txBody>
      </p:sp>
      <p:sp>
        <p:nvSpPr>
          <p:cNvPr id="5" name="Text 3"/>
          <p:cNvSpPr/>
          <p:nvPr/>
        </p:nvSpPr>
        <p:spPr>
          <a:xfrm>
            <a:off x="548640" y="2926080"/>
            <a:ext cx="10058400" cy="7315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Un marco. Toda decisión de clasificación.</a:t>
            </a:r>
            <a:endParaRPr lang="en-US" sz="2700" dirty="0"/>
          </a:p>
        </p:txBody>
      </p:sp>
      <p:sp>
        <p:nvSpPr>
          <p:cNvPr id="6" name="Text 4"/>
          <p:cNvSpPr/>
          <p:nvPr/>
        </p:nvSpPr>
        <p:spPr>
          <a:xfrm>
            <a:off x="548640" y="3794760"/>
            <a:ext cx="7315200" cy="365760"/>
          </a:xfrm>
          <a:prstGeom prst="rect">
            <a:avLst/>
          </a:prstGeom>
          <a:noFill/>
          <a:ln/>
        </p:spPr>
        <p:txBody>
          <a:bodyPr wrap="square" lIns="0" tIns="0" rIns="0" bIns="0" rtlCol="0" anchor="ctr"/>
          <a:lstStyle/>
          <a:p>
            <a:pPr indent="0" marL="0">
              <a:buNone/>
            </a:pPr>
            <a:r>
              <a:rPr lang="en-US" sz="1500" dirty="0">
                <a:solidFill>
                  <a:srgbClr val="C7D2D6"/>
                </a:solidFill>
                <a:latin typeface="Calibri" pitchFamily="34" charset="0"/>
                <a:ea typeface="Calibri" pitchFamily="34" charset="-122"/>
                <a:cs typeface="Calibri" pitchFamily="34" charset="-120"/>
              </a:rPr>
              <a:t>nacarledger.com</a:t>
            </a:r>
            <a:endParaRPr lang="en-US" sz="1500" dirty="0"/>
          </a:p>
        </p:txBody>
      </p:sp>
      <p:sp>
        <p:nvSpPr>
          <p:cNvPr id="7" name="Text 5"/>
          <p:cNvSpPr/>
          <p:nvPr/>
        </p:nvSpPr>
        <p:spPr>
          <a:xfrm>
            <a:off x="548640" y="6126480"/>
            <a:ext cx="10515600" cy="45720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Este material es para fines educativos generales y no constituye asesoría fiscal o legal. Consulta a un profesional calificado para orientación específica sobre tu negocio.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2026-07-26T01:11:47Z</dcterms:created>
  <dcterms:modified xsi:type="dcterms:W3CDTF">2026-07-26T01:11:47Z</dcterms:modified>
</cp:coreProperties>
</file>