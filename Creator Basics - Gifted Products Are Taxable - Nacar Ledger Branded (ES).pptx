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eator_deck/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328" y="502920"/>
            <a:ext cx="146304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51460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Marca Me Envió Cosas Gratis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127248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Vez de Pagarme — ¿Es Eso Gravable?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7947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 el mito de “no es dinero real” que atrapa a casi todo creador nuevo)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81448" y="443484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17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en lenguaje sencillo para creadores de TikTok, Instagram, y YouTube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  |  Consultoría Financiera y Operativa  |  Providence, 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ANTES DE EMPEZAR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guía se ofrece únicamente con fines educativos generales y no es asesoría fiscal, legal, ni contable para tu situación específica. Cómo se gravan los productos regalados, los tratos con marcas, y los pagos de plataformas depende de los detalles de cada arreglo.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aquí reemplaza una conversación con un CPA o preparador de impuestos calificado sobre tu propio ingreso. En Nácar &amp; Ledger con gusto podemos conversar sobre cómo esto aplica a tu negocio de creador específico.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ATRAPA A TANTOS CREADORES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Recibir productos gratis no se siente nada como que te paguen.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al IRS no le importa cómo se sintió — le importa cuánto valía.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0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cambió de manos dinero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474720"/>
            <a:ext cx="293613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que no se registra como “ingreso” de la forma en que lo haría un pago directo — aunque el IRS lo trata igual.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233172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0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627778" y="260604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llega un 1099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27778" y="3474720"/>
            <a:ext cx="293613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rara vez emiten formularios fiscales por producto regalado, lo cual hace que se sienta opcional reportarlo. No lo 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6837" y="233172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0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95437" y="260604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explica la regla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95437" y="3474720"/>
            <a:ext cx="293613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creadores se enteran del ingreso a valor justo de mercado de la forma difícil — durante una auditoría, no antes de una.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eator_deck/icons/gif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48640"/>
            <a:ext cx="9905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Regla Central: “Regalado” No Significa Libre de Impuestos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marca te envía algo a cambio de una publicación, una mención, una reseña, o incluso solo “etiquétanos si te gusta” — eso no es un regalo bajo la ley fiscal. Es ingreso de trueque, y es gravable al valor justo de mercado del producto el día que lo recibes.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2971800"/>
            <a:ext cx="10728655" cy="1371600"/>
          </a:xfrm>
          <a:prstGeom prst="roundRect">
            <a:avLst>
              <a:gd name="adj" fmla="val 5333"/>
            </a:avLst>
          </a:prstGeom>
          <a:solidFill>
            <a:srgbClr val="F7F2EA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20040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sencilla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361188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¿Había alguna expectativa asociada — una publicación, una historia, un código, una etiqueta, una reseña? Si sí, es pago en especie. Si una marca realmente envió algo sin condiciones y sin expectativa de contenido, ese es el caso más raro que puede no contar.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realidad:  “No me pidieron que publicara” rara vez se sostiene si el producto llegó justo antes de un lanzamiento, un reabastecimiento, o una campaña — el momento mismo es evidencia de una expectativa.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640080" cy="64008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502920"/>
            <a:ext cx="9905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Es Dinero Real, Es Solo Cosas Gratis”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recibiste un pago, un cheque, o un Venmo — así que no se siente como ingreso que valga la pena rastrear.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grava el ingreso de trueque igual que el ingreso en efectivo. Un paquete de cuidado de la piel de $400 enviado por una publicación es $400 de ingreso gravable, haya o no tocado un dólar tu cuenta bancaria.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10728655" cy="1417320"/>
          </a:xfrm>
          <a:prstGeom prst="roundRect">
            <a:avLst>
              <a:gd name="adj" fmla="val 5161"/>
            </a:avLst>
          </a:prstGeom>
          <a:solidFill>
            <a:srgbClr val="F7F2E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4348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CUESTA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773168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“solo cosas gratis” durante un año se acumula como ingreso real no reportado — y es el mismo monto en dólares lo hayas notado o no.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640080" cy="64008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502920"/>
            <a:ext cx="9905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Me Enviaron un 1099, Así Que No Cuenta”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llegó ningún formulario fiscal, así que no hay nada que reportar — ¿verdad?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son inconsistentes al emitir 1099s por producto regalado, y muchas nunca lo hacen. El requisito de reportar es tuyo como quien gana el ingreso, no depende de si llegó un formulario. El ingreso es ingreso con o sin 1099.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10728655" cy="1417320"/>
          </a:xfrm>
          <a:prstGeom prst="roundRect">
            <a:avLst>
              <a:gd name="adj" fmla="val 5161"/>
            </a:avLst>
          </a:prstGeom>
          <a:solidFill>
            <a:srgbClr val="F7F2E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4348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CUESTA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773168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un formulario que nunca llega significa que el ingreso se acumula sin reportar en silencio durante años — exactamente el patrón que llama la atención en una auditoría.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640080" cy="64008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502920"/>
            <a:ext cx="9905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“Fue Menos de $600, Así Que No Es Gravable”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de $600 se trata como una exención libre de impuestos para regalos y tratos pequeños.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 es el disparador para que un negocio te emita un 1099 — no es un mínimo para lo que cuenta como ingreso. Cada dólar de valor que recibes a cambio de contenido es reportable, sin importar el umbral.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10728655" cy="1417320"/>
          </a:xfrm>
          <a:prstGeom prst="roundRect">
            <a:avLst>
              <a:gd name="adj" fmla="val 5161"/>
            </a:avLst>
          </a:prstGeom>
          <a:solidFill>
            <a:srgbClr val="F7F2E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4348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CUESTA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773168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Acumular varios tratos de “menos de $600” durante un año sigue siendo totalmente gravable — la regla de $600 solo rigió el papeleo de la marca, nunca el tuyo.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640080" cy="64008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502920"/>
            <a:ext cx="9905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Lo Usé / Lo Regalé”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abriste el paquete, o se lo pasaste a un amigo — así que seguramente nunca se volvió tu ingreso.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gravable es cuando recibes el producto con una expectativa asociada, no cuándo o si lo usas. Lo que hagas con él después no deshace el ingreso que ya se generó.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10728655" cy="1417320"/>
          </a:xfrm>
          <a:prstGeom prst="roundRect">
            <a:avLst>
              <a:gd name="adj" fmla="val 5161"/>
            </a:avLst>
          </a:prstGeom>
          <a:solidFill>
            <a:srgbClr val="F7F2E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4348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CUESTA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773168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Regalarlo o ignorarlo no borra el rastro documental — los registros de envío de la marca y tus publicaciones al respecto todavía existen.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eator_deck/icons/ale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502920"/>
            <a:ext cx="99971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Súmalo, y Es un Número Real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691640"/>
            <a:ext cx="10728655" cy="1051560"/>
          </a:xfrm>
          <a:prstGeom prst="roundRect">
            <a:avLst>
              <a:gd name="adj" fmla="val 5217"/>
            </a:avLst>
          </a:prstGeom>
          <a:solidFill>
            <a:srgbClr val="0E3A5F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856232"/>
            <a:ext cx="509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puñado de paquetes de $100–$300 al mes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95848" y="1856232"/>
            <a:ext cx="509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$1,200–$3,600 al año en ingreso no reportado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10728655" cy="1051560"/>
          </a:xfrm>
          <a:prstGeom prst="roundRect">
            <a:avLst>
              <a:gd name="adj" fmla="val 5217"/>
            </a:avLst>
          </a:prstGeom>
          <a:solidFill>
            <a:srgbClr val="0E3A5F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090672"/>
            <a:ext cx="509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 dos colaboraciones grandes con marcas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95848" y="3090672"/>
            <a:ext cx="509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llevar el total a cinco cifras rápidamente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160520"/>
            <a:ext cx="10728655" cy="1051560"/>
          </a:xfrm>
          <a:prstGeom prst="roundRect">
            <a:avLst>
              <a:gd name="adj" fmla="val 5217"/>
            </a:avLst>
          </a:prstGeom>
          <a:solidFill>
            <a:srgbClr val="0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325112"/>
            <a:ext cx="509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años del mismo patrón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95848" y="4325112"/>
            <a:ext cx="5090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impuestos atrasados, multas, e intereses se acumulan cada año que se pierde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eator_deck/icons/clipbo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502920"/>
            <a:ext cx="99971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Es un Hábito Simple, No una Habilidad Nueva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5181448" cy="1463040"/>
          </a:xfrm>
          <a:prstGeom prst="roundRect">
            <a:avLst>
              <a:gd name="adj" fmla="val 5000"/>
            </a:avLst>
          </a:prstGeom>
          <a:solidFill>
            <a:srgbClr val="F7F2EA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60120" y="2029968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Regístralo cuando llegue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37744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que llega un paquete, anota qué era y cuánto vale — una nota en tu teléfono cuenta.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78728" y="1463040"/>
            <a:ext cx="5181448" cy="1463040"/>
          </a:xfrm>
          <a:prstGeom prst="roundRect">
            <a:avLst>
              <a:gd name="adj" fmla="val 5000"/>
            </a:avLst>
          </a:prstGeom>
          <a:solidFill>
            <a:srgbClr val="F7F2EA"/>
          </a:solidFill>
          <a:ln/>
        </p:spPr>
      </p:sp>
      <p:sp>
        <p:nvSpPr>
          <p:cNvPr id="9" name="Text 6"/>
          <p:cNvSpPr/>
          <p:nvPr/>
        </p:nvSpPr>
        <p:spPr>
          <a:xfrm>
            <a:off x="650732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07328" y="2029968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precio de venta como VJM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07328" y="237744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listado en el propio sitio de la marca es una estimación defendible de valor justo de mercado.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3154680"/>
            <a:ext cx="5181448" cy="1463040"/>
          </a:xfrm>
          <a:prstGeom prst="roundRect">
            <a:avLst>
              <a:gd name="adj" fmla="val 5000"/>
            </a:avLst>
          </a:prstGeom>
          <a:solidFill>
            <a:srgbClr val="F7F2EA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60120" y="3721608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solicitud original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406908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 del DM, correo, o contrato que describe lo que la marca esperaba a cambio.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78728" y="3154680"/>
            <a:ext cx="5181448" cy="1463040"/>
          </a:xfrm>
          <a:prstGeom prst="roundRect">
            <a:avLst>
              <a:gd name="adj" fmla="val 5000"/>
            </a:avLst>
          </a:prstGeom>
          <a:solidFill>
            <a:srgbClr val="F7F2EA"/>
          </a:solidFill>
          <a:ln/>
        </p:spPr>
      </p:sp>
      <p:sp>
        <p:nvSpPr>
          <p:cNvPr id="17" name="Text 14"/>
          <p:cNvSpPr/>
          <p:nvPr/>
        </p:nvSpPr>
        <p:spPr>
          <a:xfrm>
            <a:off x="6507328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07328" y="3721608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Apártalo como si fuera efectivo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07328" y="406908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el valor del producto regalado como cualquier otro ingreso al estimar lo que deberás.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eator_deck/icons/flow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502920"/>
            <a:ext cx="99971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Forma Rápida de Revisar Cualquier Paquete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691640"/>
            <a:ext cx="10728655" cy="1234440"/>
          </a:xfrm>
          <a:prstGeom prst="roundRect">
            <a:avLst>
              <a:gd name="adj" fmla="val 4444"/>
            </a:avLst>
          </a:prstGeom>
          <a:solidFill>
            <a:srgbClr val="0E3A5F"/>
          </a:solidFill>
          <a:ln/>
        </p:spPr>
      </p:sp>
      <p:sp>
        <p:nvSpPr>
          <p:cNvPr id="5" name="Shape 2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081F33"/>
          </a:solidFill>
          <a:ln w="12700">
            <a:solidFill>
              <a:srgbClr val="C9A97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5920" y="1856232"/>
            <a:ext cx="90827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marca pidió una publicación, historia, etiqueta, o código — aunque fuera de forma indirecta?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404872"/>
            <a:ext cx="9082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gravable a valor justo de mercado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10728655" cy="1234440"/>
          </a:xfrm>
          <a:prstGeom prst="roundRect">
            <a:avLst>
              <a:gd name="adj" fmla="val 4444"/>
            </a:avLst>
          </a:prstGeom>
          <a:solidFill>
            <a:srgbClr val="0E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337560"/>
            <a:ext cx="502920" cy="502920"/>
          </a:xfrm>
          <a:prstGeom prst="ellipse">
            <a:avLst/>
          </a:prstGeom>
          <a:solidFill>
            <a:srgbClr val="081F33"/>
          </a:solidFill>
          <a:ln w="12700">
            <a:solidFill>
              <a:srgbClr val="C9A9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45920" y="3273552"/>
            <a:ext cx="90827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¿Llegó justo a tiempo para un lanzamiento, reabastecimiento, o campaña?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5920" y="3822192"/>
            <a:ext cx="9082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trátalo como gravable para estar seguro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31520" y="4526280"/>
            <a:ext cx="10728655" cy="1234440"/>
          </a:xfrm>
          <a:prstGeom prst="roundRect">
            <a:avLst>
              <a:gd name="adj" fmla="val 4444"/>
            </a:avLst>
          </a:prstGeom>
          <a:solidFill>
            <a:srgbClr val="0E3A5F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4754880"/>
            <a:ext cx="502920" cy="502920"/>
          </a:xfrm>
          <a:prstGeom prst="ellipse">
            <a:avLst/>
          </a:prstGeom>
          <a:solidFill>
            <a:srgbClr val="081F33"/>
          </a:solidFill>
          <a:ln w="12700">
            <a:solidFill>
              <a:srgbClr val="C9A9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45920" y="4690872"/>
            <a:ext cx="90827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 habrías recibido sin publicar nada en absoluto?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45920" y="5239512"/>
            <a:ext cx="9082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es pago en especie, no un regalo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eator_deck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502920"/>
            <a:ext cx="99971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Tus Próximos Pasos</a:t>
            </a:r>
            <a:endParaRPr lang="en-US" sz="2600" dirty="0"/>
          </a:p>
        </p:txBody>
      </p:sp>
      <p:pic>
        <p:nvPicPr>
          <p:cNvPr id="4" name="Image 1" descr="/home/claude/creator_deck/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155448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un registro simple de cada producto regalado este año — artículo, marca, valor estimado, fecha recibida</a:t>
            </a:r>
            <a:endParaRPr lang="en-US" sz="1550" dirty="0"/>
          </a:p>
        </p:txBody>
      </p:sp>
      <p:pic>
        <p:nvPicPr>
          <p:cNvPr id="6" name="Image 2" descr="/home/claude/creator_deck/icons/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32888"/>
            <a:ext cx="32004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34440" y="251460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los últimos 12 meses de DMs y paquetes si puedes — hasta una estimación aproximada es mejor que nada</a:t>
            </a:r>
            <a:endParaRPr lang="en-US" sz="1550" dirty="0"/>
          </a:p>
        </p:txBody>
      </p:sp>
      <p:pic>
        <p:nvPicPr>
          <p:cNvPr id="8" name="Image 3" descr="/home/claude/creator_deck/icons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93008"/>
            <a:ext cx="320040" cy="3200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34440" y="347472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 aproximadamente el 25–30% del valor de todo lo que registres, igual que el ingreso en efectivo</a:t>
            </a:r>
            <a:endParaRPr lang="en-US" sz="1550" dirty="0"/>
          </a:p>
        </p:txBody>
      </p:sp>
      <p:pic>
        <p:nvPicPr>
          <p:cNvPr id="10" name="Image 4" descr="/home/claude/creator_deck/icons/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53128"/>
            <a:ext cx="320040" cy="3200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34440" y="443484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tu registro a quien te prepare los impuestos — no asumas que ya lo sabe</a:t>
            </a:r>
            <a:endParaRPr lang="en-US" sz="1550" dirty="0"/>
          </a:p>
        </p:txBody>
      </p:sp>
      <p:sp>
        <p:nvSpPr>
          <p:cNvPr id="12" name="Text 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eator_deck/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488" y="640080"/>
            <a:ext cx="1188720" cy="1115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774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Regístralo Como Ingreso, Porque Lo 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88720" y="3200400"/>
            <a:ext cx="98142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simple registro de productos regalados es una de las cosas más fáciles que un creador puede empezar a hacer hoy — mucho antes de que un trato con una marca, una auditoría, o una plataforma más grande lo haga inevitable.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181448" y="425196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805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NÁCAR &amp; LEDGER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9834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Financiera y Operativa para la Próxima Generación de Dueños de Negocio de Providence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nacarledger@outlook.com   |   nacarledger.com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2026-07-26T16:04:10Z</dcterms:created>
  <dcterms:modified xsi:type="dcterms:W3CDTF">2026-07-26T16:04:10Z</dcterms:modified>
</cp:coreProperties>
</file>