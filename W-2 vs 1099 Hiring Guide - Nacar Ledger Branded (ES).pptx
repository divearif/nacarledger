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6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35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¿Este Nuevo Empleado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Debería Ser W-2 o 1099?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Acertar en la Clasificación de Trabajadores Desde el Principio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Práctica para Dueños de SMB que Usan QuickBooks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nacarledger.com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Cubriremos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clasificación es un riesgo financiero real, no papeleo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de tres factores del IRS, explicada en lenguaje sencillo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alerta que suelen atrapar a los dueños de pequeños negocios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49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cuesta realmente una mala clasificación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526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opciones de puerto seguro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5303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marco de decisión que puedes reutilizar en cada nueva contratación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Esto Importa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mal a un trabajador no es un descuido de papeleo — es una responsabilidad retroactiva que se agrava mientras más tiempo pase sin notarse.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IRS y el Departamento del Trabajo </a:t>
            </a:r>
            <a:r>
              <a:rPr lang="en-US" sz="14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aumentado su vigilancia</a:t>
            </a:r>
            <a:r>
              <a:rPr lang="en-US" sz="14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la clasificación de trabajadores en los últimos años — y las agencias estatales (desempleo, compensación laboral) a menudo auditan de forma independiente al IRS.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18872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0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4630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C9A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7040880" y="2880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pueden cuestionar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contratación de forma independiente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3886200"/>
            <a:ext cx="3383280" cy="0"/>
          </a:xfrm>
          <a:prstGeom prst="line">
            <a:avLst/>
          </a:prstGeom>
          <a:noFill/>
          <a:ln w="12700">
            <a:solidFill>
              <a:srgbClr val="9FB0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1148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 ·  Depto. del Trabajo  ·  Desempleo Estatal / Compensación Laboral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IRS Analiza Tres Cosas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factor por sí solo decide el caso — el IRS evalúa toda la relación.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38728" cy="3749040"/>
          </a:xfrm>
          <a:prstGeom prst="roundRect">
            <a:avLst>
              <a:gd name="adj" fmla="val 2584"/>
            </a:avLst>
          </a:prstGeom>
          <a:solidFill>
            <a:srgbClr val="F7F2EA"/>
          </a:solidFill>
          <a:ln/>
        </p:spPr>
      </p:sp>
      <p:sp>
        <p:nvSpPr>
          <p:cNvPr id="5" name="Shape 3"/>
          <p:cNvSpPr/>
          <p:nvPr/>
        </p:nvSpPr>
        <p:spPr>
          <a:xfrm>
            <a:off x="1860804" y="2194560"/>
            <a:ext cx="914400" cy="9144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6" name="Image 0" descr="icon_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96" y="235915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Comportamiento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empresa controla (o tiene el derecho de controlar) cómo se hace el trabajo?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38728" cy="3749040"/>
          </a:xfrm>
          <a:prstGeom prst="roundRect">
            <a:avLst>
              <a:gd name="adj" fmla="val 2584"/>
            </a:avLst>
          </a:prstGeom>
          <a:solidFill>
            <a:srgbClr val="F7F2EA"/>
          </a:solidFill>
          <a:ln/>
        </p:spPr>
      </p:sp>
      <p:sp>
        <p:nvSpPr>
          <p:cNvPr id="10" name="Shape 7"/>
          <p:cNvSpPr/>
          <p:nvPr/>
        </p:nvSpPr>
        <p:spPr>
          <a:xfrm>
            <a:off x="5655564" y="2194560"/>
            <a:ext cx="914400" cy="9144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11" name="Image 1" descr="icon_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2359152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8328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Financiero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406908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controla los aspectos de negocio — inversión, gastos, oportunidad de ganancia o pérdida?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38728" cy="3749040"/>
          </a:xfrm>
          <a:prstGeom prst="roundRect">
            <a:avLst>
              <a:gd name="adj" fmla="val 2584"/>
            </a:avLst>
          </a:prstGeom>
          <a:solidFill>
            <a:srgbClr val="F7F2EA"/>
          </a:solidFill>
          <a:ln/>
        </p:spPr>
      </p:sp>
      <p:sp>
        <p:nvSpPr>
          <p:cNvPr id="15" name="Shape 11"/>
          <p:cNvSpPr/>
          <p:nvPr/>
        </p:nvSpPr>
        <p:spPr>
          <a:xfrm>
            <a:off x="9450324" y="2194560"/>
            <a:ext cx="914400" cy="9144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16" name="Image 2" descr="icon_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916" y="2359152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8328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Relación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58200" y="4069080"/>
            <a:ext cx="2898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contratos, beneficios, y el trabajo es central y continuo para el negocio?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1: Control de Comportamiento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 hacia EMPLEADO (W-2)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Dictas horarios específicos o un calendario fijo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instrucciones detalladas de cómo, cuándo, dónde se hace el trabajo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capacitación sobre los procedimientos requeridos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Supervisas el trabajo directamente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80760" y="1600200"/>
            <a:ext cx="0" cy="4114800"/>
          </a:xfrm>
          <a:prstGeom prst="line">
            <a:avLst/>
          </a:prstGeom>
          <a:noFill/>
          <a:ln w="19050">
            <a:solidFill>
              <a:srgbClr val="C7D2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 hacia CONTRATISTA (1099)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19659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trabajador define sus propios horarios y métodos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el resultado que necesitas, no el proceso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trabajador usa su propia experiencia establecida, sin capacitación provista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trabajador opera con supervisión mínima del día a día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2E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realidad:  </a:t>
            </a: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Incluso llamar a alguien “contratista” por escrito no importa si controlas su trabajo diario como el de un empleado.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6751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2: Control Financiero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 hacia EMPLEADO (W-2)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Reembolsas gastos o proporcionas herramientas/equipo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trabajador no tiene otros clientes — eres su única fuente de ingresos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paga un salario garantizado, sin importar el resultado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trabajador no tiene una oportunidad real de ganancia o pérdida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80760" y="1600200"/>
            <a:ext cx="0" cy="4114800"/>
          </a:xfrm>
          <a:prstGeom prst="line">
            <a:avLst/>
          </a:prstGeom>
          <a:noFill/>
          <a:ln w="19050">
            <a:solidFill>
              <a:srgbClr val="C7D2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 hacia CONTRATISTA (1099)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19659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trabajador invierte en su propio equipo y herramientas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trabajador promociona activamente servicios a otros clientes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trabajador cobra una tarifa fija o por proyecto, asumiendo el riesgo de pérdida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trabajador puede obtener una ganancia o una pérdida en el trabajo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2E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realidad:  </a:t>
            </a: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trabajador que depende completamente de ti para su ingreso, sin riesgo de pérdida, se ve financieramente como un empleado — sin importar lo que diga la factura.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6751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3: Tipo de Relación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 hacia EMPLEADO (W-2)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Ofreces beneficios: seguro, PTO, aportaciones de retiro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es abierta, no ligada a un proyecto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es central para tu negocio principal (no incidental)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contrato escrito, o el contrato se describe como empleo a voluntad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80760" y="1600200"/>
            <a:ext cx="0" cy="4114800"/>
          </a:xfrm>
          <a:prstGeom prst="line">
            <a:avLst/>
          </a:prstGeom>
          <a:noFill/>
          <a:ln w="19050">
            <a:solidFill>
              <a:srgbClr val="C7D2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Señala hacia CONTRATISTA (1099)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19659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ofrecen beneficios tipo empleado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tiene un alcance definido, proyecto, o fecha de finalización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es periférico o especializado, no tu servicio principal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acuerdo de contratista independiente firmado define el alcance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2E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realidad:  </a:t>
            </a: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contrato que llama a alguien “contratista” tiene poco peso si el trabajo es indefinido y central para lo que hace tu negocio.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C9A97E"/>
          </a:solidFill>
          <a:ln/>
        </p:spPr>
      </p:sp>
      <p:pic>
        <p:nvPicPr>
          <p:cNvPr id="3" name="Image 0" descr="icon_ale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2179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Trampas Comunes de Mala Clasificación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0E3A5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463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a un puesto de tiempo completo e indefinido “contratista 1099” para evitar impuestos de nómina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4630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0E3A5F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1463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un horario fijo (“9 a 5, lunes a viernes”) a alguien pagado como contratista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0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8803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Proporcionar correo de la empresa, laptop, y capacitación obligatoria a un trabajador 1099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2880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0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8803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una cantidad fija tipo “salario” cada dos semanas sin factura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297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0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2976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cliente del trabajador eres tú, y ha sido así por más de un año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4297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0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42976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puesto es funcionalmente idéntico a un trabajo W-2 que ya tienes en la nómina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Escenario Común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7F2E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500" i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asistente virtual trabaja 30 horas a la semana, solo para mí, usa el correo que le configuré, y le digo exactamente qué hacer cada mañana. Me factura mensualmente. ¿Es eso un problema?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sugieren los hechos: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28016" cy="128016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4015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y exclusividad:  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hrs/semana, único cliente → dependencia financiera tipo empleado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087368"/>
            <a:ext cx="128016" cy="128016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6849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de la empresa:  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conductual al negocio → tipo empleado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654296"/>
            <a:ext cx="128016" cy="128016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354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diaria:  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 digo exactamente qué hacer” → control de comportamiento, fuertemente tipo empleado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221224"/>
            <a:ext cx="128016" cy="128016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10235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Facturación:  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señal tipo contratista — pero es el factor más débil por sí solo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08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80644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esto se ve como un empleado W-2 con una etiqueta 1099. Ese es el patrón de mayor riesgo visto en limpiezas de SMB.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C9A97E"/>
          </a:solidFill>
          <a:ln/>
        </p:spPr>
      </p:sp>
      <p:pic>
        <p:nvPicPr>
          <p:cNvPr id="3" name="Image 0" descr="icon_gave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6751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de Equivocarse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2E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544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Impuestos de nómina atrasados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06240" y="15544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del empleador del Seguro Social y Medicare sobre todos los salarios pagados, retroactivo a cuando comenzó el puesto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2E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6517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e intereses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06240" y="265176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por no retener y no depositar, más intereses acumulados desde la fecha de vencimiento original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2E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749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Desempleo y compensación laboral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06240" y="374904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agencias estatales a menudo evalúan de forma independiente — una resolución federal no termina la exposición estatal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7F2E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8463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beneficios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206240" y="484632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retroactivos por beneficios que el trabajador habría recibido como empleado (PTO, aportación de retiro, cobertura médica)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contra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67512"/>
            <a:ext cx="329184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Que Te Protege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confías en que un puesto es genuinamente un contrato 1099, estos registros son tu defensa en una auditoría:</a:t>
            </a:r>
            <a:endParaRPr lang="en-US" sz="1400" dirty="0"/>
          </a:p>
        </p:txBody>
      </p:sp>
      <p:pic>
        <p:nvPicPr>
          <p:cNvPr id="6" name="Image 1" descr="icon_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1168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9568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acuerdo de contratista independiente firmado con un alcance y fecha de fin definidos</a:t>
            </a:r>
            <a:endParaRPr lang="en-US" sz="1450" dirty="0"/>
          </a:p>
        </p:txBody>
      </p:sp>
      <p:pic>
        <p:nvPicPr>
          <p:cNvPr id="8" name="Image 2" descr="icon_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70048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6151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que el trabajador promociona servicios a otros clientes (sitio web, otras facturas)</a:t>
            </a:r>
            <a:endParaRPr lang="en-US" sz="1450" dirty="0"/>
          </a:p>
        </p:txBody>
      </p:sp>
      <p:pic>
        <p:nvPicPr>
          <p:cNvPr id="10" name="Image 3" descr="icon_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28416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27355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del trabajador, no un asiento interno recurrente tipo nómina</a:t>
            </a:r>
            <a:endParaRPr lang="en-US" sz="1450" dirty="0"/>
          </a:p>
        </p:txBody>
      </p:sp>
      <p:pic>
        <p:nvPicPr>
          <p:cNvPr id="12" name="Image 4" descr="icon_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86784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9319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equipo de la empresa, correo electrónico, o registros de capacitación obligatoria</a:t>
            </a:r>
            <a:endParaRPr lang="en-US" sz="1450" dirty="0"/>
          </a:p>
        </p:txBody>
      </p:sp>
      <p:pic>
        <p:nvPicPr>
          <p:cNvPr id="14" name="Image 5" descr="icon_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45152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05840" y="45902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W-9 recolectado antes del primer pago, Formulario 1099-NEC presentado antes del 31 de enero</a:t>
            </a:r>
            <a:endParaRPr lang="en-US" sz="1450" dirty="0"/>
          </a:p>
        </p:txBody>
      </p:sp>
      <p:sp>
        <p:nvSpPr>
          <p:cNvPr id="16" name="Shape 8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2EA"/>
          </a:solidFill>
          <a:ln/>
        </p:spPr>
      </p:sp>
      <p:sp>
        <p:nvSpPr>
          <p:cNvPr id="17" name="Text 9"/>
          <p:cNvSpPr/>
          <p:nvPr/>
        </p:nvSpPr>
        <p:spPr>
          <a:xfrm>
            <a:off x="822960" y="5532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documentación apoya tu posición — no anula los hechos subyacentes de control de comportamiento y financiero.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C9A97E"/>
          </a:solidFill>
          <a:ln/>
        </p:spPr>
      </p:sp>
      <p:pic>
        <p:nvPicPr>
          <p:cNvPr id="3" name="Image 0" descr="icon_sitem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2179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Marco de Decisión Sencillo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E3A5F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709928"/>
            <a:ext cx="502920" cy="50292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508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¿Este puesto continuará indefinidamente, sin fecha de fin definida?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21040" y="1508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se inclina hacia empleado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E3A5F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761488"/>
            <a:ext cx="502920" cy="50292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08760" y="2560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¿Establecerás los horarios, métodos, o el proceso diario?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321040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se inclina hacia empleado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611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E3A5F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3813048"/>
            <a:ext cx="502920" cy="50292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08760" y="3611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trabajador tomará otros clientes mientras trabaja contigo?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321040" y="3611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se inclina hacia empleado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E3A5F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4864608"/>
            <a:ext cx="502920" cy="50292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08760" y="4663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trabajo es central para tu negocio, no una tarea especializada secundaria?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32104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se inclina hacia empleado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¿Cuatro o más respuestas que se inclinan hacia empleado? Trata el puesto como W-2 hasta que un profesional confirme lo contrario.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¿Ya Tienes Trabajadores 1099? Evalúa Tu Nivel de Riesgo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7F2E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BAJO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corto plazo, alcance definido, el trabajador tiene otros clientes, sin equipo ni correo de la empresa proporcionado.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7F2E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69164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C9A97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MEDIO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4231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continua (6–12 meses), dirección moderada dada, el trabajador tiene otras fuentes de ingreso.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7F2EA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169164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ALTO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24231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de tiempo completo, única fuente de ingreso del trabajador, dirección diaria dada, puesto idéntico a una posición W-2 existente.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5778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8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la pena revisar con un profesional a los trabajadores de riesgo medio y alto antes de tu próxima fecha límite de presentación — no después de que llegue un aviso de auditoría.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67512"/>
            <a:ext cx="329184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Necesitas Corregir una Mala Clasificación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IRS ofrece un camino para empleadores que quieren corregir el rumbo voluntariamente, antes de ser auditados: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7F2EA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148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Acuerdo de Clasificación Voluntaria (VCSP)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empleadores elegibles pagan </a:t>
            </a:r>
            <a:r>
              <a:rPr lang="en-US" sz="135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aproximadamente el 10% de la responsabilidad de impuestos de nómina de un año</a:t>
            </a: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los trabajadores reclasificados, evitan intereses y multas, y no están sujetos a una auditoría de impuestos de empleo para los trabajadores reclasificados en años anteriores.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puede tener sentido: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343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Identificaste un trabajador de Riesgo Alto antes de un aviso de auditoría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Quieres certeza sobre el costo de corregir el rumbo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primero con un profesional si: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0" y="4343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estás bajo auditoría o investigación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exposición estatal (desempleo, compensación laboral) también necesita un plan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educación general, no una recomendación — aplican reglas de elegibilidad y un profesional de impuestos debe confirmar que aplica antes de solicitarlo.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C9A97E"/>
          </a:solidFill>
          <a:ln/>
        </p:spPr>
      </p:sp>
      <p:pic>
        <p:nvPicPr>
          <p:cNvPr id="3" name="Image 0" descr="icon_clipboar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21792"/>
            <a:ext cx="329184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Próximos Pasos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E3A5F"/>
          </a:solidFill>
          <a:ln/>
        </p:spPr>
      </p:sp>
      <p:pic>
        <p:nvPicPr>
          <p:cNvPr id="6" name="Image 1" descr="icon_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9928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508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 cada trabajador 1099 actual y anota sus horas, exclusividad, y nivel de dirección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240487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E3A5F"/>
          </a:solidFill>
          <a:ln/>
        </p:spPr>
      </p:sp>
      <p:pic>
        <p:nvPicPr>
          <p:cNvPr id="9" name="Image 2" descr="icon_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0604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40487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cada uno por el marco de cuatro preguntas de esta guía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330098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E3A5F"/>
          </a:solidFill>
          <a:ln/>
        </p:spPr>
      </p:sp>
      <p:pic>
        <p:nvPicPr>
          <p:cNvPr id="12" name="Image 3" descr="icon_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02152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30098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 cualquiera que caiga en Riesgo Medio o Alto para una revisión más cercana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48640" y="419709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E3A5F"/>
          </a:solidFill>
          <a:ln/>
        </p:spPr>
      </p:sp>
      <p:pic>
        <p:nvPicPr>
          <p:cNvPr id="15" name="Image 4" descr="icon_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98264"/>
            <a:ext cx="384048" cy="384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1600" y="41970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la lista de documentación para los puestos que mantendrás como 1099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548640" y="50932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E3A5F"/>
          </a:solidFill>
          <a:ln/>
        </p:spPr>
      </p:sp>
      <p:pic>
        <p:nvPicPr>
          <p:cNvPr id="18" name="Image 5" descr="icon_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94376"/>
            <a:ext cx="384048" cy="38404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71600" y="50932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nuevas contrataciones, decide W-2 vs. 1099 antes de hacer la oferta — no después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a acertar en tus clasificaciones de trabajadores.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nacarledger.com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es para fines educativos generales y no constituye asesoría fiscal o legal. Consulta a un profesional calificado para orientación específica sobre tu negocio.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1460</Words>
  <Application>Microsoft Office PowerPoint</Application>
  <PresentationFormat>Widescreen</PresentationFormat>
  <Paragraphs>160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Arif Shurdho</cp:lastModifiedBy>
  <cp:revision>2</cp:revision>
  <dcterms:created xsi:type="dcterms:W3CDTF">2026-07-26T00:23:30Z</dcterms:created>
  <dcterms:modified xsi:type="dcterms:W3CDTF">2026-07-26T00:55:53Z</dcterms:modified>
</cp:coreProperties>
</file>